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8"/>
  </p:notesMasterIdLst>
  <p:sldIdLst>
    <p:sldId id="256" r:id="rId2"/>
    <p:sldId id="382" r:id="rId3"/>
    <p:sldId id="384" r:id="rId4"/>
    <p:sldId id="385" r:id="rId5"/>
    <p:sldId id="383" r:id="rId6"/>
    <p:sldId id="268" r:id="rId7"/>
    <p:sldId id="325" r:id="rId8"/>
    <p:sldId id="376" r:id="rId9"/>
    <p:sldId id="330" r:id="rId10"/>
    <p:sldId id="267" r:id="rId11"/>
    <p:sldId id="317" r:id="rId12"/>
    <p:sldId id="316" r:id="rId13"/>
    <p:sldId id="326" r:id="rId14"/>
    <p:sldId id="320" r:id="rId15"/>
    <p:sldId id="335" r:id="rId16"/>
    <p:sldId id="374" r:id="rId17"/>
  </p:sldIdLst>
  <p:sldSz cx="18288000" cy="10287000"/>
  <p:notesSz cx="6858000" cy="9144000"/>
  <p:embeddedFontLst>
    <p:embeddedFont>
      <p:font typeface="Anton" pitchFamily="2" charset="77"/>
      <p:regular r:id="rId19"/>
    </p:embeddedFont>
    <p:embeddedFont>
      <p:font typeface="Archivo" pitchFamily="2" charset="77"/>
      <p:regular r:id="rId20"/>
      <p:bold r:id="rId21"/>
      <p:italic r:id="rId22"/>
      <p:boldItalic r:id="rId23"/>
    </p:embeddedFont>
    <p:embeddedFont>
      <p:font typeface="Archivo ExtraBold" pitchFamily="2" charset="77"/>
      <p:bold r:id="rId24"/>
      <p:italic r:id="rId25"/>
      <p:boldItalic r:id="rId26"/>
    </p:embeddedFont>
    <p:embeddedFont>
      <p:font typeface="Archivo Medium" pitchFamily="2" charset="77"/>
      <p:regular r:id="rId27"/>
      <p:bold r:id="rId28"/>
      <p:italic r:id="rId29"/>
      <p:boldItalic r:id="rId30"/>
    </p:embeddedFont>
    <p:embeddedFont>
      <p:font typeface="Archivo SemiBold" pitchFamily="2" charset="77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96"/>
    <p:restoredTop sz="94850"/>
  </p:normalViewPr>
  <p:slideViewPr>
    <p:cSldViewPr snapToGrid="0">
      <p:cViewPr varScale="1">
        <p:scale>
          <a:sx n="71" d="100"/>
          <a:sy n="71" d="100"/>
        </p:scale>
        <p:origin x="176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D1CE6-4343-2478-F212-BE83AC8C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A51D77-136A-8760-5F80-E548E0823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A7988-2B68-0A33-DF1E-C83DEF125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your tables, please come up with one to two research questions about train routes around the world</a:t>
            </a:r>
          </a:p>
        </p:txBody>
      </p:sp>
    </p:spTree>
    <p:extLst>
      <p:ext uri="{BB962C8B-B14F-4D97-AF65-F5344CB8AC3E}">
        <p14:creationId xmlns:p14="http://schemas.microsoft.com/office/powerpoint/2010/main" val="1208085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03482-6067-D326-7B17-54ACAD8A1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72C4E-6D98-B40E-7989-1F354917F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3B627-C5EF-A507-AB84-1B0C9C330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your research questions. Can you answer your original questions with this data? What new, interesting questions might you answer?</a:t>
            </a:r>
          </a:p>
        </p:txBody>
      </p:sp>
    </p:spTree>
    <p:extLst>
      <p:ext uri="{BB962C8B-B14F-4D97-AF65-F5344CB8AC3E}">
        <p14:creationId xmlns:p14="http://schemas.microsoft.com/office/powerpoint/2010/main" val="2293479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800A5-CBBA-AE33-9F15-C333BD2F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49F12-82A5-0785-649B-10F9BF55E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4D7F2-3F5D-38E2-BCFE-69187E7F9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discussion</a:t>
            </a:r>
          </a:p>
        </p:txBody>
      </p:sp>
    </p:spTree>
    <p:extLst>
      <p:ext uri="{BB962C8B-B14F-4D97-AF65-F5344CB8AC3E}">
        <p14:creationId xmlns:p14="http://schemas.microsoft.com/office/powerpoint/2010/main" val="3774292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EC7ADA95-078E-442D-2C41-3C91588E5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41D77CFB-E3C5-71AB-C849-FD79819C5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We’re often told the research process goes like this; but often it’s much more iterative than that!</a:t>
            </a:r>
            <a:endParaRPr dirty="0"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0257D09A-AE7B-1E60-1F8B-2FAB48DEB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41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F96259A5-FA09-AE54-0455-76F4644BA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D9E64088-DF90-F239-EF17-0D24C47CF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Regardless of the relationship between project design and research question, there are some general principles that help us form good research questions</a:t>
            </a:r>
            <a:endParaRPr dirty="0"/>
          </a:p>
        </p:txBody>
      </p:sp>
      <p:sp>
        <p:nvSpPr>
          <p:cNvPr id="169" name="Google Shape;169;p4:notes">
            <a:extLst>
              <a:ext uri="{FF2B5EF4-FFF2-40B4-BE49-F238E27FC236}">
                <a16:creationId xmlns:a16="http://schemas.microsoft.com/office/drawing/2014/main" id="{A85380B3-31CF-9544-A102-E3C891B79B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20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01B8AFAA-39DE-EB8F-3EFC-A84A8218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b9287a4a_0_1:notes">
            <a:extLst>
              <a:ext uri="{FF2B5EF4-FFF2-40B4-BE49-F238E27FC236}">
                <a16:creationId xmlns:a16="http://schemas.microsoft.com/office/drawing/2014/main" id="{457A833F-20C2-23DE-C1AC-FA2CA977A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g380b9287a4a_0_1:notes">
            <a:extLst>
              <a:ext uri="{FF2B5EF4-FFF2-40B4-BE49-F238E27FC236}">
                <a16:creationId xmlns:a16="http://schemas.microsoft.com/office/drawing/2014/main" id="{24AE84D3-C214-B965-ECFF-B363C0885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769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09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5DFB026D-89F6-6260-5A23-C6712505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b9287a4a_0_1:notes">
            <a:extLst>
              <a:ext uri="{FF2B5EF4-FFF2-40B4-BE49-F238E27FC236}">
                <a16:creationId xmlns:a16="http://schemas.microsoft.com/office/drawing/2014/main" id="{E99CBCEA-C252-CB76-67D2-C8BE0100C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g380b9287a4a_0_1:notes">
            <a:extLst>
              <a:ext uri="{FF2B5EF4-FFF2-40B4-BE49-F238E27FC236}">
                <a16:creationId xmlns:a16="http://schemas.microsoft.com/office/drawing/2014/main" id="{274B044D-B430-37E7-D9FB-41304A41A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31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8E032916-34E7-9E4A-97BF-3D24D9E8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DB49D274-6763-42CA-C475-7CF80AB00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4:notes">
            <a:extLst>
              <a:ext uri="{FF2B5EF4-FFF2-40B4-BE49-F238E27FC236}">
                <a16:creationId xmlns:a16="http://schemas.microsoft.com/office/drawing/2014/main" id="{E9144B2F-4EDA-9E3B-F390-E7A0F7863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66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463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188F76AD-C158-5965-F07C-1548723C2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BF5B6D48-71F1-32FE-A052-A5AC11C832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B40D62A5-CAC2-C027-DF3F-355AC15093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090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56BB8F19-3963-4C11-A8A9-F961F8954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>
            <a:extLst>
              <a:ext uri="{FF2B5EF4-FFF2-40B4-BE49-F238E27FC236}">
                <a16:creationId xmlns:a16="http://schemas.microsoft.com/office/drawing/2014/main" id="{77928A19-9464-C747-859C-EA24D11C9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5:notes">
            <a:extLst>
              <a:ext uri="{FF2B5EF4-FFF2-40B4-BE49-F238E27FC236}">
                <a16:creationId xmlns:a16="http://schemas.microsoft.com/office/drawing/2014/main" id="{1581D6FE-51BC-6F1F-51CD-DFBA91337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145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EEC42D03-8737-1FA1-068C-2DB31B19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0b9287a4a_0_1:notes">
            <a:extLst>
              <a:ext uri="{FF2B5EF4-FFF2-40B4-BE49-F238E27FC236}">
                <a16:creationId xmlns:a16="http://schemas.microsoft.com/office/drawing/2014/main" id="{1D3C229A-7793-D147-B3A5-C45419D0B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g380b9287a4a_0_1:notes">
            <a:extLst>
              <a:ext uri="{FF2B5EF4-FFF2-40B4-BE49-F238E27FC236}">
                <a16:creationId xmlns:a16="http://schemas.microsoft.com/office/drawing/2014/main" id="{253DBB4B-E1CD-515D-68A2-B77FDA201C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83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11AD99E-0325-83A2-AC2D-A4B821E9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5B353711-B754-D35B-3CE7-537D544098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can we improve the research questions we brainstormed? Introduce our research question</a:t>
            </a:r>
            <a:endParaRPr dirty="0"/>
          </a:p>
        </p:txBody>
      </p:sp>
      <p:sp>
        <p:nvSpPr>
          <p:cNvPr id="169" name="Google Shape;169;p4:notes">
            <a:extLst>
              <a:ext uri="{FF2B5EF4-FFF2-40B4-BE49-F238E27FC236}">
                <a16:creationId xmlns:a16="http://schemas.microsoft.com/office/drawing/2014/main" id="{0A663EC7-34F2-1265-EC6C-2853ECE1B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28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0B5D8523-41CE-B5C5-9941-AD79BFB85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>
            <a:extLst>
              <a:ext uri="{FF2B5EF4-FFF2-40B4-BE49-F238E27FC236}">
                <a16:creationId xmlns:a16="http://schemas.microsoft.com/office/drawing/2014/main" id="{3CCD55C2-1684-1780-6173-79C6FBE1C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4:notes">
            <a:extLst>
              <a:ext uri="{FF2B5EF4-FFF2-40B4-BE49-F238E27FC236}">
                <a16:creationId xmlns:a16="http://schemas.microsoft.com/office/drawing/2014/main" id="{1A98682C-32DA-9342-D36D-234CD5EE9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6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and Grid Green Background" type="blank">
  <p:cSld name="BLANK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6581041" y="-124352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2864699" cy="1433940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BLANK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6357016" y="-1358296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2277436" cy="1104614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1">
  <p:cSld name="BLANK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14943128" y="5030925"/>
            <a:ext cx="7799215" cy="7708224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0" y="0"/>
            <a:ext cx="2277436" cy="1104614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2">
  <p:cSld name="BLANK_1_1_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>
            <a:off x="-1524397" y="-2889625"/>
            <a:ext cx="7799215" cy="7708224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16010575" y="9182375"/>
            <a:ext cx="2277436" cy="1104614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-856247" y="4446275"/>
            <a:ext cx="7799215" cy="7708224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1177000" y="2884446"/>
            <a:ext cx="16873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16420141" y="-135557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6257925" y="10711475"/>
            <a:ext cx="80181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400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1354800" y="4600225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5729398" cy="274438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/>
          <p:nvPr/>
        </p:nvSpPr>
        <p:spPr>
          <a:xfrm>
            <a:off x="0" y="0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16427016" y="-137107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8"/>
          <p:cNvSpPr txBox="1"/>
          <p:nvPr/>
        </p:nvSpPr>
        <p:spPr>
          <a:xfrm>
            <a:off x="1642625" y="2745950"/>
            <a:ext cx="7238400" cy="10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400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2301375" y="2745950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 alternate logo placement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5529039" y="8975833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-1349034" y="-134322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2482350" y="2581800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Intro Slide Option 1" type="twoObj">
  <p:cSld name="TWO_OBJECTS">
    <p:bg>
      <p:bgPr>
        <a:solidFill>
          <a:srgbClr val="12312B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0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0"/>
          <p:cNvSpPr/>
          <p:nvPr/>
        </p:nvSpPr>
        <p:spPr>
          <a:xfrm>
            <a:off x="1408291" y="2557325"/>
            <a:ext cx="1869603" cy="1708030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0"/>
          <p:cNvSpPr/>
          <p:nvPr/>
        </p:nvSpPr>
        <p:spPr>
          <a:xfrm>
            <a:off x="16427016" y="-137107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3334625" y="2828771"/>
            <a:ext cx="16873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Font typeface="Anton"/>
              <a:buNone/>
              <a:defRPr sz="6500" i="0" u="none" strike="noStrike" cap="none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A5D75F"/>
              </a:buClr>
              <a:buSzPts val="6500"/>
              <a:buNone/>
              <a:defRPr sz="6500">
                <a:solidFill>
                  <a:srgbClr val="A5D75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Slide Option 2" type="twoTxTwoObj">
  <p:cSld name="TWO_OBJECTS_WITH_TEXT">
    <p:bg>
      <p:bgPr>
        <a:solidFill>
          <a:srgbClr val="00693D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1203816" y="2265700"/>
            <a:ext cx="1950112" cy="1630098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15521394" y="8961796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6427016" y="-137107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3320700" y="2383321"/>
            <a:ext cx="168735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nton"/>
              <a:buNone/>
              <a:defRPr sz="65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6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5521394" y="8961796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2315300" y="2512225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 2">
  <p:cSld name="OBJECT_WITH_CAPTION_TEXT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-6" y="-4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2315300" y="2512225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Basic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5732998" y="-2746063"/>
            <a:ext cx="7799215" cy="7708224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4569195" cy="22160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707250" y="3477312"/>
            <a:ext cx="16873500" cy="22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10000"/>
              <a:buFont typeface="Anton"/>
              <a:buNone/>
              <a:defRPr sz="10000" i="0" u="none" strike="noStrike" cap="none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6427016" y="-137107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923250" y="5505050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losing Slide with QR Code" type="vertTx">
  <p:cSld name="VERTICAL_TEXT">
    <p:bg>
      <p:bgPr>
        <a:solidFill>
          <a:srgbClr val="12312B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13521076" y="7176298"/>
            <a:ext cx="2321248" cy="2288618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1043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Google Shape;80;p17"/>
          <p:cNvSpPr txBox="1"/>
          <p:nvPr/>
        </p:nvSpPr>
        <p:spPr>
          <a:xfrm>
            <a:off x="14135399" y="7770952"/>
            <a:ext cx="10926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2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*Place QR code here</a:t>
            </a:r>
            <a:endParaRPr sz="5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11261023" y="7176300"/>
            <a:ext cx="19623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7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SCAN</a:t>
            </a:r>
            <a:endParaRPr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10963263" y="7850100"/>
            <a:ext cx="2557800" cy="25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72" i="0" u="none" strike="noStrike" cap="none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0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4571816" cy="2289290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707250" y="3477312"/>
            <a:ext cx="16873500" cy="22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6427016" y="-1371071"/>
            <a:ext cx="3203702" cy="3199138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923275" y="5265050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A5D75F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A5D75F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rgbClr val="A5D75F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rgbClr val="A5D75F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rgbClr val="A5D75F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rgbClr val="A5D75F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Closing Slide with QR Code">
  <p:cSld name="CUSTOM_2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1167150" y="3638559"/>
            <a:ext cx="16873500" cy="216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10234395" y="7385400"/>
            <a:ext cx="2747700" cy="25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672" i="0" u="none" strike="noStrike" cap="none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5729398" cy="274438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Google Shape;91;p18"/>
          <p:cNvSpPr/>
          <p:nvPr/>
        </p:nvSpPr>
        <p:spPr>
          <a:xfrm>
            <a:off x="0" y="0"/>
            <a:ext cx="5729398" cy="274438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Google Shape;92;p18"/>
          <p:cNvSpPr/>
          <p:nvPr/>
        </p:nvSpPr>
        <p:spPr>
          <a:xfrm>
            <a:off x="13365453" y="6940123"/>
            <a:ext cx="2745736" cy="2455063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0437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Google Shape;93;p18"/>
          <p:cNvSpPr txBox="1"/>
          <p:nvPr/>
        </p:nvSpPr>
        <p:spPr>
          <a:xfrm>
            <a:off x="13958799" y="7667150"/>
            <a:ext cx="1116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3" b="0" i="0" u="none" strike="noStrike" cap="none">
                <a:solidFill>
                  <a:srgbClr val="12312B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1313" i="0" u="none" strike="noStrike" cap="none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Place QR code here</a:t>
            </a:r>
            <a:endParaRPr sz="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0421896" y="6700850"/>
            <a:ext cx="2372700" cy="9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77" i="0" u="none" strike="noStrike" cap="none">
                <a:solidFill>
                  <a:srgbClr val="00693D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SCAN</a:t>
            </a:r>
            <a:endParaRPr sz="3300"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1285150" y="5212850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with Weblink">
  <p:cSld name="CUSTOM_3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3414600" y="1700425"/>
            <a:ext cx="11458796" cy="5289796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Google Shape;98;p19"/>
          <p:cNvSpPr txBox="1"/>
          <p:nvPr/>
        </p:nvSpPr>
        <p:spPr>
          <a:xfrm>
            <a:off x="3430950" y="7638575"/>
            <a:ext cx="109503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>
                <a:solidFill>
                  <a:srgbClr val="12312B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7100">
              <a:solidFill>
                <a:srgbClr val="12312B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">
  <p:cSld name="CUSTOM_3_1">
    <p:bg>
      <p:bgPr>
        <a:solidFill>
          <a:srgbClr val="12312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3430950" y="7638575"/>
            <a:ext cx="109503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7100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77388" y="1678725"/>
            <a:ext cx="11457433" cy="549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 alternate">
  <p:cSld name="CUSTOM_3_1_1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3430950" y="7638575"/>
            <a:ext cx="10950300" cy="7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7100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77388" y="1678725"/>
            <a:ext cx="11457433" cy="549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71"/>
            <a:ext cx="16873500" cy="21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623375" y="3932075"/>
            <a:ext cx="11138400" cy="5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orldtrainmap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1885650" y="3850500"/>
            <a:ext cx="145167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dirty="0">
                <a:solidFill>
                  <a:schemeClr val="bg2"/>
                </a:solidFill>
                <a:latin typeface="Anton"/>
                <a:ea typeface="Anton"/>
                <a:cs typeface="Anton"/>
                <a:sym typeface="Anton"/>
              </a:rPr>
              <a:t>RESEARCH QUESTIONS &amp; PROJECT DESIGN</a:t>
            </a:r>
            <a:endParaRPr sz="7000" dirty="0">
              <a:solidFill>
                <a:schemeClr val="bg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1" name="Google Shape;111;p22"/>
          <p:cNvSpPr txBox="1"/>
          <p:nvPr/>
        </p:nvSpPr>
        <p:spPr>
          <a:xfrm>
            <a:off x="2282651" y="5658890"/>
            <a:ext cx="4234527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8" b="1" i="0" u="none" strike="noStrike" cap="none" dirty="0">
                <a:solidFill>
                  <a:srgbClr val="12312B"/>
                </a:solidFill>
                <a:latin typeface="Aptos" panose="020B0004020202020204" pitchFamily="34" charset="0"/>
                <a:ea typeface="Alegreya"/>
                <a:cs typeface="Alegreya"/>
                <a:sym typeface="Alegreya"/>
              </a:rPr>
              <a:t>Emily Myers, PhD</a:t>
            </a:r>
            <a:endParaRPr lang="en-US" sz="3348" b="1" dirty="0">
              <a:solidFill>
                <a:srgbClr val="12312B"/>
              </a:solidFill>
              <a:latin typeface="Aptos" panose="020B0004020202020204" pitchFamily="34" charset="0"/>
              <a:ea typeface="Alegreya"/>
              <a:cs typeface="Alegreya"/>
              <a:sym typeface="Alegreya"/>
            </a:endParaRP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8" b="1" dirty="0">
                <a:solidFill>
                  <a:srgbClr val="12312B"/>
                </a:solidFill>
                <a:latin typeface="Aptos" panose="020B0004020202020204" pitchFamily="34" charset="0"/>
                <a:ea typeface="Alegreya"/>
                <a:cs typeface="Alegreya"/>
                <a:sym typeface="Alegreya"/>
              </a:rPr>
              <a:t>Research Facilitation</a:t>
            </a:r>
          </a:p>
          <a:p>
            <a:pPr marL="0" marR="0" lvl="0" indent="0" algn="l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48" b="1">
                <a:solidFill>
                  <a:srgbClr val="12312B"/>
                </a:solidFill>
                <a:latin typeface="Aptos" panose="020B0004020202020204" pitchFamily="34" charset="0"/>
                <a:ea typeface="Alegreya"/>
                <a:cs typeface="Alegreya"/>
                <a:sym typeface="Alegreya"/>
              </a:rPr>
              <a:t>September 2</a:t>
            </a:r>
            <a:r>
              <a:rPr lang="en-US" sz="3348" b="1" i="0" u="none" strike="noStrike" cap="none">
                <a:solidFill>
                  <a:srgbClr val="12312B"/>
                </a:solidFill>
                <a:latin typeface="Aptos" panose="020B0004020202020204" pitchFamily="34" charset="0"/>
                <a:ea typeface="Alegreya"/>
                <a:cs typeface="Alegreya"/>
                <a:sym typeface="Alegreya"/>
              </a:rPr>
              <a:t>, </a:t>
            </a:r>
            <a:r>
              <a:rPr lang="en-US" sz="3348" b="1" i="0" u="none" strike="noStrike" cap="none" dirty="0">
                <a:solidFill>
                  <a:srgbClr val="12312B"/>
                </a:solidFill>
                <a:latin typeface="Aptos" panose="020B0004020202020204" pitchFamily="34" charset="0"/>
                <a:ea typeface="Alegreya"/>
                <a:cs typeface="Alegreya"/>
                <a:sym typeface="Alegreya"/>
              </a:rPr>
              <a:t>2026</a:t>
            </a:r>
            <a:endParaRPr sz="1600" b="1" dirty="0">
              <a:latin typeface="Aptos" panose="020B0004020202020204" pitchFamily="34" charset="0"/>
              <a:ea typeface="Alegreya"/>
              <a:cs typeface="Alegreya"/>
              <a:sym typeface="Alegrey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7675-4F74-2C2C-8635-55CA4CBC7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2BCFF9-FE36-8A96-8A75-87658CCF4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1259" y="1426427"/>
            <a:ext cx="10405481" cy="6936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9C2AA0-6FA4-42BB-EBFC-25CCD33F3C66}"/>
              </a:ext>
            </a:extLst>
          </p:cNvPr>
          <p:cNvSpPr txBox="1"/>
          <p:nvPr/>
        </p:nvSpPr>
        <p:spPr>
          <a:xfrm>
            <a:off x="4125951" y="8697951"/>
            <a:ext cx="92109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tos" panose="020B0004020202020204" pitchFamily="34" charset="0"/>
              </a:rPr>
              <a:t>Photo by Bengt </a:t>
            </a:r>
            <a:r>
              <a:rPr lang="en-US" sz="2800" dirty="0" err="1">
                <a:latin typeface="Aptos" panose="020B0004020202020204" pitchFamily="34" charset="0"/>
              </a:rPr>
              <a:t>Oberger</a:t>
            </a:r>
            <a:r>
              <a:rPr lang="en-US" sz="2800" dirty="0">
                <a:latin typeface="Aptos" panose="020B0004020202020204" pitchFamily="34" charset="0"/>
              </a:rPr>
              <a:t>, </a:t>
            </a:r>
            <a:r>
              <a:rPr lang="en-US" sz="2800" u="sng" dirty="0">
                <a:latin typeface="Aptos" panose="020B0004020202020204" pitchFamily="34" charset="0"/>
                <a:hlinkClick r:id="rId4" tooltip="w:en:Creative Commons"/>
              </a:rPr>
              <a:t>Creative Commons</a:t>
            </a:r>
            <a:r>
              <a:rPr lang="en-US" sz="2800" dirty="0">
                <a:latin typeface="Aptos" panose="020B0004020202020204" pitchFamily="34" charset="0"/>
              </a:rPr>
              <a:t> </a:t>
            </a:r>
            <a:r>
              <a:rPr lang="en-US" sz="2800" dirty="0">
                <a:latin typeface="Aptos" panose="020B0004020202020204" pitchFamily="34" charset="0"/>
                <a:hlinkClick r:id="rId5" tooltip="creativecommons:by-sa/4.0/deed.en"/>
              </a:rPr>
              <a:t>Attribution-Share Alike 4.0 International</a:t>
            </a:r>
            <a:r>
              <a:rPr lang="en-US" sz="2800" dirty="0">
                <a:latin typeface="Aptos" panose="020B0004020202020204" pitchFamily="34" charset="0"/>
              </a:rPr>
              <a:t> License</a:t>
            </a:r>
          </a:p>
        </p:txBody>
      </p:sp>
    </p:spTree>
    <p:extLst>
      <p:ext uri="{BB962C8B-B14F-4D97-AF65-F5344CB8AC3E}">
        <p14:creationId xmlns:p14="http://schemas.microsoft.com/office/powerpoint/2010/main" val="9500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3740B-8013-D9B9-FBD6-9F7491F64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CC3DCF-CFAC-1A79-F1DD-4F56A60E8D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2563" y="1583473"/>
            <a:ext cx="12863251" cy="64677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4D1145-1EB1-6574-E81E-BD48CAC201EE}"/>
              </a:ext>
            </a:extLst>
          </p:cNvPr>
          <p:cNvSpPr txBox="1"/>
          <p:nvPr/>
        </p:nvSpPr>
        <p:spPr>
          <a:xfrm>
            <a:off x="3836019" y="8349584"/>
            <a:ext cx="92109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ptos" panose="020B0004020202020204" pitchFamily="34" charset="0"/>
              </a:rPr>
              <a:t>Now, go to: </a:t>
            </a:r>
            <a:r>
              <a:rPr lang="en-US" sz="4000" dirty="0">
                <a:latin typeface="Aptos" panose="020B0004020202020204" pitchFamily="34" charset="0"/>
                <a:hlinkClick r:id="rId4"/>
              </a:rPr>
              <a:t>https://worldtrainmap.com/</a:t>
            </a:r>
            <a:r>
              <a:rPr lang="en-US" sz="4000" dirty="0">
                <a:latin typeface="Aptos" panose="020B00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9207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23E79-461A-AFA5-88D8-7D16D871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182F2D-B7F6-35DA-2DBB-24DD15DCA06F}"/>
              </a:ext>
            </a:extLst>
          </p:cNvPr>
          <p:cNvSpPr/>
          <p:nvPr/>
        </p:nvSpPr>
        <p:spPr>
          <a:xfrm>
            <a:off x="3211551" y="2768290"/>
            <a:ext cx="11864897" cy="4750419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How did your research questions change when you looked at the World Train Map data?</a:t>
            </a:r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What are some interesting questions you might answer with this data?</a:t>
            </a:r>
          </a:p>
        </p:txBody>
      </p:sp>
    </p:spTree>
    <p:extLst>
      <p:ext uri="{BB962C8B-B14F-4D97-AF65-F5344CB8AC3E}">
        <p14:creationId xmlns:p14="http://schemas.microsoft.com/office/powerpoint/2010/main" val="64821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2C103A9E-AC3D-581D-D66D-233C16DF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>
            <a:extLst>
              <a:ext uri="{FF2B5EF4-FFF2-40B4-BE49-F238E27FC236}">
                <a16:creationId xmlns:a16="http://schemas.microsoft.com/office/drawing/2014/main" id="{8F51E598-7717-3269-6691-0EE52CAEDB6B}"/>
              </a:ext>
            </a:extLst>
          </p:cNvPr>
          <p:cNvSpPr/>
          <p:nvPr/>
        </p:nvSpPr>
        <p:spPr>
          <a:xfrm>
            <a:off x="15521394" y="8659123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CEE98784-9BFE-FDB0-84FA-F41B282864C9}"/>
              </a:ext>
            </a:extLst>
          </p:cNvPr>
          <p:cNvSpPr txBox="1"/>
          <p:nvPr/>
        </p:nvSpPr>
        <p:spPr>
          <a:xfrm>
            <a:off x="1416555" y="1483064"/>
            <a:ext cx="1466026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Research process</a:t>
            </a:r>
            <a:endParaRPr sz="60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3DDC313-2DCA-6D94-74AB-D358AC3563D3}"/>
              </a:ext>
            </a:extLst>
          </p:cNvPr>
          <p:cNvSpPr/>
          <p:nvPr/>
        </p:nvSpPr>
        <p:spPr>
          <a:xfrm>
            <a:off x="622001" y="3223613"/>
            <a:ext cx="2876203" cy="249381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dirty="0">
                <a:latin typeface="Aptos" panose="020B0004020202020204" pitchFamily="34" charset="0"/>
              </a:rPr>
              <a:t>Research question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219A0B-0295-5CAD-8847-46BC84D356E7}"/>
              </a:ext>
            </a:extLst>
          </p:cNvPr>
          <p:cNvSpPr/>
          <p:nvPr/>
        </p:nvSpPr>
        <p:spPr>
          <a:xfrm>
            <a:off x="5123045" y="3223613"/>
            <a:ext cx="2876203" cy="249381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ptos" panose="020B0004020202020204" pitchFamily="34" charset="0"/>
              </a:rPr>
              <a:t>Research design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75C2C34-E888-0C49-6110-753FDC9C3B77}"/>
              </a:ext>
            </a:extLst>
          </p:cNvPr>
          <p:cNvSpPr/>
          <p:nvPr/>
        </p:nvSpPr>
        <p:spPr>
          <a:xfrm>
            <a:off x="9624089" y="3212637"/>
            <a:ext cx="2876203" cy="249381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ptos" panose="020B0004020202020204" pitchFamily="34" charset="0"/>
              </a:rPr>
              <a:t>Data collection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AF99F7-024B-0AA3-E9D2-C33E93179C3F}"/>
              </a:ext>
            </a:extLst>
          </p:cNvPr>
          <p:cNvSpPr/>
          <p:nvPr/>
        </p:nvSpPr>
        <p:spPr>
          <a:xfrm>
            <a:off x="14125133" y="3212637"/>
            <a:ext cx="2951016" cy="249381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ptos" panose="020B0004020202020204" pitchFamily="34" charset="0"/>
              </a:rPr>
              <a:t>Analysis &amp; 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C7C955-0E34-B0AD-9D83-ABF6A708CF00}"/>
              </a:ext>
            </a:extLst>
          </p:cNvPr>
          <p:cNvCxnSpPr>
            <a:cxnSpLocks/>
          </p:cNvCxnSpPr>
          <p:nvPr/>
        </p:nvCxnSpPr>
        <p:spPr>
          <a:xfrm flipH="1">
            <a:off x="3838549" y="4869938"/>
            <a:ext cx="944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6FFF66-A747-A976-47A1-82CDE7D44CFB}"/>
              </a:ext>
            </a:extLst>
          </p:cNvPr>
          <p:cNvCxnSpPr>
            <a:cxnSpLocks/>
          </p:cNvCxnSpPr>
          <p:nvPr/>
        </p:nvCxnSpPr>
        <p:spPr>
          <a:xfrm>
            <a:off x="3838550" y="4558961"/>
            <a:ext cx="944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3BE7E4-C5E3-CC37-6C55-1C41AEBE8C32}"/>
              </a:ext>
            </a:extLst>
          </p:cNvPr>
          <p:cNvCxnSpPr>
            <a:cxnSpLocks/>
          </p:cNvCxnSpPr>
          <p:nvPr/>
        </p:nvCxnSpPr>
        <p:spPr>
          <a:xfrm>
            <a:off x="12751067" y="4459546"/>
            <a:ext cx="944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5EE87D-78F5-0D07-4D30-C558F42840EE}"/>
              </a:ext>
            </a:extLst>
          </p:cNvPr>
          <p:cNvCxnSpPr>
            <a:cxnSpLocks/>
          </p:cNvCxnSpPr>
          <p:nvPr/>
        </p:nvCxnSpPr>
        <p:spPr>
          <a:xfrm>
            <a:off x="8199851" y="4545347"/>
            <a:ext cx="944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359A19-0B15-63F6-C003-B1E0DCAF6512}"/>
              </a:ext>
            </a:extLst>
          </p:cNvPr>
          <p:cNvCxnSpPr>
            <a:cxnSpLocks/>
          </p:cNvCxnSpPr>
          <p:nvPr/>
        </p:nvCxnSpPr>
        <p:spPr>
          <a:xfrm flipH="1">
            <a:off x="8187936" y="4918832"/>
            <a:ext cx="944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EDD810-DE19-2677-6519-175AD1C66DCC}"/>
              </a:ext>
            </a:extLst>
          </p:cNvPr>
          <p:cNvCxnSpPr>
            <a:cxnSpLocks/>
          </p:cNvCxnSpPr>
          <p:nvPr/>
        </p:nvCxnSpPr>
        <p:spPr>
          <a:xfrm flipH="1">
            <a:off x="12765716" y="4864220"/>
            <a:ext cx="9441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46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D347E541-7364-D199-E09D-51723D66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>
            <a:extLst>
              <a:ext uri="{FF2B5EF4-FFF2-40B4-BE49-F238E27FC236}">
                <a16:creationId xmlns:a16="http://schemas.microsoft.com/office/drawing/2014/main" id="{4C36550A-55A3-E42F-7782-8EDC266EA06B}"/>
              </a:ext>
            </a:extLst>
          </p:cNvPr>
          <p:cNvSpPr/>
          <p:nvPr/>
        </p:nvSpPr>
        <p:spPr>
          <a:xfrm>
            <a:off x="1606995" y="4940595"/>
            <a:ext cx="13863931" cy="1170589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171;p30">
            <a:extLst>
              <a:ext uri="{FF2B5EF4-FFF2-40B4-BE49-F238E27FC236}">
                <a16:creationId xmlns:a16="http://schemas.microsoft.com/office/drawing/2014/main" id="{E295272F-C49B-8F00-FD46-B00978A33C24}"/>
              </a:ext>
            </a:extLst>
          </p:cNvPr>
          <p:cNvSpPr txBox="1"/>
          <p:nvPr/>
        </p:nvSpPr>
        <p:spPr>
          <a:xfrm>
            <a:off x="2817074" y="2078791"/>
            <a:ext cx="12053455" cy="344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GUIDING PRINCIPLES FOR RESEARCH QUESTIONS</a:t>
            </a:r>
            <a:endParaRPr sz="800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157363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01BFE68C-7EB1-2CE7-2F89-7CBCC511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>
            <a:extLst>
              <a:ext uri="{FF2B5EF4-FFF2-40B4-BE49-F238E27FC236}">
                <a16:creationId xmlns:a16="http://schemas.microsoft.com/office/drawing/2014/main" id="{D1F7AD2C-8A86-2B0B-7D06-8B9C90693CE0}"/>
              </a:ext>
            </a:extLst>
          </p:cNvPr>
          <p:cNvSpPr/>
          <p:nvPr/>
        </p:nvSpPr>
        <p:spPr>
          <a:xfrm>
            <a:off x="2766606" y="1950009"/>
            <a:ext cx="6287497" cy="938348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179;p31">
            <a:extLst>
              <a:ext uri="{FF2B5EF4-FFF2-40B4-BE49-F238E27FC236}">
                <a16:creationId xmlns:a16="http://schemas.microsoft.com/office/drawing/2014/main" id="{C252C9F8-D811-7F31-0018-4175FA050EAE}"/>
              </a:ext>
            </a:extLst>
          </p:cNvPr>
          <p:cNvSpPr txBox="1"/>
          <p:nvPr/>
        </p:nvSpPr>
        <p:spPr>
          <a:xfrm>
            <a:off x="1067421" y="3184826"/>
            <a:ext cx="14664600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9858" lvl="3" indent="-324929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800" dirty="0">
                <a:solidFill>
                  <a:srgbClr val="12312B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Clear and specific</a:t>
            </a:r>
            <a:endParaRPr lang="en-US" sz="2800" i="0" u="none" strike="noStrike" cap="none" dirty="0">
              <a:solidFill>
                <a:srgbClr val="12312B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marL="649858" lvl="3" indent="-324929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800" dirty="0">
                <a:solidFill>
                  <a:srgbClr val="12312B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Unresolved, with room for debate</a:t>
            </a:r>
          </a:p>
          <a:p>
            <a:pPr marL="649858" lvl="3" indent="-324929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800" dirty="0">
                <a:solidFill>
                  <a:srgbClr val="12312B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Researchable</a:t>
            </a:r>
            <a:endParaRPr lang="en-US" sz="2800" i="0" u="none" strike="noStrike" cap="none" dirty="0">
              <a:solidFill>
                <a:srgbClr val="12312B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marL="649858" marR="0" lvl="1" indent="-324929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800" b="1" i="0" u="none" strike="noStrike" cap="none" dirty="0">
                <a:solidFill>
                  <a:srgbClr val="12312B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Interesting to you </a:t>
            </a:r>
            <a:r>
              <a:rPr lang="en-US" sz="2800" i="0" u="none" strike="noStrike" cap="none" dirty="0">
                <a:solidFill>
                  <a:srgbClr val="12312B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and </a:t>
            </a:r>
            <a:r>
              <a:rPr lang="en-US" sz="2800" dirty="0">
                <a:solidFill>
                  <a:srgbClr val="12312B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to an external audience</a:t>
            </a:r>
            <a:endParaRPr sz="2800" dirty="0"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marL="0" marR="0" lvl="0" indent="0" algn="l" rtl="0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12312B"/>
              </a:solidFill>
              <a:latin typeface="Aptos" panose="020B0004020202020204" pitchFamily="34" charset="0"/>
              <a:sym typeface="Arial"/>
            </a:endParaRPr>
          </a:p>
        </p:txBody>
      </p:sp>
      <p:sp>
        <p:nvSpPr>
          <p:cNvPr id="4" name="Google Shape;178;p31">
            <a:extLst>
              <a:ext uri="{FF2B5EF4-FFF2-40B4-BE49-F238E27FC236}">
                <a16:creationId xmlns:a16="http://schemas.microsoft.com/office/drawing/2014/main" id="{0C142E25-1A4A-5800-73C0-50CBE35EEF60}"/>
              </a:ext>
            </a:extLst>
          </p:cNvPr>
          <p:cNvSpPr txBox="1"/>
          <p:nvPr/>
        </p:nvSpPr>
        <p:spPr>
          <a:xfrm>
            <a:off x="2912844" y="1126521"/>
            <a:ext cx="91467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A good research question is:</a:t>
            </a:r>
            <a:endParaRPr lang="en-US" sz="6000" dirty="0"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3605264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8;p31">
            <a:extLst>
              <a:ext uri="{FF2B5EF4-FFF2-40B4-BE49-F238E27FC236}">
                <a16:creationId xmlns:a16="http://schemas.microsoft.com/office/drawing/2014/main" id="{007BBA4C-85A4-D6E3-32E7-390E6BB0769A}"/>
              </a:ext>
            </a:extLst>
          </p:cNvPr>
          <p:cNvSpPr txBox="1"/>
          <p:nvPr/>
        </p:nvSpPr>
        <p:spPr>
          <a:xfrm>
            <a:off x="2912844" y="1126521"/>
            <a:ext cx="91467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Examples</a:t>
            </a:r>
            <a:endParaRPr lang="en-US" sz="60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086DD-822C-5D4A-20DA-681DD1BE7583}"/>
              </a:ext>
            </a:extLst>
          </p:cNvPr>
          <p:cNvSpPr txBox="1"/>
          <p:nvPr/>
        </p:nvSpPr>
        <p:spPr>
          <a:xfrm>
            <a:off x="1434529" y="2729344"/>
            <a:ext cx="466701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Is it good to eat breakfast?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80045-99FD-65A1-A9B3-535943C013A4}"/>
              </a:ext>
            </a:extLst>
          </p:cNvPr>
          <p:cNvSpPr txBox="1"/>
          <p:nvPr/>
        </p:nvSpPr>
        <p:spPr>
          <a:xfrm>
            <a:off x="1434529" y="3879271"/>
            <a:ext cx="46670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What is the capital of New Hampshire?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75395-EB40-8295-08EE-02BFC092497C}"/>
              </a:ext>
            </a:extLst>
          </p:cNvPr>
          <p:cNvSpPr txBox="1"/>
          <p:nvPr/>
        </p:nvSpPr>
        <p:spPr>
          <a:xfrm>
            <a:off x="1434529" y="5490863"/>
            <a:ext cx="46670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What would happen if nothing were illegal for one day?*</a:t>
            </a:r>
          </a:p>
          <a:p>
            <a:endParaRPr lang="en-US" sz="3000" dirty="0">
              <a:latin typeface="Aptos" panose="020B0004020202020204" pitchFamily="34" charset="0"/>
            </a:endParaRPr>
          </a:p>
          <a:p>
            <a:r>
              <a:rPr lang="en-US" sz="3000" dirty="0">
                <a:latin typeface="Aptos" panose="020B0004020202020204" pitchFamily="34" charset="0"/>
              </a:rPr>
              <a:t>*The plot of The Purge, I think??</a:t>
            </a:r>
          </a:p>
          <a:p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59FFC7-74C8-3DF4-3AE3-F94C89320955}"/>
              </a:ext>
            </a:extLst>
          </p:cNvPr>
          <p:cNvSpPr txBox="1"/>
          <p:nvPr/>
        </p:nvSpPr>
        <p:spPr>
          <a:xfrm>
            <a:off x="9852951" y="2498511"/>
            <a:ext cx="5409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What is the effect of eating breakfast on productivity?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BEB5A-E3D7-F8EC-129C-736B5C6F5543}"/>
              </a:ext>
            </a:extLst>
          </p:cNvPr>
          <p:cNvSpPr txBox="1"/>
          <p:nvPr/>
        </p:nvSpPr>
        <p:spPr>
          <a:xfrm>
            <a:off x="9852952" y="3879271"/>
            <a:ext cx="66062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(How) does topography shape the selection of state capitals in New England?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9A5FB-7FA4-2658-0D2B-ABDD7A2DA4AF}"/>
              </a:ext>
            </a:extLst>
          </p:cNvPr>
          <p:cNvSpPr txBox="1"/>
          <p:nvPr/>
        </p:nvSpPr>
        <p:spPr>
          <a:xfrm>
            <a:off x="9726037" y="5721696"/>
            <a:ext cx="46670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To what extent are people’s actions constrained by fear of sanction?*</a:t>
            </a:r>
          </a:p>
          <a:p>
            <a:endParaRPr lang="en-US" sz="3000" dirty="0">
              <a:latin typeface="Aptos" panose="020B0004020202020204" pitchFamily="34" charset="0"/>
            </a:endParaRPr>
          </a:p>
          <a:p>
            <a:r>
              <a:rPr lang="en-US" sz="3000" dirty="0">
                <a:latin typeface="Aptos" panose="020B0004020202020204" pitchFamily="34" charset="0"/>
              </a:rPr>
              <a:t>*Still hard to research, but more do-able (behavioral game?)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DA4521-343B-07CB-CC0E-08B982B3FE62}"/>
              </a:ext>
            </a:extLst>
          </p:cNvPr>
          <p:cNvCxnSpPr>
            <a:cxnSpLocks/>
          </p:cNvCxnSpPr>
          <p:nvPr/>
        </p:nvCxnSpPr>
        <p:spPr>
          <a:xfrm flipV="1">
            <a:off x="6347953" y="3006342"/>
            <a:ext cx="3012178" cy="8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C096FA-C057-66C5-B751-789705824AC0}"/>
              </a:ext>
            </a:extLst>
          </p:cNvPr>
          <p:cNvCxnSpPr>
            <a:cxnSpLocks/>
          </p:cNvCxnSpPr>
          <p:nvPr/>
        </p:nvCxnSpPr>
        <p:spPr>
          <a:xfrm flipV="1">
            <a:off x="6347953" y="4378332"/>
            <a:ext cx="3012178" cy="8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2E3413E-3E55-96B4-B3EB-3DA45C953481}"/>
              </a:ext>
            </a:extLst>
          </p:cNvPr>
          <p:cNvCxnSpPr>
            <a:cxnSpLocks/>
          </p:cNvCxnSpPr>
          <p:nvPr/>
        </p:nvCxnSpPr>
        <p:spPr>
          <a:xfrm flipV="1">
            <a:off x="6347953" y="6443640"/>
            <a:ext cx="3012178" cy="8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39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738B4721-2263-D9D4-E077-99EB6898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>
            <a:extLst>
              <a:ext uri="{FF2B5EF4-FFF2-40B4-BE49-F238E27FC236}">
                <a16:creationId xmlns:a16="http://schemas.microsoft.com/office/drawing/2014/main" id="{708D69AE-DBEE-9BF7-822B-EB109842D04F}"/>
              </a:ext>
            </a:extLst>
          </p:cNvPr>
          <p:cNvSpPr/>
          <p:nvPr/>
        </p:nvSpPr>
        <p:spPr>
          <a:xfrm>
            <a:off x="2766606" y="1950009"/>
            <a:ext cx="6287497" cy="938348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Google Shape;179;p31">
            <a:extLst>
              <a:ext uri="{FF2B5EF4-FFF2-40B4-BE49-F238E27FC236}">
                <a16:creationId xmlns:a16="http://schemas.microsoft.com/office/drawing/2014/main" id="{74682C0D-0C65-14B5-1CAD-F502AF4341F4}"/>
              </a:ext>
            </a:extLst>
          </p:cNvPr>
          <p:cNvSpPr txBox="1"/>
          <p:nvPr/>
        </p:nvSpPr>
        <p:spPr>
          <a:xfrm>
            <a:off x="1067421" y="3184826"/>
            <a:ext cx="146646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49858" lvl="3" indent="-324929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Can d</a:t>
            </a:r>
            <a:r>
              <a:rPr lang="en-US" sz="3000" i="0" u="none" strike="noStrike" cap="none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ep</a:t>
            </a: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end on your discipline</a:t>
            </a:r>
            <a:endParaRPr lang="en-US" sz="3000" i="0" u="none" strike="noStrike" cap="none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marL="649858" lvl="3" indent="-324929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Can depend on your research goal (descriptive vs. analytical vs. causal; inductive vs. deductive; etc.)</a:t>
            </a:r>
            <a:endParaRPr lang="en-US" sz="3000" i="0" u="none" strike="noStrike" cap="none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3" name="Google Shape;178;p31">
            <a:extLst>
              <a:ext uri="{FF2B5EF4-FFF2-40B4-BE49-F238E27FC236}">
                <a16:creationId xmlns:a16="http://schemas.microsoft.com/office/drawing/2014/main" id="{FE07E40C-CB20-6ACF-4313-79FDA9A98DD2}"/>
              </a:ext>
            </a:extLst>
          </p:cNvPr>
          <p:cNvSpPr txBox="1"/>
          <p:nvPr/>
        </p:nvSpPr>
        <p:spPr>
          <a:xfrm>
            <a:off x="2912844" y="1126521"/>
            <a:ext cx="91467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Caveats</a:t>
            </a:r>
            <a:endParaRPr lang="en-US" sz="6000" dirty="0"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415165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1CF4200-3FE4-C16A-6B82-F6BA73EE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>
            <a:extLst>
              <a:ext uri="{FF2B5EF4-FFF2-40B4-BE49-F238E27FC236}">
                <a16:creationId xmlns:a16="http://schemas.microsoft.com/office/drawing/2014/main" id="{27946DFA-D05F-829C-10B1-DC330C20BD59}"/>
              </a:ext>
            </a:extLst>
          </p:cNvPr>
          <p:cNvSpPr txBox="1"/>
          <p:nvPr/>
        </p:nvSpPr>
        <p:spPr>
          <a:xfrm>
            <a:off x="2817074" y="2250180"/>
            <a:ext cx="12053455" cy="3535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STRATEGIES TO FORMULATE RESEARCH QUESTIONS</a:t>
            </a:r>
            <a:endParaRPr sz="800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2" name="Google Shape;172;p30">
            <a:extLst>
              <a:ext uri="{FF2B5EF4-FFF2-40B4-BE49-F238E27FC236}">
                <a16:creationId xmlns:a16="http://schemas.microsoft.com/office/drawing/2014/main" id="{12E85DCB-08BF-56F7-990A-6148FF7188B2}"/>
              </a:ext>
            </a:extLst>
          </p:cNvPr>
          <p:cNvSpPr/>
          <p:nvPr/>
        </p:nvSpPr>
        <p:spPr>
          <a:xfrm>
            <a:off x="1606995" y="4940595"/>
            <a:ext cx="13863931" cy="1170589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67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8;p31">
            <a:extLst>
              <a:ext uri="{FF2B5EF4-FFF2-40B4-BE49-F238E27FC236}">
                <a16:creationId xmlns:a16="http://schemas.microsoft.com/office/drawing/2014/main" id="{965AA989-56F4-CD38-2CA0-7CC7095D8567}"/>
              </a:ext>
            </a:extLst>
          </p:cNvPr>
          <p:cNvSpPr txBox="1"/>
          <p:nvPr/>
        </p:nvSpPr>
        <p:spPr>
          <a:xfrm>
            <a:off x="1383303" y="1736544"/>
            <a:ext cx="91467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Turn to academic literature</a:t>
            </a:r>
            <a:endParaRPr lang="en-US" sz="60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A90A6-B0BB-F9B7-19A4-31FDFF9A8563}"/>
              </a:ext>
            </a:extLst>
          </p:cNvPr>
          <p:cNvSpPr txBox="1"/>
          <p:nvPr/>
        </p:nvSpPr>
        <p:spPr>
          <a:xfrm>
            <a:off x="1383303" y="2923913"/>
            <a:ext cx="138289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Create a research question practice! After every article/group of articles you read, think of three research questions that spring from your reading. </a:t>
            </a:r>
          </a:p>
          <a:p>
            <a:endParaRPr lang="en-US" sz="3000" dirty="0">
              <a:latin typeface="Aptos" panose="020B0004020202020204" pitchFamily="34" charset="0"/>
            </a:endParaRPr>
          </a:p>
          <a:p>
            <a:endParaRPr lang="en-US" sz="3000" dirty="0">
              <a:latin typeface="Aptos" panose="020B0004020202020204" pitchFamily="34" charset="0"/>
            </a:endParaRPr>
          </a:p>
          <a:p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3785F-1F84-241C-FA34-1E85EDA01F0F}"/>
              </a:ext>
            </a:extLst>
          </p:cNvPr>
          <p:cNvSpPr txBox="1"/>
          <p:nvPr/>
        </p:nvSpPr>
        <p:spPr>
          <a:xfrm>
            <a:off x="1383303" y="4705003"/>
            <a:ext cx="113385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Aptos" panose="020B0004020202020204" pitchFamily="34" charset="0"/>
              </a:rPr>
              <a:t>Guiding questions: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Aptos" panose="020B0004020202020204" pitchFamily="34" charset="0"/>
              </a:rPr>
              <a:t>What remains unanswered by the article(s)? 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Aptos" panose="020B0004020202020204" pitchFamily="34" charset="0"/>
              </a:rPr>
              <a:t>Do any tensions arise in the arguments and/or findings? What might explain those tensions?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latin typeface="Aptos" panose="020B0004020202020204" pitchFamily="34" charset="0"/>
              </a:rPr>
              <a:t>Do the findings run counter to something you’ve read/observed/know to be true? Why might that be?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31830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07833A63-9CE9-A704-5A61-B690D2EF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>
            <a:extLst>
              <a:ext uri="{FF2B5EF4-FFF2-40B4-BE49-F238E27FC236}">
                <a16:creationId xmlns:a16="http://schemas.microsoft.com/office/drawing/2014/main" id="{4C2999F5-2805-5158-A109-3D7E8653DBD1}"/>
              </a:ext>
            </a:extLst>
          </p:cNvPr>
          <p:cNvSpPr/>
          <p:nvPr/>
        </p:nvSpPr>
        <p:spPr>
          <a:xfrm>
            <a:off x="15521394" y="8659123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8" name="Google Shape;178;p31">
            <a:extLst>
              <a:ext uri="{FF2B5EF4-FFF2-40B4-BE49-F238E27FC236}">
                <a16:creationId xmlns:a16="http://schemas.microsoft.com/office/drawing/2014/main" id="{AD3C0689-CF9E-3AC3-385F-1344AE3E0FE2}"/>
              </a:ext>
            </a:extLst>
          </p:cNvPr>
          <p:cNvSpPr txBox="1"/>
          <p:nvPr/>
        </p:nvSpPr>
        <p:spPr>
          <a:xfrm>
            <a:off x="1383302" y="1736542"/>
            <a:ext cx="1141829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Mine news &amp; real-world observation</a:t>
            </a:r>
            <a:endParaRPr lang="en-US" sz="6000" dirty="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005D5-1BD3-2A79-8956-F7E17EDA5A9B}"/>
              </a:ext>
            </a:extLst>
          </p:cNvPr>
          <p:cNvSpPr txBox="1"/>
          <p:nvPr/>
        </p:nvSpPr>
        <p:spPr>
          <a:xfrm>
            <a:off x="1211435" y="3049686"/>
            <a:ext cx="14309959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buClr>
                <a:srgbClr val="12312B"/>
              </a:buClr>
              <a:buSzPts val="3009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Ask “why” and “how” questions about the world around you and about information you consume. </a:t>
            </a:r>
          </a:p>
          <a:p>
            <a:pPr lvl="3">
              <a:buClr>
                <a:srgbClr val="12312B"/>
              </a:buClr>
              <a:buSzPts val="3009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lvl="3">
              <a:buClr>
                <a:srgbClr val="12312B"/>
              </a:buClr>
              <a:buSzPts val="3009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Read widely on your topic of interest and related topics– policy papers/evaluations, news articles, histories, etc.</a:t>
            </a:r>
          </a:p>
          <a:p>
            <a:pPr lvl="3">
              <a:buClr>
                <a:srgbClr val="12312B"/>
              </a:buClr>
              <a:buSzPts val="3009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lvl="3">
              <a:buClr>
                <a:srgbClr val="12312B"/>
              </a:buClr>
              <a:buSzPts val="3009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lvl="3">
              <a:buClr>
                <a:srgbClr val="12312B"/>
              </a:buClr>
              <a:buSzPts val="3009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Guiding questions: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How does this information relate to academic literature/convention on this topic?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Does existing research give us tools to understand this? Why or why not?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What am I curious about after reading/seeing this?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Does this story/information fit into a broader pattern I’ve observed? How? Why?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649797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96F140F3-8608-858A-B24F-8466311E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>
            <a:extLst>
              <a:ext uri="{FF2B5EF4-FFF2-40B4-BE49-F238E27FC236}">
                <a16:creationId xmlns:a16="http://schemas.microsoft.com/office/drawing/2014/main" id="{48BC1974-8A77-ED10-6F89-AC9E9A7FC76D}"/>
              </a:ext>
            </a:extLst>
          </p:cNvPr>
          <p:cNvSpPr/>
          <p:nvPr/>
        </p:nvSpPr>
        <p:spPr>
          <a:xfrm>
            <a:off x="15521394" y="8659123"/>
            <a:ext cx="2766606" cy="1325204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5598E-7BFA-FB55-D89D-227740F85715}"/>
              </a:ext>
            </a:extLst>
          </p:cNvPr>
          <p:cNvSpPr txBox="1"/>
          <p:nvPr/>
        </p:nvSpPr>
        <p:spPr>
          <a:xfrm>
            <a:off x="1211435" y="3142019"/>
            <a:ext cx="1430995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buClr>
                <a:srgbClr val="12312B"/>
              </a:buClr>
              <a:buSzPts val="3009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Brainstorming measures can help you get more specific about what you’re interested in.</a:t>
            </a:r>
          </a:p>
          <a:p>
            <a:pPr lvl="3">
              <a:buClr>
                <a:srgbClr val="12312B"/>
              </a:buClr>
              <a:buSzPts val="3009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lvl="3">
              <a:buClr>
                <a:srgbClr val="12312B"/>
              </a:buClr>
              <a:buSzPts val="3009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lvl="3">
              <a:buClr>
                <a:srgbClr val="12312B"/>
              </a:buClr>
              <a:buSzPts val="3009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Guiding questions: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How might you measure the concepts in your question?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What type of data might be available/could you collect on these measures?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If you don’t have the time or resources for original data collection, are there reasonable sources of data out there?</a:t>
            </a:r>
          </a:p>
        </p:txBody>
      </p:sp>
      <p:sp>
        <p:nvSpPr>
          <p:cNvPr id="2" name="Google Shape;118;p23">
            <a:extLst>
              <a:ext uri="{FF2B5EF4-FFF2-40B4-BE49-F238E27FC236}">
                <a16:creationId xmlns:a16="http://schemas.microsoft.com/office/drawing/2014/main" id="{D4869501-E08A-0375-497C-253E7AAEC2C5}"/>
              </a:ext>
            </a:extLst>
          </p:cNvPr>
          <p:cNvSpPr txBox="1"/>
          <p:nvPr/>
        </p:nvSpPr>
        <p:spPr>
          <a:xfrm>
            <a:off x="1211435" y="1605003"/>
            <a:ext cx="1526216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Think about measurement &amp; data</a:t>
            </a:r>
            <a:endParaRPr sz="6000" dirty="0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  <p:extLst>
      <p:ext uri="{BB962C8B-B14F-4D97-AF65-F5344CB8AC3E}">
        <p14:creationId xmlns:p14="http://schemas.microsoft.com/office/powerpoint/2010/main" val="290079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A88CF90F-9C68-C92F-2EDA-D5FDCDE0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>
            <a:extLst>
              <a:ext uri="{FF2B5EF4-FFF2-40B4-BE49-F238E27FC236}">
                <a16:creationId xmlns:a16="http://schemas.microsoft.com/office/drawing/2014/main" id="{6495841B-BF44-9EF5-E39C-59B3E8319922}"/>
              </a:ext>
            </a:extLst>
          </p:cNvPr>
          <p:cNvSpPr txBox="1"/>
          <p:nvPr/>
        </p:nvSpPr>
        <p:spPr>
          <a:xfrm>
            <a:off x="2360815" y="1010875"/>
            <a:ext cx="1526216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Imagine potential arguments</a:t>
            </a:r>
            <a:endParaRPr sz="6000" dirty="0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EEC6B-9941-4BBE-BC0E-720EA9E8712D}"/>
              </a:ext>
            </a:extLst>
          </p:cNvPr>
          <p:cNvSpPr txBox="1"/>
          <p:nvPr/>
        </p:nvSpPr>
        <p:spPr>
          <a:xfrm>
            <a:off x="1144933" y="3132813"/>
            <a:ext cx="1430995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>
              <a:buClr>
                <a:srgbClr val="12312B"/>
              </a:buClr>
              <a:buSzPts val="3009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The answer to a good research question requires an explanation, not just a yes or a no.</a:t>
            </a:r>
          </a:p>
          <a:p>
            <a:pPr lvl="3">
              <a:buClr>
                <a:srgbClr val="12312B"/>
              </a:buClr>
              <a:buSzPts val="3009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  <a:p>
            <a:pPr lvl="3">
              <a:buClr>
                <a:srgbClr val="12312B"/>
              </a:buClr>
              <a:buSzPts val="3009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Guiding questions: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What might your answer to your question be? 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What’s the reasoning behind that answer? What evidence could you draw on to back up your reasoning?</a:t>
            </a:r>
          </a:p>
          <a:p>
            <a:pPr marL="457200" lvl="3" indent="-457200">
              <a:buClr>
                <a:srgbClr val="12312B"/>
              </a:buClr>
              <a:buSzPts val="3009"/>
              <a:buFontTx/>
              <a:buChar char="-"/>
            </a:pPr>
            <a:r>
              <a:rPr lang="en-US" sz="3000" dirty="0">
                <a:solidFill>
                  <a:schemeClr val="tx2"/>
                </a:solidFill>
                <a:latin typeface="Aptos" panose="020B0004020202020204" pitchFamily="34" charset="0"/>
                <a:ea typeface="Archivo Medium"/>
                <a:cs typeface="Archivo Medium"/>
                <a:sym typeface="Archivo Medium"/>
              </a:rPr>
              <a:t>Can you think of counter-arguments/alternative explanations?</a:t>
            </a:r>
          </a:p>
          <a:p>
            <a:pPr lvl="3">
              <a:buClr>
                <a:srgbClr val="12312B"/>
              </a:buClr>
              <a:buSzPts val="3009"/>
            </a:pPr>
            <a:endParaRPr lang="en-US" sz="3000" dirty="0">
              <a:solidFill>
                <a:schemeClr val="tx2"/>
              </a:solidFill>
              <a:latin typeface="Aptos" panose="020B0004020202020204" pitchFamily="34" charset="0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888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C462BCC4-E66A-4FEF-F581-0FDFE3AB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>
            <a:extLst>
              <a:ext uri="{FF2B5EF4-FFF2-40B4-BE49-F238E27FC236}">
                <a16:creationId xmlns:a16="http://schemas.microsoft.com/office/drawing/2014/main" id="{440300C8-27E0-BAE3-74CC-CC4CAFCA8E56}"/>
              </a:ext>
            </a:extLst>
          </p:cNvPr>
          <p:cNvSpPr txBox="1"/>
          <p:nvPr/>
        </p:nvSpPr>
        <p:spPr>
          <a:xfrm>
            <a:off x="2512232" y="3663344"/>
            <a:ext cx="1205345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BACK TO TRAINS!</a:t>
            </a:r>
            <a:endParaRPr sz="800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2" name="Google Shape;172;p30">
            <a:extLst>
              <a:ext uri="{FF2B5EF4-FFF2-40B4-BE49-F238E27FC236}">
                <a16:creationId xmlns:a16="http://schemas.microsoft.com/office/drawing/2014/main" id="{4150E599-8410-09FF-2FF5-5CACC466B242}"/>
              </a:ext>
            </a:extLst>
          </p:cNvPr>
          <p:cNvSpPr/>
          <p:nvPr/>
        </p:nvSpPr>
        <p:spPr>
          <a:xfrm>
            <a:off x="1606995" y="4940595"/>
            <a:ext cx="13863931" cy="1170589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96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9282BFA6-C99A-9EB6-9F8C-7646A4CD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>
            <a:extLst>
              <a:ext uri="{FF2B5EF4-FFF2-40B4-BE49-F238E27FC236}">
                <a16:creationId xmlns:a16="http://schemas.microsoft.com/office/drawing/2014/main" id="{4903ED13-DA9C-4A1C-1071-0DF830C10AD7}"/>
              </a:ext>
            </a:extLst>
          </p:cNvPr>
          <p:cNvSpPr txBox="1"/>
          <p:nvPr/>
        </p:nvSpPr>
        <p:spPr>
          <a:xfrm>
            <a:off x="2512232" y="3663344"/>
            <a:ext cx="1205345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QUESTIONS?</a:t>
            </a:r>
            <a:endParaRPr sz="800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72" name="Google Shape;172;p30">
            <a:extLst>
              <a:ext uri="{FF2B5EF4-FFF2-40B4-BE49-F238E27FC236}">
                <a16:creationId xmlns:a16="http://schemas.microsoft.com/office/drawing/2014/main" id="{F7D37373-2451-7163-1999-DC691940B834}"/>
              </a:ext>
            </a:extLst>
          </p:cNvPr>
          <p:cNvSpPr/>
          <p:nvPr/>
        </p:nvSpPr>
        <p:spPr>
          <a:xfrm>
            <a:off x="1606995" y="4940595"/>
            <a:ext cx="13863931" cy="1170589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63701"/>
      </p:ext>
    </p:extLst>
  </p:cSld>
  <p:clrMapOvr>
    <a:masterClrMapping/>
  </p:clrMapOvr>
</p:sld>
</file>

<file path=ppt/theme/theme1.xml><?xml version="1.0" encoding="utf-8"?>
<a:theme xmlns:a="http://schemas.openxmlformats.org/drawingml/2006/main" name="DLVI theme 1">
  <a:themeElements>
    <a:clrScheme name="Office">
      <a:dk1>
        <a:srgbClr val="12312B"/>
      </a:dk1>
      <a:lt1>
        <a:srgbClr val="FFFFFF"/>
      </a:lt1>
      <a:dk2>
        <a:srgbClr val="00693D"/>
      </a:dk2>
      <a:lt2>
        <a:srgbClr val="000000"/>
      </a:lt2>
      <a:accent1>
        <a:srgbClr val="A5D75F"/>
      </a:accent1>
      <a:accent2>
        <a:srgbClr val="00693D"/>
      </a:accent2>
      <a:accent3>
        <a:srgbClr val="12312B"/>
      </a:accent3>
      <a:accent4>
        <a:srgbClr val="C3E7FF"/>
      </a:accent4>
      <a:accent5>
        <a:srgbClr val="F5DC69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5298</TotalTime>
  <Words>656</Words>
  <Application>Microsoft Macintosh PowerPoint</Application>
  <PresentationFormat>Custom</PresentationFormat>
  <Paragraphs>76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Calibri</vt:lpstr>
      <vt:lpstr>Archivo SemiBold</vt:lpstr>
      <vt:lpstr>Aptos</vt:lpstr>
      <vt:lpstr>Archivo ExtraBold</vt:lpstr>
      <vt:lpstr>Arial</vt:lpstr>
      <vt:lpstr>Anton</vt:lpstr>
      <vt:lpstr>Archivo Medium</vt:lpstr>
      <vt:lpstr>Archivo</vt:lpstr>
      <vt:lpstr>DLVI theme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Emily H. Myers</cp:lastModifiedBy>
  <cp:revision>27</cp:revision>
  <cp:lastPrinted>2026-09-02T12:26:35Z</cp:lastPrinted>
  <dcterms:modified xsi:type="dcterms:W3CDTF">2026-09-02T12:49:29Z</dcterms:modified>
</cp:coreProperties>
</file>