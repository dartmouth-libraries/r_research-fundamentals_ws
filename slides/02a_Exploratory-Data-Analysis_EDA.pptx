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omments/modernComment_162_A6C64414.xml" ContentType="application/vnd.ms-powerpoint.comment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omments/modernComment_161_DE98C238.xml" ContentType="application/vnd.ms-powerpoint.comment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50"/>
  </p:notesMasterIdLst>
  <p:sldIdLst>
    <p:sldId id="299" r:id="rId3"/>
    <p:sldId id="272" r:id="rId4"/>
    <p:sldId id="321" r:id="rId5"/>
    <p:sldId id="322" r:id="rId6"/>
    <p:sldId id="325" r:id="rId7"/>
    <p:sldId id="265" r:id="rId8"/>
    <p:sldId id="300" r:id="rId9"/>
    <p:sldId id="310" r:id="rId10"/>
    <p:sldId id="315" r:id="rId11"/>
    <p:sldId id="288" r:id="rId12"/>
    <p:sldId id="306" r:id="rId13"/>
    <p:sldId id="309" r:id="rId14"/>
    <p:sldId id="267" r:id="rId15"/>
    <p:sldId id="266" r:id="rId16"/>
    <p:sldId id="277" r:id="rId17"/>
    <p:sldId id="301" r:id="rId18"/>
    <p:sldId id="298" r:id="rId19"/>
    <p:sldId id="308" r:id="rId20"/>
    <p:sldId id="302" r:id="rId21"/>
    <p:sldId id="313" r:id="rId22"/>
    <p:sldId id="268" r:id="rId23"/>
    <p:sldId id="270" r:id="rId24"/>
    <p:sldId id="305" r:id="rId25"/>
    <p:sldId id="278" r:id="rId26"/>
    <p:sldId id="280" r:id="rId27"/>
    <p:sldId id="303" r:id="rId28"/>
    <p:sldId id="314" r:id="rId29"/>
    <p:sldId id="361" r:id="rId30"/>
    <p:sldId id="374" r:id="rId31"/>
    <p:sldId id="362" r:id="rId32"/>
    <p:sldId id="375" r:id="rId33"/>
    <p:sldId id="385" r:id="rId34"/>
    <p:sldId id="366" r:id="rId35"/>
    <p:sldId id="379" r:id="rId36"/>
    <p:sldId id="382" r:id="rId37"/>
    <p:sldId id="386" r:id="rId38"/>
    <p:sldId id="381" r:id="rId39"/>
    <p:sldId id="383" r:id="rId40"/>
    <p:sldId id="367" r:id="rId41"/>
    <p:sldId id="354" r:id="rId42"/>
    <p:sldId id="370" r:id="rId43"/>
    <p:sldId id="371" r:id="rId44"/>
    <p:sldId id="353" r:id="rId45"/>
    <p:sldId id="294" r:id="rId46"/>
    <p:sldId id="275" r:id="rId47"/>
    <p:sldId id="387" r:id="rId48"/>
    <p:sldId id="307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E9675D-04BF-4BD0-8DB8-9B6CC15302F8}" v="654" dt="2026-08-26T19:55:44.0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85" autoAdjust="0"/>
    <p:restoredTop sz="78788" autoAdjust="0"/>
  </p:normalViewPr>
  <p:slideViewPr>
    <p:cSldViewPr snapToGrid="0">
      <p:cViewPr varScale="1">
        <p:scale>
          <a:sx n="87" d="100"/>
          <a:sy n="87" d="100"/>
        </p:scale>
        <p:origin x="714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microsoft.com/office/2018/10/relationships/authors" Target="author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">
      <pc:chgData name="Katie Owers Bonner" userId="031be739-2ca3-49bb-9134-32c5274b029d" providerId="ADAL" clId="{A2AFF3C0-B35D-4D35-896C-645D8DA4EEB0}" dt="2026-08-26T19:57:21.142" v="1010"/>
      <pc:docMkLst>
        <pc:docMk/>
      </pc:docMkLst>
      <pc:sldChg chg="modSp modAnim">
        <pc:chgData name="Katie Owers Bonner" userId="031be739-2ca3-49bb-9134-32c5274b029d" providerId="ADAL" clId="{A2AFF3C0-B35D-4D35-896C-645D8DA4EEB0}" dt="2026-08-18T15:24:26.374" v="459" actId="20577"/>
        <pc:sldMkLst>
          <pc:docMk/>
          <pc:sldMk cId="2061279562" sldId="267"/>
        </pc:sldMkLst>
        <pc:spChg chg="mod">
          <ac:chgData name="Katie Owers Bonner" userId="031be739-2ca3-49bb-9134-32c5274b029d" providerId="ADAL" clId="{A2AFF3C0-B35D-4D35-896C-645D8DA4EEB0}" dt="2026-08-18T15:24:26.374" v="459" actId="20577"/>
          <ac:spMkLst>
            <pc:docMk/>
            <pc:sldMk cId="2061279562" sldId="267"/>
            <ac:spMk id="142" creationId="{2F69E860-2826-C663-75C7-D65490E0A9CA}"/>
          </ac:spMkLst>
        </pc:sp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3685679121" sldId="268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3685679121" sldId="268"/>
            <ac:graphicFrameMk id="4" creationId="{64D07D49-7910-C5DA-89D1-433D68B0F74C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724988191" sldId="270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724988191" sldId="270"/>
            <ac:graphicFrameMk id="2" creationId="{9786BA11-0FBF-4B1D-E4C9-3CA495743DE4}"/>
          </ac:graphicFrameMkLst>
        </pc:graphicFrameChg>
      </pc:sldChg>
      <pc:sldChg chg="modSp mod modAnim">
        <pc:chgData name="Katie Owers Bonner" userId="031be739-2ca3-49bb-9134-32c5274b029d" providerId="ADAL" clId="{A2AFF3C0-B35D-4D35-896C-645D8DA4EEB0}" dt="2026-08-18T15:03:40.402" v="140" actId="20577"/>
        <pc:sldMkLst>
          <pc:docMk/>
          <pc:sldMk cId="4126705857" sldId="272"/>
        </pc:sldMkLst>
        <pc:spChg chg="mod">
          <ac:chgData name="Katie Owers Bonner" userId="031be739-2ca3-49bb-9134-32c5274b029d" providerId="ADAL" clId="{A2AFF3C0-B35D-4D35-896C-645D8DA4EEB0}" dt="2026-08-18T15:01:55.969" v="29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8-18T15:03:40.402" v="140" actId="20577"/>
          <ac:spMkLst>
            <pc:docMk/>
            <pc:sldMk cId="4126705857" sldId="272"/>
            <ac:spMk id="142" creationId="{1F33F10C-E37B-AAC3-E67B-2ECA203B4738}"/>
          </ac:spMkLst>
        </pc:sp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399821630" sldId="278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399821630" sldId="278"/>
            <ac:graphicFrameMk id="2" creationId="{01D25A98-2A75-B5A9-E933-44F4907A0951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4170644478" sldId="280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4170644478" sldId="280"/>
            <ac:graphicFrameMk id="2" creationId="{EF6A5266-D893-CA36-B0C8-6FF66C9C0C8E}"/>
          </ac:graphicFrameMkLst>
        </pc:graphicFrameChg>
      </pc:sldChg>
      <pc:sldChg chg="modSp modAnim">
        <pc:chgData name="Katie Owers Bonner" userId="031be739-2ca3-49bb-9134-32c5274b029d" providerId="ADAL" clId="{A2AFF3C0-B35D-4D35-896C-645D8DA4EEB0}" dt="2026-08-26T19:49:40.263" v="995" actId="20577"/>
        <pc:sldMkLst>
          <pc:docMk/>
          <pc:sldMk cId="1791929691" sldId="288"/>
        </pc:sldMkLst>
        <pc:spChg chg="mod">
          <ac:chgData name="Katie Owers Bonner" userId="031be739-2ca3-49bb-9134-32c5274b029d" providerId="ADAL" clId="{A2AFF3C0-B35D-4D35-896C-645D8DA4EEB0}" dt="2026-08-26T19:49:40.263" v="995" actId="20577"/>
          <ac:spMkLst>
            <pc:docMk/>
            <pc:sldMk cId="1791929691" sldId="288"/>
            <ac:spMk id="142" creationId="{1F5853FA-6364-3501-C754-49BB9B5E3BB1}"/>
          </ac:spMkLst>
        </pc:spChg>
      </pc:sldChg>
      <pc:sldChg chg="delSp modSp mod">
        <pc:chgData name="Katie Owers Bonner" userId="031be739-2ca3-49bb-9134-32c5274b029d" providerId="ADAL" clId="{A2AFF3C0-B35D-4D35-896C-645D8DA4EEB0}" dt="2026-08-18T15:01:33.347" v="21" actId="20577"/>
        <pc:sldMkLst>
          <pc:docMk/>
          <pc:sldMk cId="0" sldId="299"/>
        </pc:sldMkLst>
        <pc:spChg chg="mod">
          <ac:chgData name="Katie Owers Bonner" userId="031be739-2ca3-49bb-9134-32c5274b029d" providerId="ADAL" clId="{A2AFF3C0-B35D-4D35-896C-645D8DA4EEB0}" dt="2026-08-18T15:01:33.347" v="21" actId="20577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8-18T15:01:31.198" v="20" actId="1076"/>
          <ac:spMkLst>
            <pc:docMk/>
            <pc:sldMk cId="0" sldId="299"/>
            <ac:spMk id="112" creationId="{00000000-0000-0000-0000-000000000000}"/>
          </ac:spMkLst>
        </pc:spChg>
      </pc:sldChg>
      <pc:sldChg chg="modSp mod">
        <pc:chgData name="Katie Owers Bonner" userId="031be739-2ca3-49bb-9134-32c5274b029d" providerId="ADAL" clId="{A2AFF3C0-B35D-4D35-896C-645D8DA4EEB0}" dt="2026-08-18T15:23:11.525" v="328" actId="20577"/>
        <pc:sldMkLst>
          <pc:docMk/>
          <pc:sldMk cId="3557073072" sldId="306"/>
        </pc:sldMkLst>
        <pc:spChg chg="mod">
          <ac:chgData name="Katie Owers Bonner" userId="031be739-2ca3-49bb-9134-32c5274b029d" providerId="ADAL" clId="{A2AFF3C0-B35D-4D35-896C-645D8DA4EEB0}" dt="2026-08-18T15:23:11.525" v="328" actId="20577"/>
          <ac:spMkLst>
            <pc:docMk/>
            <pc:sldMk cId="3557073072" sldId="306"/>
            <ac:spMk id="142" creationId="{4CB52A31-2D2E-2619-49D4-9C15DDD7006D}"/>
          </ac:spMkLst>
        </pc:spChg>
      </pc:sldChg>
      <pc:sldChg chg="modSp mod">
        <pc:chgData name="Katie Owers Bonner" userId="031be739-2ca3-49bb-9134-32c5274b029d" providerId="ADAL" clId="{A2AFF3C0-B35D-4D35-896C-645D8DA4EEB0}" dt="2026-08-18T15:30:29.904" v="467" actId="6549"/>
        <pc:sldMkLst>
          <pc:docMk/>
          <pc:sldMk cId="3418495227" sldId="308"/>
        </pc:sldMkLst>
        <pc:spChg chg="mod">
          <ac:chgData name="Katie Owers Bonner" userId="031be739-2ca3-49bb-9134-32c5274b029d" providerId="ADAL" clId="{A2AFF3C0-B35D-4D35-896C-645D8DA4EEB0}" dt="2026-08-18T15:30:29.904" v="467" actId="6549"/>
          <ac:spMkLst>
            <pc:docMk/>
            <pc:sldMk cId="3418495227" sldId="308"/>
            <ac:spMk id="142" creationId="{EEB762E8-5734-55C9-255A-396077CEBB04}"/>
          </ac:spMkLst>
        </pc:spChg>
      </pc:sldChg>
      <pc:sldChg chg="addSp modSp mod modNotesTx">
        <pc:chgData name="Katie Owers Bonner" userId="031be739-2ca3-49bb-9134-32c5274b029d" providerId="ADAL" clId="{A2AFF3C0-B35D-4D35-896C-645D8DA4EEB0}" dt="2026-08-26T19:48:03.337" v="949" actId="13926"/>
        <pc:sldMkLst>
          <pc:docMk/>
          <pc:sldMk cId="3846199407" sldId="321"/>
        </pc:sldMkLst>
        <pc:spChg chg="add mod">
          <ac:chgData name="Katie Owers Bonner" userId="031be739-2ca3-49bb-9134-32c5274b029d" providerId="ADAL" clId="{A2AFF3C0-B35D-4D35-896C-645D8DA4EEB0}" dt="2026-08-26T19:47:45.449" v="947" actId="108"/>
          <ac:spMkLst>
            <pc:docMk/>
            <pc:sldMk cId="3846199407" sldId="321"/>
            <ac:spMk id="2" creationId="{57C72DAA-917E-D646-280E-7B21E371B887}"/>
          </ac:spMkLst>
        </pc:spChg>
        <pc:spChg chg="mod">
          <ac:chgData name="Katie Owers Bonner" userId="031be739-2ca3-49bb-9134-32c5274b029d" providerId="ADAL" clId="{A2AFF3C0-B35D-4D35-896C-645D8DA4EEB0}" dt="2026-08-26T19:48:03.337" v="949" actId="13926"/>
          <ac:spMkLst>
            <pc:docMk/>
            <pc:sldMk cId="3846199407" sldId="321"/>
            <ac:spMk id="158" creationId="{F0B4E771-CF6F-C6B2-8CF5-60A162B78732}"/>
          </ac:spMkLst>
        </pc:sp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2208166433" sldId="361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208166433" sldId="361"/>
            <ac:graphicFrameMk id="2" creationId="{E37EAA58-4B61-671C-172E-F61CC15DE034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736716015" sldId="362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736716015" sldId="362"/>
            <ac:graphicFrameMk id="4" creationId="{A556901A-0312-FE75-A466-E8D86713317B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791404381" sldId="366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791404381" sldId="366"/>
            <ac:graphicFrameMk id="2" creationId="{642114E5-9D49-DA7C-751E-B1FD3569B6BB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2653025956" sldId="367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653025956" sldId="367"/>
            <ac:graphicFrameMk id="6" creationId="{28247F70-A23B-A561-BD0E-659A45223DA1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884303677" sldId="370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884303677" sldId="370"/>
            <ac:graphicFrameMk id="6" creationId="{2C319934-4682-7C00-22D0-DA7D9DA8A624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2375536854" sldId="371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375536854" sldId="371"/>
            <ac:graphicFrameMk id="2" creationId="{4950B423-B96E-CCCC-564A-76064D7E0D44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545875522" sldId="374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545875522" sldId="374"/>
            <ac:graphicFrameMk id="2" creationId="{F9E1BDB1-BC91-CDA5-0BBC-FD53117239BA}"/>
          </ac:graphicFrameMkLst>
        </pc:graphicFrameChg>
      </pc:sldChg>
      <pc:sldChg chg="modSp mod addAnim delAnim">
        <pc:chgData name="Katie Owers Bonner" userId="031be739-2ca3-49bb-9134-32c5274b029d" providerId="ADAL" clId="{A2AFF3C0-B35D-4D35-896C-645D8DA4EEB0}" dt="2026-08-26T19:55:44.033" v="1008"/>
        <pc:sldMkLst>
          <pc:docMk/>
          <pc:sldMk cId="216360428" sldId="375"/>
        </pc:sldMkLst>
        <pc:graphicFrameChg chg="mod modGraphic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16360428" sldId="375"/>
            <ac:graphicFrameMk id="4" creationId="{20A815E1-73F4-5001-5AF5-E86EDEA617D9}"/>
          </ac:graphicFrameMkLst>
        </pc:graphicFrameChg>
      </pc:sldChg>
      <pc:sldChg chg="add del modNotesTx">
        <pc:chgData name="Katie Owers Bonner" userId="031be739-2ca3-49bb-9134-32c5274b029d" providerId="ADAL" clId="{A2AFF3C0-B35D-4D35-896C-645D8DA4EEB0}" dt="2026-08-26T19:10:58.171" v="785" actId="47"/>
        <pc:sldMkLst>
          <pc:docMk/>
          <pc:sldMk cId="1345595179" sldId="376"/>
        </pc:sldMkLst>
      </pc:sldChg>
      <pc:sldChg chg="del">
        <pc:chgData name="Katie Owers Bonner" userId="031be739-2ca3-49bb-9134-32c5274b029d" providerId="ADAL" clId="{A2AFF3C0-B35D-4D35-896C-645D8DA4EEB0}" dt="2026-08-26T18:59:44.734" v="643" actId="2696"/>
        <pc:sldMkLst>
          <pc:docMk/>
          <pc:sldMk cId="3593948329" sldId="376"/>
        </pc:sldMkLst>
      </pc:sldChg>
      <pc:sldChg chg="modSp modAnim">
        <pc:chgData name="Katie Owers Bonner" userId="031be739-2ca3-49bb-9134-32c5274b029d" providerId="ADAL" clId="{A2AFF3C0-B35D-4D35-896C-645D8DA4EEB0}" dt="2026-08-26T19:27:33.459" v="829" actId="20577"/>
        <pc:sldMkLst>
          <pc:docMk/>
          <pc:sldMk cId="3953128533" sldId="379"/>
        </pc:sldMkLst>
        <pc:spChg chg="mod">
          <ac:chgData name="Katie Owers Bonner" userId="031be739-2ca3-49bb-9134-32c5274b029d" providerId="ADAL" clId="{A2AFF3C0-B35D-4D35-896C-645D8DA4EEB0}" dt="2026-08-26T19:27:33.459" v="829" actId="20577"/>
          <ac:spMkLst>
            <pc:docMk/>
            <pc:sldMk cId="3953128533" sldId="379"/>
            <ac:spMk id="142" creationId="{27622303-389D-ABBE-7C5C-93C326E9D9F8}"/>
          </ac:spMkLst>
        </pc:spChg>
      </pc:sldChg>
      <pc:sldChg chg="modSp mod ord">
        <pc:chgData name="Katie Owers Bonner" userId="031be739-2ca3-49bb-9134-32c5274b029d" providerId="ADAL" clId="{A2AFF3C0-B35D-4D35-896C-645D8DA4EEB0}" dt="2026-08-26T19:27:03.820" v="826" actId="20577"/>
        <pc:sldMkLst>
          <pc:docMk/>
          <pc:sldMk cId="3763887573" sldId="381"/>
        </pc:sldMkLst>
        <pc:spChg chg="mod">
          <ac:chgData name="Katie Owers Bonner" userId="031be739-2ca3-49bb-9134-32c5274b029d" providerId="ADAL" clId="{A2AFF3C0-B35D-4D35-896C-645D8DA4EEB0}" dt="2026-08-26T19:27:03.820" v="826" actId="20577"/>
          <ac:spMkLst>
            <pc:docMk/>
            <pc:sldMk cId="3763887573" sldId="381"/>
            <ac:spMk id="3" creationId="{F1B90168-C1A7-5731-8ACC-5345D7D8F4A5}"/>
          </ac:spMkLst>
        </pc:spChg>
      </pc:sldChg>
      <pc:sldChg chg="delSp modSp mod delAnim modAnim">
        <pc:chgData name="Katie Owers Bonner" userId="031be739-2ca3-49bb-9134-32c5274b029d" providerId="ADAL" clId="{A2AFF3C0-B35D-4D35-896C-645D8DA4EEB0}" dt="2026-08-26T19:11:17.086" v="813" actId="20577"/>
        <pc:sldMkLst>
          <pc:docMk/>
          <pc:sldMk cId="2063955784" sldId="382"/>
        </pc:sldMkLst>
        <pc:spChg chg="del">
          <ac:chgData name="Katie Owers Bonner" userId="031be739-2ca3-49bb-9134-32c5274b029d" providerId="ADAL" clId="{A2AFF3C0-B35D-4D35-896C-645D8DA4EEB0}" dt="2026-08-26T19:10:20.774" v="774" actId="478"/>
          <ac:spMkLst>
            <pc:docMk/>
            <pc:sldMk cId="2063955784" sldId="382"/>
            <ac:spMk id="4" creationId="{A02E6BC6-0ED0-000C-D9DA-F901E5D9E44A}"/>
          </ac:spMkLst>
        </pc:spChg>
        <pc:spChg chg="mod">
          <ac:chgData name="Katie Owers Bonner" userId="031be739-2ca3-49bb-9134-32c5274b029d" providerId="ADAL" clId="{A2AFF3C0-B35D-4D35-896C-645D8DA4EEB0}" dt="2026-08-26T19:11:17.086" v="813" actId="20577"/>
          <ac:spMkLst>
            <pc:docMk/>
            <pc:sldMk cId="2063955784" sldId="382"/>
            <ac:spMk id="141" creationId="{7933D4D8-ECA0-8DCA-2F62-FF2992C12F28}"/>
          </ac:spMkLst>
        </pc:spChg>
        <pc:spChg chg="mod">
          <ac:chgData name="Katie Owers Bonner" userId="031be739-2ca3-49bb-9134-32c5274b029d" providerId="ADAL" clId="{A2AFF3C0-B35D-4D35-896C-645D8DA4EEB0}" dt="2026-08-26T19:10:53.500" v="784" actId="20577"/>
          <ac:spMkLst>
            <pc:docMk/>
            <pc:sldMk cId="2063955784" sldId="382"/>
            <ac:spMk id="142" creationId="{C5699C41-1F6A-7D2F-8E98-F3B1C79D53BD}"/>
          </ac:spMkLst>
        </pc:spChg>
        <pc:picChg chg="mod">
          <ac:chgData name="Katie Owers Bonner" userId="031be739-2ca3-49bb-9134-32c5274b029d" providerId="ADAL" clId="{A2AFF3C0-B35D-4D35-896C-645D8DA4EEB0}" dt="2026-08-26T19:10:47.383" v="782" actId="1076"/>
          <ac:picMkLst>
            <pc:docMk/>
            <pc:sldMk cId="2063955784" sldId="382"/>
            <ac:picMk id="3" creationId="{5D03613D-8258-A3FF-4B45-607F79A3BD94}"/>
          </ac:picMkLst>
        </pc:picChg>
        <pc:picChg chg="del">
          <ac:chgData name="Katie Owers Bonner" userId="031be739-2ca3-49bb-9134-32c5274b029d" providerId="ADAL" clId="{A2AFF3C0-B35D-4D35-896C-645D8DA4EEB0}" dt="2026-08-26T19:10:19.272" v="773" actId="478"/>
          <ac:picMkLst>
            <pc:docMk/>
            <pc:sldMk cId="2063955784" sldId="382"/>
            <ac:picMk id="1026" creationId="{32D6E122-83CC-3AED-9945-CD5C5CFFBD5C}"/>
          </ac:picMkLst>
        </pc:picChg>
      </pc:sldChg>
      <pc:sldChg chg="modSp mod">
        <pc:chgData name="Katie Owers Bonner" userId="031be739-2ca3-49bb-9134-32c5274b029d" providerId="ADAL" clId="{A2AFF3C0-B35D-4D35-896C-645D8DA4EEB0}" dt="2026-08-26T19:27:55.279" v="853" actId="20577"/>
        <pc:sldMkLst>
          <pc:docMk/>
          <pc:sldMk cId="2431992649" sldId="383"/>
        </pc:sldMkLst>
        <pc:spChg chg="mod">
          <ac:chgData name="Katie Owers Bonner" userId="031be739-2ca3-49bb-9134-32c5274b029d" providerId="ADAL" clId="{A2AFF3C0-B35D-4D35-896C-645D8DA4EEB0}" dt="2026-08-26T19:27:55.279" v="853" actId="20577"/>
          <ac:spMkLst>
            <pc:docMk/>
            <pc:sldMk cId="2431992649" sldId="383"/>
            <ac:spMk id="3" creationId="{807CB3B0-0406-3EA0-3EBE-3D17A6ED719E}"/>
          </ac:spMkLst>
        </pc:spChg>
      </pc:sldChg>
      <pc:sldChg chg="add del">
        <pc:chgData name="Katie Owers Bonner" userId="031be739-2ca3-49bb-9134-32c5274b029d" providerId="ADAL" clId="{A2AFF3C0-B35D-4D35-896C-645D8DA4EEB0}" dt="2026-08-26T19:04:40.361" v="647" actId="47"/>
        <pc:sldMkLst>
          <pc:docMk/>
          <pc:sldMk cId="1300477727" sldId="384"/>
        </pc:sldMkLst>
      </pc:sldChg>
      <pc:sldChg chg="addSp delSp modSp add mod">
        <pc:chgData name="Katie Owers Bonner" userId="031be739-2ca3-49bb-9134-32c5274b029d" providerId="ADAL" clId="{A2AFF3C0-B35D-4D35-896C-645D8DA4EEB0}" dt="2026-08-26T19:55:44.033" v="1008"/>
        <pc:sldMkLst>
          <pc:docMk/>
          <pc:sldMk cId="3099846446" sldId="385"/>
        </pc:sldMkLst>
        <pc:spChg chg="add mod">
          <ac:chgData name="Katie Owers Bonner" userId="031be739-2ca3-49bb-9134-32c5274b029d" providerId="ADAL" clId="{A2AFF3C0-B35D-4D35-896C-645D8DA4EEB0}" dt="2026-08-26T19:05:13.309" v="655" actId="1076"/>
          <ac:spMkLst>
            <pc:docMk/>
            <pc:sldMk cId="3099846446" sldId="385"/>
            <ac:spMk id="10" creationId="{2F04C123-1FEB-4B5D-C162-5467BA39A051}"/>
          </ac:spMkLst>
        </pc:spChg>
        <pc:grpChg chg="del">
          <ac:chgData name="Katie Owers Bonner" userId="031be739-2ca3-49bb-9134-32c5274b029d" providerId="ADAL" clId="{A2AFF3C0-B35D-4D35-896C-645D8DA4EEB0}" dt="2026-08-26T19:04:47.240" v="648" actId="478"/>
          <ac:grpSpMkLst>
            <pc:docMk/>
            <pc:sldMk cId="3099846446" sldId="385"/>
            <ac:grpSpMk id="2" creationId="{8C737FC1-2272-4FC1-5C31-7019E42DECC0}"/>
          </ac:grpSpMkLst>
        </pc:grpChg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3099846446" sldId="385"/>
            <ac:graphicFrameMk id="4" creationId="{F501DA57-CAD4-CBC0-5C87-C8241EC97172}"/>
          </ac:graphicFrameMkLst>
        </pc:graphicFrameChg>
        <pc:picChg chg="add del mod">
          <ac:chgData name="Katie Owers Bonner" userId="031be739-2ca3-49bb-9134-32c5274b029d" providerId="ADAL" clId="{A2AFF3C0-B35D-4D35-896C-645D8DA4EEB0}" dt="2026-08-26T19:05:32.220" v="656" actId="478"/>
          <ac:picMkLst>
            <pc:docMk/>
            <pc:sldMk cId="3099846446" sldId="385"/>
            <ac:picMk id="8" creationId="{CB37C228-0AB4-C4C2-9B8B-6EA7DF83CDD1}"/>
          </ac:picMkLst>
        </pc:picChg>
        <pc:picChg chg="add mod ord modCrop">
          <ac:chgData name="Katie Owers Bonner" userId="031be739-2ca3-49bb-9134-32c5274b029d" providerId="ADAL" clId="{A2AFF3C0-B35D-4D35-896C-645D8DA4EEB0}" dt="2026-08-26T19:06:02.681" v="664" actId="167"/>
          <ac:picMkLst>
            <pc:docMk/>
            <pc:sldMk cId="3099846446" sldId="385"/>
            <ac:picMk id="12" creationId="{E1E97007-1655-2DEE-0C98-7DD2DAE1A95A}"/>
          </ac:picMkLst>
        </pc:picChg>
        <pc:cxnChg chg="add mod">
          <ac:chgData name="Katie Owers Bonner" userId="031be739-2ca3-49bb-9134-32c5274b029d" providerId="ADAL" clId="{A2AFF3C0-B35D-4D35-896C-645D8DA4EEB0}" dt="2026-08-26T19:05:13.309" v="655" actId="1076"/>
          <ac:cxnSpMkLst>
            <pc:docMk/>
            <pc:sldMk cId="3099846446" sldId="385"/>
            <ac:cxnSpMk id="9" creationId="{F15AB367-B278-80DD-8079-F441627DD137}"/>
          </ac:cxnSpMkLst>
        </pc:cxnChg>
      </pc:sldChg>
      <pc:sldChg chg="delSp modSp add mod ord delAnim">
        <pc:chgData name="Katie Owers Bonner" userId="031be739-2ca3-49bb-9134-32c5274b029d" providerId="ADAL" clId="{A2AFF3C0-B35D-4D35-896C-645D8DA4EEB0}" dt="2026-08-26T19:57:21.142" v="1010"/>
        <pc:sldMkLst>
          <pc:docMk/>
          <pc:sldMk cId="1459244138" sldId="386"/>
        </pc:sldMkLst>
        <pc:spChg chg="mod">
          <ac:chgData name="Katie Owers Bonner" userId="031be739-2ca3-49bb-9134-32c5274b029d" providerId="ADAL" clId="{A2AFF3C0-B35D-4D35-896C-645D8DA4EEB0}" dt="2026-08-26T19:27:19.849" v="827" actId="14100"/>
          <ac:spMkLst>
            <pc:docMk/>
            <pc:sldMk cId="1459244138" sldId="386"/>
            <ac:spMk id="141" creationId="{9A88CCC9-E395-768D-5393-35E8E1DDB97B}"/>
          </ac:spMkLst>
        </pc:spChg>
        <pc:spChg chg="mod">
          <ac:chgData name="Katie Owers Bonner" userId="031be739-2ca3-49bb-9134-32c5274b029d" providerId="ADAL" clId="{A2AFF3C0-B35D-4D35-896C-645D8DA4EEB0}" dt="2026-08-26T19:07:52.534" v="737" actId="20577"/>
          <ac:spMkLst>
            <pc:docMk/>
            <pc:sldMk cId="1459244138" sldId="386"/>
            <ac:spMk id="142" creationId="{D1234921-1461-6483-0953-8D96604ADB8E}"/>
          </ac:spMkLst>
        </pc:spChg>
        <pc:picChg chg="del">
          <ac:chgData name="Katie Owers Bonner" userId="031be739-2ca3-49bb-9134-32c5274b029d" providerId="ADAL" clId="{A2AFF3C0-B35D-4D35-896C-645D8DA4EEB0}" dt="2026-08-26T19:07:36.012" v="729" actId="478"/>
          <ac:picMkLst>
            <pc:docMk/>
            <pc:sldMk cId="1459244138" sldId="386"/>
            <ac:picMk id="3" creationId="{5430379C-9170-315E-2552-8BD9EC1FED8A}"/>
          </ac:picMkLst>
        </pc:picChg>
        <pc:picChg chg="mod">
          <ac:chgData name="Katie Owers Bonner" userId="031be739-2ca3-49bb-9134-32c5274b029d" providerId="ADAL" clId="{A2AFF3C0-B35D-4D35-896C-645D8DA4EEB0}" dt="2026-08-26T19:27:23.033" v="828" actId="1076"/>
          <ac:picMkLst>
            <pc:docMk/>
            <pc:sldMk cId="1459244138" sldId="386"/>
            <ac:picMk id="1026" creationId="{4DB7FB59-A5C6-0041-2A4A-8D917A621F14}"/>
          </ac:picMkLst>
        </pc:picChg>
      </pc:sldChg>
      <pc:sldChg chg="modSp add mod">
        <pc:chgData name="Katie Owers Bonner" userId="031be739-2ca3-49bb-9134-32c5274b029d" providerId="ADAL" clId="{A2AFF3C0-B35D-4D35-896C-645D8DA4EEB0}" dt="2026-08-26T19:48:50.019" v="954" actId="20577"/>
        <pc:sldMkLst>
          <pc:docMk/>
          <pc:sldMk cId="1361405153" sldId="387"/>
        </pc:sldMkLst>
        <pc:spChg chg="mod">
          <ac:chgData name="Katie Owers Bonner" userId="031be739-2ca3-49bb-9134-32c5274b029d" providerId="ADAL" clId="{A2AFF3C0-B35D-4D35-896C-645D8DA4EEB0}" dt="2026-08-26T19:48:50.019" v="954" actId="20577"/>
          <ac:spMkLst>
            <pc:docMk/>
            <pc:sldMk cId="1361405153" sldId="387"/>
            <ac:spMk id="2" creationId="{38585C20-0833-7188-8A25-48155D875109}"/>
          </ac:spMkLst>
        </pc:spChg>
      </pc:sldChg>
      <pc:sldMasterChg chg="delSldLayout">
        <pc:chgData name="Katie Owers Bonner" userId="031be739-2ca3-49bb-9134-32c5274b029d" providerId="ADAL" clId="{A2AFF3C0-B35D-4D35-896C-645D8DA4EEB0}" dt="2026-08-18T15:38:12.932" v="468" actId="47"/>
        <pc:sldMasterMkLst>
          <pc:docMk/>
          <pc:sldMasterMk cId="2621704862" sldId="2147483661"/>
        </pc:sldMasterMkLst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Sheet1!$G$2:$G$14</c:f>
              <c:numCache>
                <c:formatCode>General</c:formatCode>
                <c:ptCount val="1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>1</c:v>
                </c:pt>
                <c:pt idx="1">
                  <c:v>2</c:v>
                </c:pt>
                <c:pt idx="2">
                  <c:v>2.75</c:v>
                </c:pt>
                <c:pt idx="3">
                  <c:v>3.75</c:v>
                </c:pt>
                <c:pt idx="4">
                  <c:v>4.5</c:v>
                </c:pt>
                <c:pt idx="5">
                  <c:v>5.25</c:v>
                </c:pt>
                <c:pt idx="6">
                  <c:v>5.5</c:v>
                </c:pt>
                <c:pt idx="7">
                  <c:v>5.25</c:v>
                </c:pt>
                <c:pt idx="8">
                  <c:v>4.5</c:v>
                </c:pt>
                <c:pt idx="9">
                  <c:v>3.75</c:v>
                </c:pt>
                <c:pt idx="10">
                  <c:v>2.75</c:v>
                </c:pt>
                <c:pt idx="11">
                  <c:v>2</c:v>
                </c:pt>
                <c:pt idx="12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599-4DCB-8CDA-C1C7022665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27621184"/>
        <c:axId val="327617824"/>
      </c:scatterChart>
      <c:valAx>
        <c:axId val="327621184"/>
        <c:scaling>
          <c:orientation val="minMax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7617824"/>
        <c:crosses val="autoZero"/>
        <c:crossBetween val="midCat"/>
      </c:valAx>
      <c:valAx>
        <c:axId val="327617824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76211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61_DE98C23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1BBEDD4-5D8E-4A46-8478-85018348240D}" authorId="{45D1CE9B-DF25-4FEC-06DE-212637DD9CB8}" created="2025-12-09T14:57:34.5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34553144" sldId="353"/>
      <ac:spMk id="4" creationId="{29027F2C-64D6-B5C7-8D16-A7C8F92F4D5D}"/>
    </ac:deMkLst>
    <p188:txBody>
      <a:bodyPr/>
      <a:lstStyle/>
      <a:p>
        <a:r>
          <a:rPr lang="en-US"/>
          <a:t>There are white boxes over parts of the table that disappear with clicks (open the animation pane). I moved them to the back so PDFs of the slides would show the whole table, but to reveal correctly as a presentation, be sure to move them back to the front. </a:t>
        </a:r>
      </a:p>
    </p188:txBody>
  </p188:cm>
</p188:cmLst>
</file>

<file path=ppt/comments/modernComment_162_A6C644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4F68761-1BDB-47D5-A33E-3533AF63D37E}" authorId="{45D1CE9B-DF25-4FEC-06DE-212637DD9CB8}" created="2025-12-17T20:15:33.498">
    <pc:sldMkLst xmlns:pc="http://schemas.microsoft.com/office/powerpoint/2013/main/command">
      <pc:docMk/>
      <pc:sldMk cId="2798011412" sldId="354"/>
    </pc:sldMkLst>
    <p188:txBody>
      <a:bodyPr/>
      <a:lstStyle/>
      <a:p>
        <a:r>
          <a:rPr lang="en-US"/>
          <a:t>Is this something to get into in EDA? This is more involved than simple exploration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people are joining - put something you're looking forward to this month in the chat!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2BA011E6-134D-151C-AD28-4AA22971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4EFC36F4-02D7-B6FE-07B6-86360A788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r>
              <a:rPr lang="en-US" dirty="0"/>
              <a:t>What does exploratory data analysis mean to you?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2) You have just been given a dataset to analyze. How confident are you in your next steps?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1- Not at all confident - I don't really know where to start.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2 - A little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3 - Somewhat confident - I have some ideas and can start playing around with the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4 - Pretty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5 - Highly confident - I have a plan and know what my next steps are.</a:t>
            </a:r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236D2ACB-930C-5EAA-9C08-7FC1B2632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0453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9BC706B-0588-BCA5-7FA1-99C780C99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07E39956-98A3-7608-6816-7F2D3C8084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2D6B694C-2E47-EB98-08A7-8D2760A74A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0194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 this flow is specific to the data aspects of a project and does not include critical steps like literature review and hypothesis formulation.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F5C9CD10-B1D8-F984-603A-94E0DF04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342396D7-6680-CCFA-F959-A128CA0B82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584595CD-9CB7-C7DF-B951-B98CC236F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3017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0D9D44-15EA-9856-047B-24CF9CF1D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C89CF9-CD24-455E-0E29-C1311D8D1F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need to know several things before you start working with a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don’t know these things, you don’t know if or how to use the data to answer your question(s)</a:t>
            </a:r>
            <a:endParaRPr lang="en-US" sz="1200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3B6F075-54AC-59A4-DF80-1AF4AB81E1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21624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need to know several things before you start working with a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don’t know these things, you don’t know if or how to use the data to answer your question(s)</a:t>
            </a:r>
            <a:endParaRPr lang="en-US" sz="1200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536A4A2C-BCC0-31FF-FC65-AF3CE810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24366FAE-32CA-0B0E-824F-59DAE9A763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0714B48B-FFE7-1595-2492-5E440CE00A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75555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792C3CD-23F7-E86F-A38C-52BF35456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B53C361-DFF8-DAD2-DBCE-30BBEBE99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B1DAEEF-C962-0788-9775-E129E4E07F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69482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2AE78D1-FD3F-FEE6-C60F-9310746F2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513B877-D5C4-B7AD-D3EF-5D0861231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everything I talk about will apply to all datasets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A9611FB-285A-5441-6470-6CAEC6099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5113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A07E4E5-A08E-D0CA-EB3F-438BD16BE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889A41A-1A96-7F3B-B8BA-395A6960D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need to know several things before you start working with a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don’t know these things, you don’t know if or how to use the data to answer your question(s)</a:t>
            </a:r>
            <a:endParaRPr lang="en-US" sz="1200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D1256B95-374D-F439-E609-7426793BED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246434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66D1B45-C487-456F-3513-9E164811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C2ACC48-826E-E3C4-9783-BC75D7126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17B4F1-1254-F7A1-2203-C8154A6DBF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09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496111B2-86A8-BBA5-42BA-585ECCC6B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B24ADCD6-0EB4-322B-A391-7C9779FDA3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23C8E68D-3369-08A9-8DBB-DF09FC4AC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3984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03E8366-00AC-7283-F748-0CA8472F2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5723B5E-812A-3BB1-6060-0C5E1412F6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DC7295B-7554-42A3-0747-F06B4FEE4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42078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A3B20BA8-B11D-1276-EB62-7037F4448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C882E3-B62C-43BC-967B-D5C0D4F95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D282EA1-36B9-CB06-33E5-233CD9E8B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50459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43DA498-E015-8298-26C0-090001F25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CF8CCA7-7F9B-40B4-CE11-C745A6BEA1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C622CD28-19E9-BC7D-A0ED-4ACD54292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1184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CE8FB2-26C4-E546-C125-EA8479176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E3747A9-DABF-8EBD-798F-65E6D1BAF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3AD0362-6D3A-4A48-A103-874E0F2386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6970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1BCB57BC-E53C-76BA-154E-E5C4FF76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C9A30F1D-AE3C-7C94-5B10-0A76313518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D1A66CE5-61EF-0EE3-D4C9-46B57C3FE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81857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5E225E-1B92-CA9F-0560-28A822AD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A44A782-D005-4404-4F2B-8DB8F81071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1A84CFD-48CA-2EDA-83E8-4E69A14E52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519347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8ADACFF-6197-A4D4-D496-9CE7ACDE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2381B4BC-7E51-FFAA-B60E-2295CD383E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F1867B73-5EC5-2004-7830-B66C308934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0199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AE84D93-88D6-8752-A873-EBBD0332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15FAF84-0CCE-E1B4-D632-087B6E9A9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AA6277F-60BB-60E7-96D0-0D285E424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64300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9AB25BA-FE5D-93BA-05BF-0C96C60F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3CEACA2-960C-8D0D-F191-918590A42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1AA9574-2484-9656-219E-4A7BC989E6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6838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EB2650E-9DBD-1510-C178-C1EF20B36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DC0CB1C-8822-5BAE-7462-317AAD24B8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0385EBB-6432-FFBA-B747-83B45A6BB1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40451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any important variables missing entirely? Does the arrangement of the data work (i.e. do you have a timeseries kind of question and the data aren’t there?)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D22BE-BF9C-4E75-AC94-2D6751883E4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676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C78F6840-D7C8-6E75-F177-8B5B608E7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3C1159EE-E2E6-64C0-B986-4BAF830E05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E3532F2-A3A2-FAC9-B8FD-7F20A6DA3F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62603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DDDAE9B-7E0E-637E-B4DD-2EAA9EF68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11EB04C-929B-924C-5B65-CC20657905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3EC3703-FB28-31B6-C5DD-2408E6888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13813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FCB34A4-0A8C-FD8A-9B60-9AC591BBB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D7764BD-42CA-0958-0859-DD378392F4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7AE73BE-FD8E-98E8-9EE8-6C09C2B57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32776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A8E0682-8191-6716-261C-FB6E487E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5418641-2AA0-3FC7-B1F9-B713625A0E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AD0F02-9E31-2323-CB9E-B0836853BA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2867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AF52D90-8F08-BCCE-A101-1E02EDC50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0F324F8-D2AF-E770-82CE-B1F9FF905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0CB08AC2-0A8C-E8DA-98DE-8DCFFC5DF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50004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3B6C90A-11BC-B994-09CC-7F6CE89D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99500BF-FF6D-4ACD-6563-A5680F3B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D5000899-DFE6-2824-1705-496E94AA3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7095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637E4D6-A3C1-BB15-4525-8238759D8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A0C0FCB-CD8D-63B5-3C5D-FECBD3C945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2A0829F-FC28-7C81-FC78-78DB9CD771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01667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A013290-DEC4-CB39-E194-0A0588AA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D4F4A22-2C13-AA4D-7CE2-2F1794EED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3585CB5E-3B85-43A5-9243-2AF34FBDA3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44002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EB9DEA9-5DD2-E7D9-DA8F-5819B755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A5832FF-42B5-4AE8-C909-E012E3DE0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40A6A34-4C78-9FB9-FFC0-8FA9363D6D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73575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53F727B-2263-47A7-1751-E678E88FC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9671E74-BC35-BE3F-AFCC-89EEB06EC1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D33A354-AE22-B060-7A3E-D609DF5172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43845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43CCABD-CABF-6109-882C-3898DA22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5E2E9DA-BF1C-63DC-2D27-93AA3C1CA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A5B8DCD-85E5-ACD7-92EC-16DC0B0FB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0712341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AC131D21-1E15-CD83-2D0C-36670E338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7879460-97D0-C453-9F18-64343F3DEE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8E6C661-4816-74AF-8006-6E3AE8190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76011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8A2525B-1BAB-3826-B68C-C6ED4A8F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7DF99B15-5D0D-CF54-0BD2-78E47202E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0FD8E6BC-2BE2-B467-2F05-948E877B6C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28164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241AFAF-496E-C83D-3859-F7F3CD7FA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4905E198-4C62-014B-00E2-BC0E8FB55F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7856A07-18A6-5115-0890-4F5B5F5083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3092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369CCC3-D45F-389E-C8A1-9E3C27F62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183BCE34-670A-F60A-BA2C-48769BE7D3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C519662-B926-3A8E-3368-D9A79FC6D5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64292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687D66E-5789-F2E1-3CB0-6D2CC730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7AEE6399-EDAF-917F-9744-2901705CDE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3BFFBB14-277F-2AB5-F582-B109ADB81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726677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EEE7824-B9D7-BC2A-8B06-4D9AF5EDD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2EAB8E-196F-B1AC-0911-F9EC7193D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AF827D5-1B4F-20C0-B95E-E5DDE0B33B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37026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919B34A-0BD8-B658-D119-FFE4C2749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ECF25D9-BC37-8191-3DCD-CC42CACD9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0F3FBE1-69DE-2029-1246-5533CF38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06085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C97BD73-27AB-4AD2-BD03-D3DD272FE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5517D47-E44F-E38F-8749-7EFBE02FF7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30B72D2-8521-B232-8770-44DD33B9E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700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D31437C-7101-0781-BAB4-42724361A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8F61E7B0-8A65-A579-6D40-C37B80D8F9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r>
              <a:rPr lang="en-US" dirty="0"/>
              <a:t>What does exploratory data analysis mean to you?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2) You have just been given a dataset to analyze. How confident are you in your next steps?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1- Not at all confident - I don't really know where to start.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2 - A little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3 - Somewhat confident - I have some ideas and can start playing around with the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4 - Pretty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5 - Highly confident - I have a plan and know what my next steps are.</a:t>
            </a:r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BA137DB3-BF23-CF27-B7B6-3602573A93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273955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B7CDAF3-A3E1-F8DC-4BD2-B766AA7B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089E331-22DE-2D39-4EB7-E6081ADA5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F5F2583-1F65-964A-5065-FC32AED664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5502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0AC5-99DB-31B8-8BC3-993B07585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C36C6-9142-697C-CB39-B7057F858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EC6FB-A9F3-C0CF-5436-DBE814C4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48DB-6D25-224A-3048-8EFF22FA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3A5AB-B3E4-4293-CF8D-DA6DAF31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7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4272F-AC80-7861-E4DF-35A7FFB9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9AAE5-D53A-E3D2-65C9-9C0C3B328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DD51B-35A6-DC7B-8029-23DFAB4B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0D6C2-C857-75DD-7A94-F4AEA8DE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CD09E-8C9F-16EA-A186-423159F83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65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1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DEBA-9CBA-1A8D-7218-2CC5428B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DC86-762F-1618-8580-E38264F1BA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C499E-099B-76B9-58A1-21E8057D7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271BD-A5C3-F9D1-439B-471E90135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37A1A-D6F8-7923-BA15-4B4C7DC0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204BF-26B0-622E-E983-541582AD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097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38C0-C3D9-E655-0FBD-318426609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0BF89-1571-7020-A6B7-21E8CE1F3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BF357-38D9-E1D4-CDD8-C3E13C513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FBE2-CDF9-404B-C8AA-F8E6D5EC7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1F975-F813-FD9B-4DCF-4985E9B1A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DA69E-8482-F147-447D-55701C12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0D66-C562-5FF8-40F6-3207E876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67365-7E7F-ED25-9FB9-CA3AB7D7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70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F0CFD-8F45-23AE-7E1D-C7D98FB02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CF317-B113-E985-8559-AE845AD6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0A2F-3D43-75FD-4193-9949179E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B67CC-7DDA-2F49-1B45-9C095BB1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0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983077-85E3-6754-AF11-23526BB8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8293A-6D56-28CF-807D-DBE13492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63639-D2C6-7C4B-A77A-7C859637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9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3735-2859-676C-4862-A63CC7EBF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352B-1FD0-6DCC-75F6-9F5780E93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3A4ED-9907-9950-8091-88D63415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FAF96-7803-6E2F-7E4A-7F834201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D6E87-AB55-AD33-0F7E-4146276F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04ADE-B458-7490-9D34-8CFE721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6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664B7-CA35-F9AF-158E-D1E57FF85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06683-A988-3389-E854-3F3F60058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6D405-D1F2-3E1E-CAAC-E2AA72BE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5954B-74DE-2CF1-A7D2-EDAB657C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345768-A4D8-0448-B78F-C94FCBA76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6902CC-B769-60C6-4803-C97FF3B3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4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62B9-BF0F-FE3D-D867-72E39968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5E3DF-031A-4339-A54E-568BF11A1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91202-0928-6953-5452-B36AC91A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51A5-17B7-4943-5754-F9AA026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106A8-70E6-43DB-592F-C162AFC9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72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F6698-DA36-BB51-FBD4-1DA0D8F5F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A653-196E-0CD4-7770-A0BC483DC5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65D8E-35B6-D092-E04A-73028A3A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49CFB-ADBC-231E-E1B1-FE1924246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4C26-95D0-7609-1954-D93C3CE6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65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5231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3547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455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" type="obj">
  <p:cSld name="Agenda or Contents Pag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/>
          <p:nvPr/>
        </p:nvSpPr>
        <p:spPr>
          <a:xfrm>
            <a:off x="0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8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8"/>
          <p:cNvSpPr txBox="1"/>
          <p:nvPr/>
        </p:nvSpPr>
        <p:spPr>
          <a:xfrm>
            <a:off x="1095083" y="1830633"/>
            <a:ext cx="4825600" cy="6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1534250" y="18306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09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 2">
  <p:cSld name="Text Only No Grid or Swoosh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-4" y="-3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53833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-White">
  <p:cSld name="Section Header-White">
    <p:bg>
      <p:bgPr>
        <a:solidFill>
          <a:schemeClr val="l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93E"/>
              </a:buClr>
              <a:buSzPts val="6000"/>
              <a:buFont typeface="Arial"/>
              <a:buNone/>
              <a:defRPr sz="6000">
                <a:solidFill>
                  <a:srgbClr val="00693E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2329800" y="4562450"/>
            <a:ext cx="9017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10855712" y="6424596"/>
            <a:ext cx="498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182562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365125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547687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99700" y="5639340"/>
            <a:ext cx="1993825" cy="95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550" y="2805988"/>
            <a:ext cx="1828249" cy="16905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6818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8B098-1FDB-85A1-A229-1509E5A5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2BFF5-A90E-828B-F083-5B73160F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AFF2E-3469-82AC-BD65-432D2A47F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598F-E36D-2AFA-F7B0-EFCB4A88D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A7395-CD56-00F2-67A4-06A38865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096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3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Relationship Id="rId4" Type="http://schemas.openxmlformats.org/officeDocument/2006/relationships/hyperlink" Target="https://towardsdatascience.com/demystifying-the-correlation-matrix-in-data-science-6b8a4482b6e2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62_A6C64414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61_DE98C238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257100" y="2303138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Session 2a:</a:t>
            </a:r>
          </a:p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INTRODUCTION TO EXPLORING YOUR DATA</a:t>
            </a:r>
          </a:p>
        </p:txBody>
      </p:sp>
      <p:sp>
        <p:nvSpPr>
          <p:cNvPr id="112" name="Google Shape;112;p22"/>
          <p:cNvSpPr/>
          <p:nvPr/>
        </p:nvSpPr>
        <p:spPr>
          <a:xfrm>
            <a:off x="625722" y="4158302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Exploratory Data Analysis aka EDA</a:t>
            </a: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67673" y="1900078"/>
            <a:ext cx="9776400" cy="3793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By the end of this session, you will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Understand why it is important to explore a dataset before analyzing it. 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Learn high-level dataset features to consider for suitability to the research question.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Be able to effectively explore a dataset’s contents and identify issues</a:t>
            </a:r>
          </a:p>
          <a:p>
            <a:pPr marL="673830" lvl="2" defTabSz="609630">
              <a:lnSpc>
                <a:spcPct val="140013"/>
              </a:lnSpc>
              <a:buClr>
                <a:srgbClr val="12312B"/>
              </a:buClr>
              <a:buSzPct val="115000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After the break, we’ll apply this learning to our train data.</a:t>
            </a:r>
            <a:endParaRPr sz="1000" kern="0" dirty="0">
              <a:solidFill>
                <a:srgbClr val="00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085F6405-7F4A-13C9-ADC6-785C80561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F0B4E771-CF6F-C6B2-8CF5-60A162B7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38970" y="861451"/>
            <a:ext cx="9017400" cy="1286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dirty="0"/>
              <a:t>Discussion Questions</a:t>
            </a:r>
            <a:endParaRPr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C72DAA-917E-D646-280E-7B21E371B887}"/>
              </a:ext>
            </a:extLst>
          </p:cNvPr>
          <p:cNvSpPr txBox="1"/>
          <p:nvPr/>
        </p:nvSpPr>
        <p:spPr>
          <a:xfrm>
            <a:off x="1938970" y="2294156"/>
            <a:ext cx="9411112" cy="4376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What does exploratory data analysis mean to you?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You have just been given a dataset to analyze. How confident are you in your next steps?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Not at all confident - I don't really know where to start.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A little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Somewhat confident - I have some ideas and can start playing around with the data.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Pretty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Highly confident - I have a plan and know what my next steps are.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19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3E414038-5369-B37B-4312-59566BAC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AEFC1B03-EB6E-7013-558E-E1A5E260A541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The research process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27C37B2B-A165-ED87-47C5-9789B934C931}"/>
              </a:ext>
            </a:extLst>
          </p:cNvPr>
          <p:cNvSpPr/>
          <p:nvPr/>
        </p:nvSpPr>
        <p:spPr>
          <a:xfrm>
            <a:off x="836403" y="3038803"/>
            <a:ext cx="799009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2185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perspective*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A2FEDCC-7067-8878-945A-FED8612480E9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433F1A3-1B0F-EC1F-D46F-680664600BA4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475C74A-3A6C-173F-F399-71D3F4CC8B5C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26DB96-4D79-0DDA-DEBC-DD9E1F3F728F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9F56EA-3622-960C-9BAD-22FD906BBC7A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0A1AB-7B55-28F6-C95E-2C84F4F6C051}"/>
              </a:ext>
            </a:extLst>
          </p:cNvPr>
          <p:cNvSpPr txBox="1"/>
          <p:nvPr/>
        </p:nvSpPr>
        <p:spPr>
          <a:xfrm>
            <a:off x="1308577" y="1791114"/>
            <a:ext cx="7384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*Note this flow is specific to the data aspects of a research project and does not include critical steps like literature review and sharing your findings.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D022D9-46DA-465D-25F1-1951AE9AFFA4}"/>
              </a:ext>
            </a:extLst>
          </p:cNvPr>
          <p:cNvSpPr txBox="1"/>
          <p:nvPr/>
        </p:nvSpPr>
        <p:spPr>
          <a:xfrm>
            <a:off x="3040840" y="4623179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Learn what your data contains and how it is formatted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371DE-3019-08FD-EC87-BC90DF38505E}"/>
              </a:ext>
            </a:extLst>
          </p:cNvPr>
          <p:cNvCxnSpPr>
            <a:cxnSpLocks/>
          </p:cNvCxnSpPr>
          <p:nvPr/>
        </p:nvCxnSpPr>
        <p:spPr>
          <a:xfrm>
            <a:off x="3971722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0E60B8-14AA-275F-4F41-798ECD89F97A}"/>
              </a:ext>
            </a:extLst>
          </p:cNvPr>
          <p:cNvCxnSpPr>
            <a:cxnSpLocks/>
          </p:cNvCxnSpPr>
          <p:nvPr/>
        </p:nvCxnSpPr>
        <p:spPr>
          <a:xfrm flipV="1">
            <a:off x="4626064" y="4104682"/>
            <a:ext cx="708557" cy="614125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02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B1F212BE-D56F-A8CF-808B-08CB869D9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E5081CA-880C-3DEA-FB7C-E5D132381299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Why do we explore our data?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893EBE21-86A7-3B8F-79D9-C4B20E1B96ED}"/>
              </a:ext>
            </a:extLst>
          </p:cNvPr>
          <p:cNvSpPr/>
          <p:nvPr/>
        </p:nvSpPr>
        <p:spPr>
          <a:xfrm>
            <a:off x="836403" y="3038803"/>
            <a:ext cx="799009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256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6A3A810-BE3F-FF9F-7C09-CC7A3E413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FB73FC9-1CA6-89B0-A47E-4CD56BECF79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Why explore the data?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79C2E83-708D-E6AD-5F5E-877A1779EB5E}"/>
              </a:ext>
            </a:extLst>
          </p:cNvPr>
          <p:cNvSpPr txBox="1"/>
          <p:nvPr/>
        </p:nvSpPr>
        <p:spPr>
          <a:xfrm>
            <a:off x="922202" y="1736904"/>
            <a:ext cx="9776400" cy="4833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Determine whether it is suitable for your analysis.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Identify features to keep in mind as you conduct the rest of your project.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Analysis planning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Data cleaning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Data analysis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216630" lvl="1" algn="ctr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ial"/>
              </a:rPr>
              <a:t>It’s important to </a:t>
            </a: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think critically about the dataset </a:t>
            </a:r>
            <a:r>
              <a:rPr lang="en-US" sz="2800" b="1" u="sng" kern="0" dirty="0">
                <a:solidFill>
                  <a:schemeClr val="bg2"/>
                </a:solidFill>
                <a:latin typeface="Archivo Medium"/>
                <a:sym typeface="Archivo Medium"/>
              </a:rPr>
              <a:t>before</a:t>
            </a: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 </a:t>
            </a:r>
          </a:p>
          <a:p>
            <a:pPr marL="216630" lvl="1" algn="ctr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you start analyzing it.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9454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uiExpand="1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Do I have to do this step?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59B1BEC4-71C1-CA7C-DD91-BB35DB4643B1}"/>
              </a:ext>
            </a:extLst>
          </p:cNvPr>
          <p:cNvSpPr txBox="1"/>
          <p:nvPr/>
        </p:nvSpPr>
        <p:spPr>
          <a:xfrm>
            <a:off x="922202" y="1736904"/>
            <a:ext cx="9776400" cy="4492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if I’ve been given a dataset and told exactly how to analyze it?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if I have been told this is the dataset we’re analyzing, and I just need to pick a question?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if I generated the dataset?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216630" lvl="1" algn="ctr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Yes! You should do EDA for every research project.</a:t>
            </a:r>
            <a:endParaRPr lang="en-US" sz="1600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3391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920E76E0-41B4-FAB6-4736-B711B266D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45AF3CA8-5B3F-3CBB-B572-6FE3B8286F77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exactly is EDA?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0C747145-B25A-0416-32BE-A90F55D295E0}"/>
              </a:ext>
            </a:extLst>
          </p:cNvPr>
          <p:cNvSpPr/>
          <p:nvPr/>
        </p:nvSpPr>
        <p:spPr>
          <a:xfrm>
            <a:off x="1202207" y="3147675"/>
            <a:ext cx="5927179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46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F599D11-CA10-6606-C964-7F127EB1D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53AA25D-2E42-8339-6A8B-6C926038F402}"/>
              </a:ext>
            </a:extLst>
          </p:cNvPr>
          <p:cNvSpPr txBox="1"/>
          <p:nvPr/>
        </p:nvSpPr>
        <p:spPr>
          <a:xfrm>
            <a:off x="922202" y="1157695"/>
            <a:ext cx="734308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does it mean to explore our data?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5853FA-6364-3501-C754-49BB9B5E3BB1}"/>
              </a:ext>
            </a:extLst>
          </p:cNvPr>
          <p:cNvSpPr txBox="1"/>
          <p:nvPr/>
        </p:nvSpPr>
        <p:spPr>
          <a:xfrm>
            <a:off x="922202" y="1948685"/>
            <a:ext cx="9776400" cy="3490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  <a:sym typeface="Arial"/>
              </a:rPr>
              <a:t>Investigating the dataset’s contents and format via summaries, figures, tables, and other methods.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  <a:sym typeface="Arial"/>
              </a:rPr>
              <a:t>Note that EDA shares some tools with data analysis.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  <a:sym typeface="Arial"/>
              </a:rPr>
              <a:t>However, the goal of the EDA phase is to become familiar with the data, not generate results.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dirty="0"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1929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69E5A18-7A19-FC42-CD75-07CFE61C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3374862-220A-7E8E-59BC-F4374658E12A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EDA: Art and science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CB52A31-2D2E-2619-49D4-9C15DDD7006D}"/>
              </a:ext>
            </a:extLst>
          </p:cNvPr>
          <p:cNvSpPr txBox="1"/>
          <p:nvPr/>
        </p:nvSpPr>
        <p:spPr>
          <a:xfrm>
            <a:off x="922202" y="1736904"/>
            <a:ext cx="9776400" cy="4090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It is good to have a plan to structure EDA, and this session will give you that framework.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However, there is no complete checklist for EDA, because each dataset is unique.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EDA usually leads to discoveries about your dataset that require further exploration.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Think of it as a plan that you can expect to deviate from.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933" kern="0" dirty="0">
              <a:solidFill>
                <a:srgbClr val="000000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57073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BAE091B-ACDE-0A14-B0CF-D26022FAF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6CA87678-9B20-B8AB-F694-F82D0D43868B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Main EDA phases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5511C48C-70EA-4D28-14E3-58B75BC0AC6B}"/>
              </a:ext>
            </a:extLst>
          </p:cNvPr>
          <p:cNvSpPr txBox="1"/>
          <p:nvPr/>
        </p:nvSpPr>
        <p:spPr>
          <a:xfrm>
            <a:off x="922202" y="1736904"/>
            <a:ext cx="9776400" cy="408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8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Read about the dataset</a:t>
            </a: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8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8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Examine its structure and contents (high level)</a:t>
            </a: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8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8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Dive into the data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933" kern="0" dirty="0">
              <a:solidFill>
                <a:srgbClr val="000000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41636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5879BB2-F066-F75E-A8DB-0F7CD248D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C5E1074-6BF4-21EF-64AF-3358BF019D54}"/>
              </a:ext>
            </a:extLst>
          </p:cNvPr>
          <p:cNvSpPr txBox="1"/>
          <p:nvPr/>
        </p:nvSpPr>
        <p:spPr>
          <a:xfrm>
            <a:off x="922202" y="1157695"/>
            <a:ext cx="851121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Best practices for working with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F69E860-2826-C663-75C7-D65490E0A9CA}"/>
              </a:ext>
            </a:extLst>
          </p:cNvPr>
          <p:cNvSpPr txBox="1"/>
          <p:nvPr/>
        </p:nvSpPr>
        <p:spPr>
          <a:xfrm>
            <a:off x="922202" y="2187594"/>
            <a:ext cx="10059742" cy="491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b="1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Document your findings.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you find as you explore your data will inform your next steps.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this as you go – don’t leave it until the end.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b="1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not explore in your original (“raw”) data files!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Yes, even if you’re just sorting and filtering it in Excel.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Save a “working” copy and leave the original file untouched in case anything goes wrong.</a:t>
            </a:r>
          </a:p>
          <a:p>
            <a:pPr marL="1323721" lvl="3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is good for this because it only reads files, not modifies them, unless you tell it to save a new version.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127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D452EFA7-99F5-AC17-FD94-47424FD19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7A93097-A548-77F9-CE56-144378A0207C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How do we explore our data?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331D6F09-9458-526A-FF20-F267795F2555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FD177E63-CF02-BE48-4279-6F903A246918}"/>
              </a:ext>
            </a:extLst>
          </p:cNvPr>
          <p:cNvSpPr txBox="1"/>
          <p:nvPr/>
        </p:nvSpPr>
        <p:spPr>
          <a:xfrm>
            <a:off x="1853585" y="4633937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1: Read</a:t>
            </a:r>
          </a:p>
        </p:txBody>
      </p:sp>
    </p:spTree>
    <p:extLst>
      <p:ext uri="{BB962C8B-B14F-4D97-AF65-F5344CB8AC3E}">
        <p14:creationId xmlns:p14="http://schemas.microsoft.com/office/powerpoint/2010/main" val="277361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212C5AB-72A5-7067-85C0-793CD6971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151B51-9165-1444-F82A-39A9A44A883A}"/>
              </a:ext>
            </a:extLst>
          </p:cNvPr>
          <p:cNvSpPr/>
          <p:nvPr/>
        </p:nvSpPr>
        <p:spPr>
          <a:xfrm>
            <a:off x="7768167" y="2446867"/>
            <a:ext cx="3162300" cy="242993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62D0598-D9FD-0315-EF98-9E344171A6E6}"/>
              </a:ext>
            </a:extLst>
          </p:cNvPr>
          <p:cNvSpPr txBox="1"/>
          <p:nvPr/>
        </p:nvSpPr>
        <p:spPr>
          <a:xfrm>
            <a:off x="922202" y="1157695"/>
            <a:ext cx="993315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is the source of the data?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4C89B1C-E59E-28E2-5E84-56547F63EFBE}"/>
              </a:ext>
            </a:extLst>
          </p:cNvPr>
          <p:cNvSpPr txBox="1"/>
          <p:nvPr/>
        </p:nvSpPr>
        <p:spPr>
          <a:xfrm>
            <a:off x="989304" y="1880976"/>
            <a:ext cx="5173798" cy="302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Who generated this data?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you trust it to be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Accurate?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Free of bias?</a:t>
            </a:r>
            <a:endParaRPr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165E05FD-8B04-535A-604B-352D120CE37D}"/>
              </a:ext>
            </a:extLst>
          </p:cNvPr>
          <p:cNvSpPr txBox="1"/>
          <p:nvPr/>
        </p:nvSpPr>
        <p:spPr>
          <a:xfrm>
            <a:off x="7958085" y="2745316"/>
            <a:ext cx="2758812" cy="1728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09630">
              <a:lnSpc>
                <a:spcPct val="140013"/>
              </a:lnSpc>
              <a:buClr>
                <a:srgbClr val="000000"/>
              </a:buClr>
            </a:pPr>
            <a:r>
              <a:rPr lang="en-US" sz="2006" kern="0" dirty="0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rPr>
              <a:t>These questions are best evaluated by someone with domain expertise</a:t>
            </a:r>
            <a:endParaRPr sz="2006" kern="0" dirty="0">
              <a:solidFill>
                <a:schemeClr val="bg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34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304541E-3253-3878-573B-BC7D6B2C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E812F44-0532-90C3-5A37-820AB453B619}"/>
              </a:ext>
            </a:extLst>
          </p:cNvPr>
          <p:cNvSpPr/>
          <p:nvPr/>
        </p:nvSpPr>
        <p:spPr>
          <a:xfrm>
            <a:off x="7768167" y="2446867"/>
            <a:ext cx="3162300" cy="242993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DB2788F-BE5C-713B-B0F3-B1F77F9A0C0C}"/>
              </a:ext>
            </a:extLst>
          </p:cNvPr>
          <p:cNvSpPr txBox="1"/>
          <p:nvPr/>
        </p:nvSpPr>
        <p:spPr>
          <a:xfrm>
            <a:off x="922202" y="1157695"/>
            <a:ext cx="993315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methods were used to generate it?</a:t>
            </a: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BBA33E59-BA1E-451F-D158-75A32CB56A94}"/>
              </a:ext>
            </a:extLst>
          </p:cNvPr>
          <p:cNvSpPr txBox="1"/>
          <p:nvPr/>
        </p:nvSpPr>
        <p:spPr>
          <a:xfrm>
            <a:off x="989304" y="1880976"/>
            <a:ext cx="5679944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Are they appropriate?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Technically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Ethically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Culturally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are the caveats of these methods?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Are those acceptable?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If so, how do they impact your analysis?</a:t>
            </a:r>
            <a:endParaRPr sz="2006"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5167C188-A44C-0184-16C9-BEAB343065BD}"/>
              </a:ext>
            </a:extLst>
          </p:cNvPr>
          <p:cNvSpPr txBox="1"/>
          <p:nvPr/>
        </p:nvSpPr>
        <p:spPr>
          <a:xfrm>
            <a:off x="7958085" y="2745316"/>
            <a:ext cx="2758812" cy="1728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09630">
              <a:lnSpc>
                <a:spcPct val="140013"/>
              </a:lnSpc>
              <a:buClr>
                <a:srgbClr val="000000"/>
              </a:buClr>
            </a:pPr>
            <a:r>
              <a:rPr lang="en-US" sz="2006" kern="0" dirty="0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rPr>
              <a:t>These questions are best evaluated by someone with domain expertise</a:t>
            </a:r>
            <a:endParaRPr sz="2006" kern="0" dirty="0">
              <a:solidFill>
                <a:schemeClr val="bg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4162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2D23E55-2C24-3C5C-7AB6-90584ECE4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985990F-9416-2FA5-FD5A-67E11CC8F3AC}"/>
              </a:ext>
            </a:extLst>
          </p:cNvPr>
          <p:cNvSpPr txBox="1"/>
          <p:nvPr/>
        </p:nvSpPr>
        <p:spPr>
          <a:xfrm>
            <a:off x="922202" y="1157695"/>
            <a:ext cx="115732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Is there enough documentation to understand the data? 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5A22C9-AEEA-3000-46C6-37DE519C6F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491057"/>
              </p:ext>
            </p:extLst>
          </p:nvPr>
        </p:nvGraphicFramePr>
        <p:xfrm>
          <a:off x="7376740" y="2591095"/>
          <a:ext cx="3829180" cy="1523570"/>
        </p:xfrm>
        <a:graphic>
          <a:graphicData uri="http://schemas.openxmlformats.org/drawingml/2006/table">
            <a:tbl>
              <a:tblPr/>
              <a:tblGrid>
                <a:gridCol w="65423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077558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107755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19832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</a:tblGrid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Var1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Var2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Var3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</a:tbl>
          </a:graphicData>
        </a:graphic>
      </p:graphicFrame>
      <p:sp>
        <p:nvSpPr>
          <p:cNvPr id="5" name="Google Shape;142;p26">
            <a:extLst>
              <a:ext uri="{FF2B5EF4-FFF2-40B4-BE49-F238E27FC236}">
                <a16:creationId xmlns:a16="http://schemas.microsoft.com/office/drawing/2014/main" id="{29459929-6606-0BF7-61BA-39EA9862B939}"/>
              </a:ext>
            </a:extLst>
          </p:cNvPr>
          <p:cNvSpPr txBox="1"/>
          <p:nvPr/>
        </p:nvSpPr>
        <p:spPr>
          <a:xfrm>
            <a:off x="922202" y="1528886"/>
            <a:ext cx="5364867" cy="5307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“Documentation”: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 description of the dataset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Also known as metadata, codebook,…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Range of format and formality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Key information about the variables, such as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Name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Units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Coding, e.g.</a:t>
            </a:r>
          </a:p>
          <a:p>
            <a:pPr marL="1323721" lvl="3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1 = Yes</a:t>
            </a:r>
          </a:p>
          <a:p>
            <a:pPr marL="1323721" lvl="3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2 = No</a:t>
            </a:r>
            <a:endParaRPr lang="en-US" kern="0" dirty="0">
              <a:solidFill>
                <a:srgbClr val="12312B"/>
              </a:solidFill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Notes on other dataset features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A84982C-C747-B67F-A61F-78630BD0E8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332869"/>
              </p:ext>
            </p:extLst>
          </p:nvPr>
        </p:nvGraphicFramePr>
        <p:xfrm>
          <a:off x="6829161" y="4805682"/>
          <a:ext cx="4924339" cy="1523570"/>
        </p:xfrm>
        <a:graphic>
          <a:graphicData uri="http://schemas.openxmlformats.org/drawingml/2006/table">
            <a:tbl>
              <a:tblPr/>
              <a:tblGrid>
                <a:gridCol w="57749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93252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1564547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489048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</a:tblGrid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1434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F7C48C-9086-22C6-0289-A0B8F81A5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632AB34-8DAF-2013-CF37-3C891336E16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is the dataset’s format?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EB762E8-5734-55C9-255A-396077CEBB04}"/>
              </a:ext>
            </a:extLst>
          </p:cNvPr>
          <p:cNvSpPr txBox="1"/>
          <p:nvPr/>
        </p:nvSpPr>
        <p:spPr>
          <a:xfrm>
            <a:off x="922202" y="1736904"/>
            <a:ext cx="5538034" cy="4144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 single file of data? Multiple files?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 database? Something else?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What is the file format?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Something common, like a CSV file?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Something specific to a software?</a:t>
            </a:r>
          </a:p>
          <a:p>
            <a:pPr marL="1473930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Free, e.g. </a:t>
            </a:r>
            <a:r>
              <a:rPr lang="en-US" kern="0" dirty="0" err="1">
                <a:solidFill>
                  <a:srgbClr val="12312B"/>
                </a:solidFill>
                <a:latin typeface="Archivo Medium"/>
                <a:sym typeface="Archivo Medium"/>
              </a:rPr>
              <a:t>Rdata</a:t>
            </a: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 files</a:t>
            </a:r>
          </a:p>
          <a:p>
            <a:pPr marL="1473930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Paid, e.g. SAS files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8495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BC54D8-F12F-CF9E-B7B1-82CFA6E4C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4250" y="1830632"/>
            <a:ext cx="7425600" cy="45166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Suitability checkpoint: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>
                    <a:lumMod val="75000"/>
                  </a:schemeClr>
                </a:solidFill>
              </a:rPr>
              <a:t>Now that you’ve read about the dataset’s source, methods, and documentation, is it suitable for your analysis? </a:t>
            </a: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US" sz="3200" dirty="0">
                <a:solidFill>
                  <a:schemeClr val="bg2"/>
                </a:solidFill>
              </a:rPr>
              <a:t>If so, let’s start looking at the data!</a:t>
            </a:r>
          </a:p>
        </p:txBody>
      </p:sp>
    </p:spTree>
    <p:extLst>
      <p:ext uri="{BB962C8B-B14F-4D97-AF65-F5344CB8AC3E}">
        <p14:creationId xmlns:p14="http://schemas.microsoft.com/office/powerpoint/2010/main" val="858423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721334A6-4294-CA8F-3302-267F8611B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19236664-3761-1B69-A84E-E69F2146FE1A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How do we explore our data?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77BA2C9C-76A5-4387-5425-D9520B1DE529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BD94BFD0-E619-3B0C-D018-0A5FA5458004}"/>
              </a:ext>
            </a:extLst>
          </p:cNvPr>
          <p:cNvSpPr txBox="1"/>
          <p:nvPr/>
        </p:nvSpPr>
        <p:spPr>
          <a:xfrm>
            <a:off x="1853585" y="4633937"/>
            <a:ext cx="7305000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2: Examine structure and contents</a:t>
            </a:r>
          </a:p>
        </p:txBody>
      </p:sp>
    </p:spTree>
    <p:extLst>
      <p:ext uri="{BB962C8B-B14F-4D97-AF65-F5344CB8AC3E}">
        <p14:creationId xmlns:p14="http://schemas.microsoft.com/office/powerpoint/2010/main" val="3148960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5C8F9A5-3381-5DD1-4CD0-B4BD94EC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E69AA15-72D4-5DA0-7DF1-435C50D7C869}"/>
              </a:ext>
            </a:extLst>
          </p:cNvPr>
          <p:cNvSpPr txBox="1"/>
          <p:nvPr/>
        </p:nvSpPr>
        <p:spPr>
          <a:xfrm>
            <a:off x="3802562" y="627343"/>
            <a:ext cx="60978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4000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Our dataset</a:t>
            </a:r>
            <a:endParaRPr sz="1050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EEC0FD-D4D8-7BB3-7338-1B5F31017D80}"/>
              </a:ext>
            </a:extLst>
          </p:cNvPr>
          <p:cNvSpPr txBox="1"/>
          <p:nvPr/>
        </p:nvSpPr>
        <p:spPr>
          <a:xfrm>
            <a:off x="7021810" y="6102519"/>
            <a:ext cx="499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*From the documentation: The number of servings of vegetables consumed, on average, each day.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D07D49-7910-C5DA-89D1-433D68B0F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11288"/>
              </p:ext>
            </p:extLst>
          </p:nvPr>
        </p:nvGraphicFramePr>
        <p:xfrm>
          <a:off x="1277143" y="1667479"/>
          <a:ext cx="8890798" cy="4256677"/>
        </p:xfrm>
        <a:graphic>
          <a:graphicData uri="http://schemas.openxmlformats.org/drawingml/2006/table">
            <a:tbl>
              <a:tblPr/>
              <a:tblGrid>
                <a:gridCol w="533687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10921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8797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734302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320446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679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7BCCA0D-15A4-2EF4-395B-6C225E38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7DC48D6-3AFD-FBBF-5F22-B5AF890B2B14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Dataset size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AD66EC61-C80E-8612-9DEE-BCDBC62ED003}"/>
              </a:ext>
            </a:extLst>
          </p:cNvPr>
          <p:cNvSpPr txBox="1"/>
          <p:nvPr/>
        </p:nvSpPr>
        <p:spPr>
          <a:xfrm>
            <a:off x="922202" y="1736904"/>
            <a:ext cx="4404807" cy="3452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Number of r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</a:rPr>
              <a:t>ows – data points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Number of columns 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</a:rPr>
              <a:t>– variables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6BA11-0FBF-4B1D-E4C9-3CA495743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201959"/>
              </p:ext>
            </p:extLst>
          </p:nvPr>
        </p:nvGraphicFramePr>
        <p:xfrm>
          <a:off x="4838937" y="1528886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98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61EA4FA-A854-04B8-E4B0-C662C9B39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E22B854-8819-9A0B-D8F5-333C41E801F6}"/>
              </a:ext>
            </a:extLst>
          </p:cNvPr>
          <p:cNvSpPr txBox="1"/>
          <p:nvPr/>
        </p:nvSpPr>
        <p:spPr>
          <a:xfrm>
            <a:off x="922202" y="87126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 arrangement: long or wide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AC5577A7-13D2-7656-EB98-2CF364F4D8A2}"/>
              </a:ext>
            </a:extLst>
          </p:cNvPr>
          <p:cNvSpPr txBox="1"/>
          <p:nvPr/>
        </p:nvSpPr>
        <p:spPr>
          <a:xfrm>
            <a:off x="922202" y="1736904"/>
            <a:ext cx="4274778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Wide: Default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One row per subject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Data in columns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Long: Often used for time series.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Multiple rows per subject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Data spread across columns and rows</a:t>
            </a:r>
            <a:endParaRPr sz="2006"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8B03144-3C3A-680A-DEC1-8D5C1B999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416481"/>
              </p:ext>
            </p:extLst>
          </p:nvPr>
        </p:nvGraphicFramePr>
        <p:xfrm>
          <a:off x="5735782" y="1613648"/>
          <a:ext cx="6263885" cy="2243605"/>
        </p:xfrm>
        <a:graphic>
          <a:graphicData uri="http://schemas.openxmlformats.org/drawingml/2006/table">
            <a:tbl>
              <a:tblPr/>
              <a:tblGrid>
                <a:gridCol w="386298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102724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2327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4001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126999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324403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</a:tblGrid>
              <a:tr h="47475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8608F7D-80E5-3D1B-D89E-49C9CB33D1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60036"/>
              </p:ext>
            </p:extLst>
          </p:nvPr>
        </p:nvGraphicFramePr>
        <p:xfrm>
          <a:off x="7522634" y="4265878"/>
          <a:ext cx="2662766" cy="1501140"/>
        </p:xfrm>
        <a:graphic>
          <a:graphicData uri="http://schemas.openxmlformats.org/drawingml/2006/table">
            <a:tbl>
              <a:tblPr/>
              <a:tblGrid>
                <a:gridCol w="486833">
                  <a:extLst>
                    <a:ext uri="{9D8B030D-6E8A-4147-A177-3AD203B41FA5}">
                      <a16:colId xmlns:a16="http://schemas.microsoft.com/office/drawing/2014/main" val="2756001728"/>
                    </a:ext>
                  </a:extLst>
                </a:gridCol>
                <a:gridCol w="1133593">
                  <a:extLst>
                    <a:ext uri="{9D8B030D-6E8A-4147-A177-3AD203B41FA5}">
                      <a16:colId xmlns:a16="http://schemas.microsoft.com/office/drawing/2014/main" val="1553241688"/>
                    </a:ext>
                  </a:extLst>
                </a:gridCol>
                <a:gridCol w="1042340">
                  <a:extLst>
                    <a:ext uri="{9D8B030D-6E8A-4147-A177-3AD203B41FA5}">
                      <a16:colId xmlns:a16="http://schemas.microsoft.com/office/drawing/2014/main" val="3390095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Time Point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Height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8011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997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19202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5204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61323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239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66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1546A99-1A48-9C86-51E7-B78B2ADD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D694E76-7A4C-C1BB-6BB1-0548C067B5D9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D3CD520D-C4DD-F6CF-0D24-F1697DCDCCDF}"/>
              </a:ext>
            </a:extLst>
          </p:cNvPr>
          <p:cNvSpPr txBox="1"/>
          <p:nvPr/>
        </p:nvSpPr>
        <p:spPr>
          <a:xfrm>
            <a:off x="922202" y="1736904"/>
            <a:ext cx="4274778" cy="4483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Name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What it measures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Units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Type of variable</a:t>
            </a: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D25A98-2A75-B5A9-E933-44F4907A09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728814"/>
              </p:ext>
            </p:extLst>
          </p:nvPr>
        </p:nvGraphicFramePr>
        <p:xfrm>
          <a:off x="4838937" y="1528886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982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8C9A47A-5262-792E-1937-28F92167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9005B33-3096-F1E7-EACC-A18D5F1EA88A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 types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63536B4-221A-3886-4ED5-56320C971C03}"/>
              </a:ext>
            </a:extLst>
          </p:cNvPr>
          <p:cNvSpPr txBox="1"/>
          <p:nvPr/>
        </p:nvSpPr>
        <p:spPr>
          <a:xfrm>
            <a:off x="922202" y="1736904"/>
            <a:ext cx="4274778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Numeric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Date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Categorical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Text</a:t>
            </a: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F6A5266-D893-CA36-B0C8-6FF66C9C0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728814"/>
              </p:ext>
            </p:extLst>
          </p:nvPr>
        </p:nvGraphicFramePr>
        <p:xfrm>
          <a:off x="4838937" y="1528886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644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EDB5-98DE-C9F7-F7B7-1494D0131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201E01-B9D8-2C01-FAAD-7BD4DA12B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4250" y="1830632"/>
            <a:ext cx="7743974" cy="45166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Suitability checkpoint 2: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>
                    <a:lumMod val="75000"/>
                  </a:schemeClr>
                </a:solidFill>
              </a:rPr>
              <a:t>Given the dataset’s structure and contents, is it still suitable for your analysis? </a:t>
            </a: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US" sz="3200" dirty="0">
                <a:solidFill>
                  <a:schemeClr val="bg2"/>
                </a:solidFill>
              </a:rPr>
              <a:t>If so, let’s dig into the data!</a:t>
            </a:r>
          </a:p>
        </p:txBody>
      </p:sp>
    </p:spTree>
    <p:extLst>
      <p:ext uri="{BB962C8B-B14F-4D97-AF65-F5344CB8AC3E}">
        <p14:creationId xmlns:p14="http://schemas.microsoft.com/office/powerpoint/2010/main" val="134613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BBEB2524-77D7-762E-B813-EE67AC77C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D19B2A1C-C0D1-4BCC-71F0-E965F255F4CF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How do we explore our data?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E5EA3EB3-1719-4902-A0DB-6E8AB9919C44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6D07809E-8282-60CB-ACB6-D25A13780961}"/>
              </a:ext>
            </a:extLst>
          </p:cNvPr>
          <p:cNvSpPr txBox="1"/>
          <p:nvPr/>
        </p:nvSpPr>
        <p:spPr>
          <a:xfrm>
            <a:off x="1853585" y="4633937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3: Dive into the data</a:t>
            </a:r>
          </a:p>
        </p:txBody>
      </p:sp>
    </p:spTree>
    <p:extLst>
      <p:ext uri="{BB962C8B-B14F-4D97-AF65-F5344CB8AC3E}">
        <p14:creationId xmlns:p14="http://schemas.microsoft.com/office/powerpoint/2010/main" val="4108676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28087F3-D850-B6B0-07B0-27A31B515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C5C9185-C926-935D-3BC1-37A8AFF19C02}"/>
              </a:ext>
            </a:extLst>
          </p:cNvPr>
          <p:cNvSpPr txBox="1"/>
          <p:nvPr/>
        </p:nvSpPr>
        <p:spPr>
          <a:xfrm>
            <a:off x="922201" y="1157695"/>
            <a:ext cx="704314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Summarize numeric &amp; date variables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58A20BC-3369-F826-7624-1C86D43952E2}"/>
              </a:ext>
            </a:extLst>
          </p:cNvPr>
          <p:cNvSpPr txBox="1"/>
          <p:nvPr/>
        </p:nvSpPr>
        <p:spPr>
          <a:xfrm>
            <a:off x="922202" y="1736904"/>
            <a:ext cx="4274778" cy="4532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ea typeface="Archivo Medium"/>
                <a:cs typeface="Archivo Medium"/>
                <a:sym typeface="Archivo Medium"/>
              </a:rPr>
              <a:t>Characteristics of interest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Central tendency</a:t>
            </a:r>
          </a:p>
          <a:p>
            <a:pPr marL="1377781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Mean</a:t>
            </a:r>
          </a:p>
          <a:p>
            <a:pPr marL="1377781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Median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Range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Distribution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FF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ea typeface="Archivo Medium"/>
                <a:cs typeface="Archivo Medium"/>
                <a:sym typeface="Archivo Medium"/>
              </a:rPr>
              <a:t>Methods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Numeric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Visual</a:t>
            </a:r>
            <a:endParaRPr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7EAA58-4B61-671C-172E-F61CC15DE034}"/>
              </a:ext>
            </a:extLst>
          </p:cNvPr>
          <p:cNvGraphicFramePr>
            <a:graphicFrameLocks noGrp="1"/>
          </p:cNvGraphicFramePr>
          <p:nvPr/>
        </p:nvGraphicFramePr>
        <p:xfrm>
          <a:off x="4743975" y="195462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81664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99F919A-B195-3B3E-8906-B68E39B2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6AAC4323-6C10-CAD2-0BC2-9B6E3C50C880}"/>
              </a:ext>
            </a:extLst>
          </p:cNvPr>
          <p:cNvSpPr txBox="1"/>
          <p:nvPr/>
        </p:nvSpPr>
        <p:spPr>
          <a:xfrm>
            <a:off x="922202" y="1736904"/>
            <a:ext cx="4274778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kern="0" dirty="0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Summary statistics for Age: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Minimum = 12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25th percentile = 22.25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Median = 30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Mean = 34.9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75th percentile = 47.5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Maximum = 69</a:t>
            </a:r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608B783-1F95-9EE4-7398-BCDFCE8887BD}"/>
              </a:ext>
            </a:extLst>
          </p:cNvPr>
          <p:cNvSpPr txBox="1"/>
          <p:nvPr/>
        </p:nvSpPr>
        <p:spPr>
          <a:xfrm>
            <a:off x="922201" y="1157695"/>
            <a:ext cx="704314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Numeric summaries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9E1BDB1-BC91-CDA5-0BBC-FD53117239BA}"/>
              </a:ext>
            </a:extLst>
          </p:cNvPr>
          <p:cNvGraphicFramePr>
            <a:graphicFrameLocks noGrp="1"/>
          </p:cNvGraphicFramePr>
          <p:nvPr/>
        </p:nvGraphicFramePr>
        <p:xfrm>
          <a:off x="4743975" y="195462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875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D066004-CC1B-FD3B-C7A5-22909104B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9BF7456-BE05-079A-AA11-21055D373BC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Histograms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2735C3-0267-A9A7-454D-C8DD6D3A1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51" y="2319855"/>
            <a:ext cx="5219627" cy="425741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56901A-0312-FE75-A466-E8D867133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907608"/>
              </p:ext>
            </p:extLst>
          </p:nvPr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671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680C1EB2-9A6B-76DE-8D0D-B3A35C08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778B0EA-681E-282B-CD24-33214EBE7755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Histograms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A815E1-73F4-5001-5AF5-E86EDEA61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0344827"/>
              </p:ext>
            </p:extLst>
          </p:nvPr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A9297570-2DBC-A68F-442D-5DCBA671E292}"/>
              </a:ext>
            </a:extLst>
          </p:cNvPr>
          <p:cNvGrpSpPr/>
          <p:nvPr/>
        </p:nvGrpSpPr>
        <p:grpSpPr>
          <a:xfrm>
            <a:off x="333756" y="2140024"/>
            <a:ext cx="5500852" cy="4416224"/>
            <a:chOff x="6459522" y="1445080"/>
            <a:chExt cx="5144950" cy="4196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D3500F7-EF11-23AC-15AB-E175D1E446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59522" y="1445080"/>
              <a:ext cx="5144950" cy="4196502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2959FB0C-760C-C4DD-C642-132504C04AFA}"/>
                </a:ext>
              </a:extLst>
            </p:cNvPr>
            <p:cNvCxnSpPr/>
            <p:nvPr/>
          </p:nvCxnSpPr>
          <p:spPr>
            <a:xfrm flipH="1">
              <a:off x="7822734" y="3800213"/>
              <a:ext cx="310393" cy="45720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991FEF-B0EF-6633-D19C-BB5995F3C743}"/>
                </a:ext>
              </a:extLst>
            </p:cNvPr>
            <p:cNvSpPr txBox="1"/>
            <p:nvPr/>
          </p:nvSpPr>
          <p:spPr>
            <a:xfrm>
              <a:off x="7822734" y="3465582"/>
              <a:ext cx="11702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Outlier!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36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3285E99-1521-402A-BC08-19D3C8D23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1E97007-1655-2DEE-0C98-7DD2DAE1A9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129" b="8502"/>
          <a:stretch>
            <a:fillRect/>
          </a:stretch>
        </p:blipFill>
        <p:spPr>
          <a:xfrm>
            <a:off x="130100" y="2148289"/>
            <a:ext cx="6097800" cy="4054207"/>
          </a:xfrm>
          <a:prstGeom prst="rect">
            <a:avLst/>
          </a:prstGeom>
        </p:spPr>
      </p:pic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BD36A06-8415-2565-B8CB-ED9785A9084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Histograms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501DA57-CAD4-CBC0-5C87-C8241EC97172}"/>
              </a:ext>
            </a:extLst>
          </p:cNvPr>
          <p:cNvGraphicFramePr>
            <a:graphicFrameLocks noGrp="1"/>
          </p:cNvGraphicFramePr>
          <p:nvPr/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15AB367-B278-80DD-8079-F441627DD137}"/>
              </a:ext>
            </a:extLst>
          </p:cNvPr>
          <p:cNvCxnSpPr/>
          <p:nvPr/>
        </p:nvCxnSpPr>
        <p:spPr>
          <a:xfrm flipH="1">
            <a:off x="1350593" y="4618468"/>
            <a:ext cx="331864" cy="48113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F04C123-1FEB-4B5D-C162-5467BA39A051}"/>
              </a:ext>
            </a:extLst>
          </p:cNvPr>
          <p:cNvSpPr txBox="1"/>
          <p:nvPr/>
        </p:nvSpPr>
        <p:spPr>
          <a:xfrm>
            <a:off x="1350593" y="4266316"/>
            <a:ext cx="1251217" cy="388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Outlier!</a:t>
            </a:r>
          </a:p>
        </p:txBody>
      </p:sp>
    </p:spTree>
    <p:extLst>
      <p:ext uri="{BB962C8B-B14F-4D97-AF65-F5344CB8AC3E}">
        <p14:creationId xmlns:p14="http://schemas.microsoft.com/office/powerpoint/2010/main" val="3099846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E0043AD-1C66-246B-670A-A81D9F8D9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2CDBEB6-0365-5558-208D-209D7EFD29D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Summarize categorical variables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B39DA448-8DA5-C522-7B28-65DC4BDAE759}"/>
              </a:ext>
            </a:extLst>
          </p:cNvPr>
          <p:cNvSpPr txBox="1"/>
          <p:nvPr/>
        </p:nvSpPr>
        <p:spPr>
          <a:xfrm>
            <a:off x="922202" y="1736904"/>
            <a:ext cx="4274778" cy="864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Frequency tables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42114E5-9D49-DA7C-751E-B1FD3569B6BB}"/>
              </a:ext>
            </a:extLst>
          </p:cNvPr>
          <p:cNvGraphicFramePr>
            <a:graphicFrameLocks noGrp="1"/>
          </p:cNvGraphicFramePr>
          <p:nvPr/>
        </p:nvGraphicFramePr>
        <p:xfrm>
          <a:off x="4743975" y="195462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A33768-0555-2A7F-4C8B-A406ECD8D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419182"/>
              </p:ext>
            </p:extLst>
          </p:nvPr>
        </p:nvGraphicFramePr>
        <p:xfrm>
          <a:off x="1019262" y="3587088"/>
          <a:ext cx="2898942" cy="1995170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807121">
                  <a:extLst>
                    <a:ext uri="{9D8B030D-6E8A-4147-A177-3AD203B41FA5}">
                      <a16:colId xmlns:a16="http://schemas.microsoft.com/office/drawing/2014/main" val="4071645588"/>
                    </a:ext>
                  </a:extLst>
                </a:gridCol>
                <a:gridCol w="1091821">
                  <a:extLst>
                    <a:ext uri="{9D8B030D-6E8A-4147-A177-3AD203B41FA5}">
                      <a16:colId xmlns:a16="http://schemas.microsoft.com/office/drawing/2014/main" val="1324171596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Response to “Consumes meat” </a:t>
                      </a:r>
                      <a:endParaRPr lang="en-US" sz="16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Count</a:t>
                      </a:r>
                      <a:endParaRPr lang="en-US" sz="16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4078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73884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+mn-lt"/>
                        </a:rPr>
                        <a:t>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+mn-lt"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043815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Yes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8394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61594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653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Ys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6396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4043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B0C854B-45E5-602C-6FE5-D2D11C6E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76577199-3D37-FFA3-690B-42B7D12338D0}"/>
              </a:ext>
            </a:extLst>
          </p:cNvPr>
          <p:cNvSpPr txBox="1"/>
          <p:nvPr/>
        </p:nvSpPr>
        <p:spPr>
          <a:xfrm>
            <a:off x="922201" y="1157695"/>
            <a:ext cx="820043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Variables &amp; the relationships between them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7622303-389D-ABBE-7C5C-93C326E9D9F8}"/>
              </a:ext>
            </a:extLst>
          </p:cNvPr>
          <p:cNvSpPr txBox="1"/>
          <p:nvPr/>
        </p:nvSpPr>
        <p:spPr>
          <a:xfrm>
            <a:off x="922202" y="1736904"/>
            <a:ext cx="9755768" cy="418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Up until now we’ve been examining one variable at a time, which is called univariate analysis.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It’s also important to look at the relationships between variables, which is called multivariate analysis.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Input and output variables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Multiple input variables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95312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9841565-C24B-CDC6-81AA-0BDE4817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7933D4D8-ECA0-8DCA-2F62-FF2992C12F28}"/>
              </a:ext>
            </a:extLst>
          </p:cNvPr>
          <p:cNvSpPr txBox="1"/>
          <p:nvPr/>
        </p:nvSpPr>
        <p:spPr>
          <a:xfrm>
            <a:off x="922201" y="1157695"/>
            <a:ext cx="7403411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Pairwise relationships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C5699C41-1F6A-7D2F-8E98-F3B1C79D53BD}"/>
              </a:ext>
            </a:extLst>
          </p:cNvPr>
          <p:cNvSpPr txBox="1"/>
          <p:nvPr/>
        </p:nvSpPr>
        <p:spPr>
          <a:xfrm>
            <a:off x="841017" y="2508919"/>
            <a:ext cx="4540158" cy="2593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Visual, e.g. scatterplot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Numeric values, e.g. correlation</a:t>
            </a:r>
            <a:r>
              <a:rPr lang="en-US" sz="2006" kern="0" baseline="3000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= 0.4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03613D-8258-A3FF-4B45-607F79A3B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99"/>
          <a:stretch>
            <a:fillRect/>
          </a:stretch>
        </p:blipFill>
        <p:spPr>
          <a:xfrm>
            <a:off x="6016009" y="1728435"/>
            <a:ext cx="5758860" cy="412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55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3BFDB78-B608-BD54-6213-54E790707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A88CCC9-E395-768D-5393-35E8E1DDB97B}"/>
              </a:ext>
            </a:extLst>
          </p:cNvPr>
          <p:cNvSpPr txBox="1"/>
          <p:nvPr/>
        </p:nvSpPr>
        <p:spPr>
          <a:xfrm>
            <a:off x="922201" y="1157695"/>
            <a:ext cx="8486204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Multivariate relationships: Correlation matrix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D1234921-1461-6483-0953-8D96604ADB8E}"/>
              </a:ext>
            </a:extLst>
          </p:cNvPr>
          <p:cNvSpPr txBox="1"/>
          <p:nvPr/>
        </p:nvSpPr>
        <p:spPr>
          <a:xfrm>
            <a:off x="922201" y="2898462"/>
            <a:ext cx="4274778" cy="216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Numeric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Visual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DB7FB59-A5C6-0041-2A4A-8D917A621F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1792" y="1981139"/>
            <a:ext cx="5830458" cy="474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0874D7-FE12-B921-94BE-4BAE81576AE7}"/>
              </a:ext>
            </a:extLst>
          </p:cNvPr>
          <p:cNvSpPr txBox="1"/>
          <p:nvPr/>
        </p:nvSpPr>
        <p:spPr>
          <a:xfrm>
            <a:off x="11032621" y="6076060"/>
            <a:ext cx="1495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Image from </a:t>
            </a:r>
            <a:r>
              <a:rPr lang="en-US" sz="1200" dirty="0">
                <a:hlinkClick r:id="rId4"/>
              </a:rPr>
              <a:t>Towards Data Science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59244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8B7C53E-F0D8-01D4-D142-BA1721A67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CF2B886-CEEB-A718-FD9B-6EBDBCB9191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Non-linear relationships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37B61C2-9EAA-DEC2-0BA9-78A351BAB7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3518794"/>
              </p:ext>
            </p:extLst>
          </p:nvPr>
        </p:nvGraphicFramePr>
        <p:xfrm>
          <a:off x="6096000" y="267697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42;p26">
            <a:extLst>
              <a:ext uri="{FF2B5EF4-FFF2-40B4-BE49-F238E27FC236}">
                <a16:creationId xmlns:a16="http://schemas.microsoft.com/office/drawing/2014/main" id="{F1B90168-C1A7-5731-8ACC-5345D7D8F4A5}"/>
              </a:ext>
            </a:extLst>
          </p:cNvPr>
          <p:cNvSpPr txBox="1"/>
          <p:nvPr/>
        </p:nvSpPr>
        <p:spPr>
          <a:xfrm>
            <a:off x="836743" y="1833801"/>
            <a:ext cx="4615473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Consider the scatterplot on the right. Would you say these variables are correlated?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 traditional numeric measure of this correlation would be very low, but there is clearly a strong relationship between the variables. </a:t>
            </a:r>
          </a:p>
        </p:txBody>
      </p:sp>
    </p:spTree>
    <p:extLst>
      <p:ext uri="{BB962C8B-B14F-4D97-AF65-F5344CB8AC3E}">
        <p14:creationId xmlns:p14="http://schemas.microsoft.com/office/powerpoint/2010/main" val="3763887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196A905-512E-8B76-D207-7695E6AA8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9288FDF-1F87-E885-758A-005D476FF9C1}"/>
              </a:ext>
            </a:extLst>
          </p:cNvPr>
          <p:cNvSpPr txBox="1"/>
          <p:nvPr/>
        </p:nvSpPr>
        <p:spPr>
          <a:xfrm>
            <a:off x="922201" y="1157695"/>
            <a:ext cx="7845783" cy="1484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 distributions and relationships affect analysis plans!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" name="Google Shape;142;p26">
            <a:extLst>
              <a:ext uri="{FF2B5EF4-FFF2-40B4-BE49-F238E27FC236}">
                <a16:creationId xmlns:a16="http://schemas.microsoft.com/office/drawing/2014/main" id="{807CB3B0-0406-3EA0-3EBE-3D17A6ED719E}"/>
              </a:ext>
            </a:extLst>
          </p:cNvPr>
          <p:cNvSpPr txBox="1"/>
          <p:nvPr/>
        </p:nvSpPr>
        <p:spPr>
          <a:xfrm>
            <a:off x="845288" y="2560193"/>
            <a:ext cx="8773003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Statistical analyses often have specific requirements around variable distributions and relationships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Linear relationships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Normal distributions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Independent (i.e. not correlated)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24319926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68243BC-C544-62D2-7FE8-59EE29F7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47F70-A23B-A561-BD0E-659A45223DA1}"/>
              </a:ext>
            </a:extLst>
          </p:cNvPr>
          <p:cNvGraphicFramePr>
            <a:graphicFrameLocks noGrp="1"/>
          </p:cNvGraphicFramePr>
          <p:nvPr/>
        </p:nvGraphicFramePr>
        <p:xfrm>
          <a:off x="4878151" y="1991520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9EBF7D4-5706-67D3-3526-40D66B4E1DC4}"/>
              </a:ext>
            </a:extLst>
          </p:cNvPr>
          <p:cNvSpPr txBox="1"/>
          <p:nvPr/>
        </p:nvSpPr>
        <p:spPr>
          <a:xfrm>
            <a:off x="922202" y="957212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Missing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F000C0D7-BDF9-6DB2-90F1-242EE5218F1E}"/>
              </a:ext>
            </a:extLst>
          </p:cNvPr>
          <p:cNvSpPr txBox="1"/>
          <p:nvPr/>
        </p:nvSpPr>
        <p:spPr>
          <a:xfrm>
            <a:off x="922203" y="1736904"/>
            <a:ext cx="3484698" cy="6260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Labels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Blank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“Unknown”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NA/Null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A specific number like 999 or -1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Quantity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8B0258-36D0-F43F-EF45-4D396CAA50B3}"/>
              </a:ext>
            </a:extLst>
          </p:cNvPr>
          <p:cNvGrpSpPr/>
          <p:nvPr/>
        </p:nvGrpSpPr>
        <p:grpSpPr>
          <a:xfrm>
            <a:off x="6986446" y="2904753"/>
            <a:ext cx="3938047" cy="3047339"/>
            <a:chOff x="6995022" y="2530174"/>
            <a:chExt cx="3938047" cy="3047339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3AE3A1F-35B1-23FA-E33F-FC47C06A6015}"/>
                </a:ext>
              </a:extLst>
            </p:cNvPr>
            <p:cNvSpPr/>
            <p:nvPr/>
          </p:nvSpPr>
          <p:spPr>
            <a:xfrm>
              <a:off x="6995022" y="2530174"/>
              <a:ext cx="1621366" cy="499533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361303D-0DD1-BABD-9569-DBB61CE42F47}"/>
                </a:ext>
              </a:extLst>
            </p:cNvPr>
            <p:cNvSpPr/>
            <p:nvPr/>
          </p:nvSpPr>
          <p:spPr>
            <a:xfrm>
              <a:off x="9311703" y="5077980"/>
              <a:ext cx="1621366" cy="499533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30259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E023C31-A6BC-FAC8-1FA5-341E9C18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5989233-BD48-9AB5-903A-9F69295EDC3C}"/>
              </a:ext>
            </a:extLst>
          </p:cNvPr>
          <p:cNvSpPr txBox="1"/>
          <p:nvPr/>
        </p:nvSpPr>
        <p:spPr>
          <a:xfrm>
            <a:off x="922202" y="1157695"/>
            <a:ext cx="685019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Missing data, cont.</a:t>
            </a:r>
            <a:endParaRPr lang="en-US"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D06098E-D50B-0E65-5420-D62DC960226D}"/>
              </a:ext>
            </a:extLst>
          </p:cNvPr>
          <p:cNvSpPr txBox="1"/>
          <p:nvPr/>
        </p:nvSpPr>
        <p:spPr>
          <a:xfrm>
            <a:off x="922202" y="2466086"/>
            <a:ext cx="7904298" cy="3666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 important characteristic of missing data is the pattern of missingness</a:t>
            </a:r>
          </a:p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Random: all values have an equal chance of being missing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Lost samples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Instrument error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Non-random: certain values are more likely to be missing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Physical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Social</a:t>
            </a:r>
            <a:endParaRPr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011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D80C179D-BDA2-2C8A-F582-65C9775F7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319934-4682-7C00-22D0-DA7D9DA8A624}"/>
              </a:ext>
            </a:extLst>
          </p:cNvPr>
          <p:cNvGraphicFramePr>
            <a:graphicFrameLocks noGrp="1"/>
          </p:cNvGraphicFramePr>
          <p:nvPr/>
        </p:nvGraphicFramePr>
        <p:xfrm>
          <a:off x="4878151" y="1991520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19DA1ED9-0EC8-781C-5BB0-3CA7F8219F0F}"/>
              </a:ext>
            </a:extLst>
          </p:cNvPr>
          <p:cNvSpPr txBox="1"/>
          <p:nvPr/>
        </p:nvSpPr>
        <p:spPr>
          <a:xfrm>
            <a:off x="922202" y="957212"/>
            <a:ext cx="842499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Formatting &amp; typos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D20BA2E-333D-8417-FC2C-29694D928119}"/>
              </a:ext>
            </a:extLst>
          </p:cNvPr>
          <p:cNvSpPr txBox="1"/>
          <p:nvPr/>
        </p:nvSpPr>
        <p:spPr>
          <a:xfrm>
            <a:off x="922202" y="1736904"/>
            <a:ext cx="3603231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Typos –e.g., “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” instead of “yes”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Text formatting – e.g.,  “Yes”, “YES”,  and “yes”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0C38BC-112A-3460-B5DD-9B0B3CA07841}"/>
              </a:ext>
            </a:extLst>
          </p:cNvPr>
          <p:cNvSpPr/>
          <p:nvPr/>
        </p:nvSpPr>
        <p:spPr>
          <a:xfrm>
            <a:off x="10884716" y="2579615"/>
            <a:ext cx="1111541" cy="3670183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E3B01-272B-ACF4-BA0B-F0DEE94711A4}"/>
              </a:ext>
            </a:extLst>
          </p:cNvPr>
          <p:cNvSpPr/>
          <p:nvPr/>
        </p:nvSpPr>
        <p:spPr>
          <a:xfrm>
            <a:off x="5185136" y="2579615"/>
            <a:ext cx="1195431" cy="169038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03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3D83A84-03D0-22A9-874C-10674B9EF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5AE5807-0CC6-760E-C21C-D9B5BAC4FDF0}"/>
              </a:ext>
            </a:extLst>
          </p:cNvPr>
          <p:cNvSpPr txBox="1"/>
          <p:nvPr/>
        </p:nvSpPr>
        <p:spPr>
          <a:xfrm>
            <a:off x="922202" y="918093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Variable type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F3A051B-5F40-BFD7-8FF7-3E32B6606D1E}"/>
              </a:ext>
            </a:extLst>
          </p:cNvPr>
          <p:cNvSpPr txBox="1"/>
          <p:nvPr/>
        </p:nvSpPr>
        <p:spPr>
          <a:xfrm>
            <a:off x="922202" y="1736904"/>
            <a:ext cx="3738698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That’s not a date! Or is it…?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Mix of text and numbers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Numbers stored as text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950B423-B96E-CCCC-564A-76064D7E0D44}"/>
              </a:ext>
            </a:extLst>
          </p:cNvPr>
          <p:cNvGraphicFramePr>
            <a:graphicFrameLocks noGrp="1"/>
          </p:cNvGraphicFramePr>
          <p:nvPr/>
        </p:nvGraphicFramePr>
        <p:xfrm>
          <a:off x="4794261" y="196635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3A7F664-0B77-EEF0-E888-655EA8A37BA8}"/>
              </a:ext>
            </a:extLst>
          </p:cNvPr>
          <p:cNvSpPr/>
          <p:nvPr/>
        </p:nvSpPr>
        <p:spPr>
          <a:xfrm>
            <a:off x="5104702" y="2483141"/>
            <a:ext cx="1195431" cy="169038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84DC76-4B73-A465-F797-8F7339CA691D}"/>
              </a:ext>
            </a:extLst>
          </p:cNvPr>
          <p:cNvSpPr/>
          <p:nvPr/>
        </p:nvSpPr>
        <p:spPr>
          <a:xfrm>
            <a:off x="9477735" y="2542407"/>
            <a:ext cx="1195431" cy="376525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3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A0FEBCC-0151-2C8A-F831-F60ED17DC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027F2C-64D6-B5C7-8D16-A7C8F92F4D5D}"/>
              </a:ext>
            </a:extLst>
          </p:cNvPr>
          <p:cNvSpPr/>
          <p:nvPr/>
        </p:nvSpPr>
        <p:spPr>
          <a:xfrm>
            <a:off x="6290733" y="3894667"/>
            <a:ext cx="4296834" cy="11133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426A8F-52E2-2EB7-6F14-8D39032B76C8}"/>
              </a:ext>
            </a:extLst>
          </p:cNvPr>
          <p:cNvSpPr/>
          <p:nvPr/>
        </p:nvSpPr>
        <p:spPr>
          <a:xfrm>
            <a:off x="8271933" y="2497667"/>
            <a:ext cx="2468034" cy="24384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08FC21-A815-8CB6-DADF-94CF4118A77B}"/>
              </a:ext>
            </a:extLst>
          </p:cNvPr>
          <p:cNvGraphicFramePr>
            <a:graphicFrameLocks noGrp="1"/>
          </p:cNvGraphicFramePr>
          <p:nvPr/>
        </p:nvGraphicFramePr>
        <p:xfrm>
          <a:off x="6415088" y="2620963"/>
          <a:ext cx="4066644" cy="2297581"/>
        </p:xfrm>
        <a:graphic>
          <a:graphicData uri="http://schemas.openxmlformats.org/drawingml/2006/table">
            <a:tbl>
              <a:tblPr/>
              <a:tblGrid>
                <a:gridCol w="485868">
                  <a:extLst>
                    <a:ext uri="{9D8B030D-6E8A-4147-A177-3AD203B41FA5}">
                      <a16:colId xmlns:a16="http://schemas.microsoft.com/office/drawing/2014/main" val="931674383"/>
                    </a:ext>
                  </a:extLst>
                </a:gridCol>
                <a:gridCol w="1349811">
                  <a:extLst>
                    <a:ext uri="{9D8B030D-6E8A-4147-A177-3AD203B41FA5}">
                      <a16:colId xmlns:a16="http://schemas.microsoft.com/office/drawing/2014/main" val="2205553950"/>
                    </a:ext>
                  </a:extLst>
                </a:gridCol>
                <a:gridCol w="1248833">
                  <a:extLst>
                    <a:ext uri="{9D8B030D-6E8A-4147-A177-3AD203B41FA5}">
                      <a16:colId xmlns:a16="http://schemas.microsoft.com/office/drawing/2014/main" val="2642280183"/>
                    </a:ext>
                  </a:extLst>
                </a:gridCol>
                <a:gridCol w="982132">
                  <a:extLst>
                    <a:ext uri="{9D8B030D-6E8A-4147-A177-3AD203B41FA5}">
                      <a16:colId xmlns:a16="http://schemas.microsoft.com/office/drawing/2014/main" val="83217320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Zip code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4875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609139"/>
                  </a:ext>
                </a:extLst>
              </a:tr>
              <a:tr h="3591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244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04/30/03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615580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09850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6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10107"/>
                  </a:ext>
                </a:extLst>
              </a:tr>
            </a:tbl>
          </a:graphicData>
        </a:graphic>
      </p:graphicFrame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06A3873-F0C7-A23A-2421-C62C22260868}"/>
              </a:ext>
            </a:extLst>
          </p:cNvPr>
          <p:cNvSpPr txBox="1"/>
          <p:nvPr/>
        </p:nvSpPr>
        <p:spPr>
          <a:xfrm>
            <a:off x="957886" y="93467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Duplicates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7DA6CD43-607E-06AE-3920-A5188C07A4D4}"/>
              </a:ext>
            </a:extLst>
          </p:cNvPr>
          <p:cNvSpPr txBox="1"/>
          <p:nvPr/>
        </p:nvSpPr>
        <p:spPr>
          <a:xfrm>
            <a:off x="922202" y="1736904"/>
            <a:ext cx="4543031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 are you defining duplicates?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Single variable – beware of typos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Combinations of variables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Duplicates may not be exact.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Different missing data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Conflicting values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734553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20D61C2-E8F4-8EA1-5531-1912B4707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1DC6A1F0-07F8-E8BE-0E98-43CDCBADDBE4}"/>
              </a:ext>
            </a:extLst>
          </p:cNvPr>
          <p:cNvSpPr txBox="1"/>
          <p:nvPr/>
        </p:nvSpPr>
        <p:spPr>
          <a:xfrm>
            <a:off x="1751261" y="2607733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Final thoughts on EDA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B4E2796-A737-8D58-8B27-14C18AE935FB}"/>
              </a:ext>
            </a:extLst>
          </p:cNvPr>
          <p:cNvSpPr/>
          <p:nvPr/>
        </p:nvSpPr>
        <p:spPr>
          <a:xfrm>
            <a:off x="1038079" y="3552091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30024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1A97247-DC34-3650-7569-11C43584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AD7AB34-A11C-5BF1-486B-13E9D96AD10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Final points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1D3541C-506E-0877-E5B2-85227D4FDD72}"/>
              </a:ext>
            </a:extLst>
          </p:cNvPr>
          <p:cNvSpPr txBox="1"/>
          <p:nvPr/>
        </p:nvSpPr>
        <p:spPr>
          <a:xfrm>
            <a:off x="922202" y="1736904"/>
            <a:ext cx="9776400" cy="427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/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explored a framework for EDA and some common dataset features to examine.</a:t>
            </a: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Your exploration will almost certainly lead to discoveries unique to your dataset that require further exploration.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EDA is an ongoing process – you may discover things later in the process that require you to investigate further.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30359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A649B46E-E46D-99D5-7721-465708554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C53C7CD4-668D-CEC3-C1BE-9D50C0F48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38970" y="861451"/>
            <a:ext cx="9017400" cy="1286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dirty="0"/>
              <a:t>Discussion Questions</a:t>
            </a:r>
            <a:endParaRPr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585C20-0833-7188-8A25-48155D875109}"/>
              </a:ext>
            </a:extLst>
          </p:cNvPr>
          <p:cNvSpPr txBox="1"/>
          <p:nvPr/>
        </p:nvSpPr>
        <p:spPr>
          <a:xfrm>
            <a:off x="1938970" y="2294156"/>
            <a:ext cx="9411112" cy="4376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What does exploratory data analysis mean to you </a:t>
            </a:r>
            <a:r>
              <a:rPr lang="en-US" sz="2400" i="1" kern="0" dirty="0">
                <a:solidFill>
                  <a:srgbClr val="12312B"/>
                </a:solidFill>
                <a:latin typeface="Archivo Medium"/>
              </a:rPr>
              <a:t>now</a:t>
            </a: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You have just been given a dataset to analyze. How confident are you in your next steps?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Not at all confident - I don't really know where to start.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A little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Somewhat confident - I have some ideas and can start playing around with the data.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Pretty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Highly confident - I have a plan and know what my next steps are.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4051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C4EC0DB-9F90-755B-896D-AD181A95B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CCE112CE-C251-66C3-39B4-D6754ED604A0}"/>
              </a:ext>
            </a:extLst>
          </p:cNvPr>
          <p:cNvSpPr txBox="1"/>
          <p:nvPr/>
        </p:nvSpPr>
        <p:spPr>
          <a:xfrm>
            <a:off x="1736521" y="2286001"/>
            <a:ext cx="8439325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60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questions do you still have about EDA?</a:t>
            </a:r>
            <a:endParaRPr sz="2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5C5C9AB-1210-9E25-4E57-FCAF6C1798A3}"/>
              </a:ext>
            </a:extLst>
          </p:cNvPr>
          <p:cNvSpPr/>
          <p:nvPr/>
        </p:nvSpPr>
        <p:spPr>
          <a:xfrm>
            <a:off x="1365250" y="4525214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665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</TotalTime>
  <Words>3306</Words>
  <Application>Microsoft Office PowerPoint</Application>
  <PresentationFormat>Widescreen</PresentationFormat>
  <Paragraphs>1454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47</vt:i4>
      </vt:variant>
    </vt:vector>
  </HeadingPairs>
  <TitlesOfParts>
    <vt:vector size="60" baseType="lpstr">
      <vt:lpstr>Anton</vt:lpstr>
      <vt:lpstr>Aptos</vt:lpstr>
      <vt:lpstr>Aptos Display</vt:lpstr>
      <vt:lpstr>Aptos Narrow</vt:lpstr>
      <vt:lpstr>Archivo</vt:lpstr>
      <vt:lpstr>Archivo ExtraBold</vt:lpstr>
      <vt:lpstr>Archivo Medium</vt:lpstr>
      <vt:lpstr>Archivo SemiBold</vt:lpstr>
      <vt:lpstr>Arial</vt:lpstr>
      <vt:lpstr>Calibri</vt:lpstr>
      <vt:lpstr>Wingdings</vt:lpstr>
      <vt:lpstr>Office Theme</vt:lpstr>
      <vt:lpstr>DLVI theme 1</vt:lpstr>
      <vt:lpstr>PowerPoint Presentation</vt:lpstr>
      <vt:lpstr>PowerPoint Presentation</vt:lpstr>
      <vt:lpstr>Discussion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Discussion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1</cp:revision>
  <dcterms:created xsi:type="dcterms:W3CDTF">2025-09-16T18:18:09Z</dcterms:created>
  <dcterms:modified xsi:type="dcterms:W3CDTF">2026-08-26T19:57:31Z</dcterms:modified>
</cp:coreProperties>
</file>