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comments/modernComment_17B_EB9FF455.xml" ContentType="application/vnd.ms-powerpoint.comments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comments/modernComment_162_A6C64414.xml" ContentType="application/vnd.ms-powerpoint.comments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comments/modernComment_161_DE98C238.xml" ContentType="application/vnd.ms-powerpoint.comments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661" r:id="rId2"/>
  </p:sldMasterIdLst>
  <p:notesMasterIdLst>
    <p:notesMasterId r:id="rId48"/>
  </p:notesMasterIdLst>
  <p:sldIdLst>
    <p:sldId id="299" r:id="rId3"/>
    <p:sldId id="272" r:id="rId4"/>
    <p:sldId id="321" r:id="rId5"/>
    <p:sldId id="322" r:id="rId6"/>
    <p:sldId id="325" r:id="rId7"/>
    <p:sldId id="265" r:id="rId8"/>
    <p:sldId id="300" r:id="rId9"/>
    <p:sldId id="310" r:id="rId10"/>
    <p:sldId id="315" r:id="rId11"/>
    <p:sldId id="288" r:id="rId12"/>
    <p:sldId id="306" r:id="rId13"/>
    <p:sldId id="309" r:id="rId14"/>
    <p:sldId id="267" r:id="rId15"/>
    <p:sldId id="266" r:id="rId16"/>
    <p:sldId id="277" r:id="rId17"/>
    <p:sldId id="301" r:id="rId18"/>
    <p:sldId id="298" r:id="rId19"/>
    <p:sldId id="308" r:id="rId20"/>
    <p:sldId id="302" r:id="rId21"/>
    <p:sldId id="313" r:id="rId22"/>
    <p:sldId id="268" r:id="rId23"/>
    <p:sldId id="270" r:id="rId24"/>
    <p:sldId id="305" r:id="rId25"/>
    <p:sldId id="278" r:id="rId26"/>
    <p:sldId id="280" r:id="rId27"/>
    <p:sldId id="303" r:id="rId28"/>
    <p:sldId id="314" r:id="rId29"/>
    <p:sldId id="361" r:id="rId30"/>
    <p:sldId id="374" r:id="rId31"/>
    <p:sldId id="362" r:id="rId32"/>
    <p:sldId id="375" r:id="rId33"/>
    <p:sldId id="376" r:id="rId34"/>
    <p:sldId id="366" r:id="rId35"/>
    <p:sldId id="379" r:id="rId36"/>
    <p:sldId id="382" r:id="rId37"/>
    <p:sldId id="381" r:id="rId38"/>
    <p:sldId id="383" r:id="rId39"/>
    <p:sldId id="367" r:id="rId40"/>
    <p:sldId id="354" r:id="rId41"/>
    <p:sldId id="370" r:id="rId42"/>
    <p:sldId id="371" r:id="rId43"/>
    <p:sldId id="353" r:id="rId44"/>
    <p:sldId id="294" r:id="rId45"/>
    <p:sldId id="275" r:id="rId46"/>
    <p:sldId id="307" r:id="rId4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5D1CE9B-DF25-4FEC-06DE-212637DD9CB8}" name="Katie Owers Bonner" initials="KO" userId="S::f008496@dartmouth.edu::031be739-2ca3-49bb-9134-32c5274b029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1E9675D-04BF-4BD0-8DB8-9B6CC15302F8}" v="421" dt="2026-08-18T15:50:41.50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34585" autoAdjust="0"/>
    <p:restoredTop sz="78788" autoAdjust="0"/>
  </p:normalViewPr>
  <p:slideViewPr>
    <p:cSldViewPr snapToGrid="0">
      <p:cViewPr varScale="1">
        <p:scale>
          <a:sx n="127" d="100"/>
          <a:sy n="127" d="100"/>
        </p:scale>
        <p:origin x="1104" y="6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200" d="100"/>
        <a:sy n="200" d="100"/>
      </p:scale>
      <p:origin x="0" y="-247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viewProps" Target="viewProps.xml"/><Relationship Id="rId55" Type="http://schemas.microsoft.com/office/2018/10/relationships/authors" Target="author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microsoft.com/office/2016/11/relationships/changesInfo" Target="changesInfos/changesInfo1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51" Type="http://schemas.openxmlformats.org/officeDocument/2006/relationships/theme" Target="theme/theme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tie Owers Bonner" userId="031be739-2ca3-49bb-9134-32c5274b029d" providerId="ADAL" clId="{A2AFF3C0-B35D-4D35-896C-645D8DA4EEB0}"/>
    <pc:docChg chg="undo custSel delSld modSld">
      <pc:chgData name="Katie Owers Bonner" userId="031be739-2ca3-49bb-9134-32c5274b029d" providerId="ADAL" clId="{A2AFF3C0-B35D-4D35-896C-645D8DA4EEB0}" dt="2026-08-18T15:51:39.635" v="473" actId="20577"/>
      <pc:docMkLst>
        <pc:docMk/>
      </pc:docMkLst>
      <pc:sldChg chg="del">
        <pc:chgData name="Katie Owers Bonner" userId="031be739-2ca3-49bb-9134-32c5274b029d" providerId="ADAL" clId="{A2AFF3C0-B35D-4D35-896C-645D8DA4EEB0}" dt="2026-08-18T15:38:34.125" v="470" actId="47"/>
        <pc:sldMkLst>
          <pc:docMk/>
          <pc:sldMk cId="0" sldId="258"/>
        </pc:sldMkLst>
      </pc:sldChg>
      <pc:sldChg chg="del">
        <pc:chgData name="Katie Owers Bonner" userId="031be739-2ca3-49bb-9134-32c5274b029d" providerId="ADAL" clId="{A2AFF3C0-B35D-4D35-896C-645D8DA4EEB0}" dt="2026-08-18T15:38:12.932" v="468" actId="47"/>
        <pc:sldMkLst>
          <pc:docMk/>
          <pc:sldMk cId="0" sldId="262"/>
        </pc:sldMkLst>
      </pc:sldChg>
      <pc:sldChg chg="modSp modAnim">
        <pc:chgData name="Katie Owers Bonner" userId="031be739-2ca3-49bb-9134-32c5274b029d" providerId="ADAL" clId="{A2AFF3C0-B35D-4D35-896C-645D8DA4EEB0}" dt="2026-08-18T15:24:26.374" v="459" actId="20577"/>
        <pc:sldMkLst>
          <pc:docMk/>
          <pc:sldMk cId="2061279562" sldId="267"/>
        </pc:sldMkLst>
        <pc:spChg chg="mod">
          <ac:chgData name="Katie Owers Bonner" userId="031be739-2ca3-49bb-9134-32c5274b029d" providerId="ADAL" clId="{A2AFF3C0-B35D-4D35-896C-645D8DA4EEB0}" dt="2026-08-18T15:24:26.374" v="459" actId="20577"/>
          <ac:spMkLst>
            <pc:docMk/>
            <pc:sldMk cId="2061279562" sldId="267"/>
            <ac:spMk id="142" creationId="{2F69E860-2826-C663-75C7-D65490E0A9CA}"/>
          </ac:spMkLst>
        </pc:spChg>
      </pc:sldChg>
      <pc:sldChg chg="del">
        <pc:chgData name="Katie Owers Bonner" userId="031be739-2ca3-49bb-9134-32c5274b029d" providerId="ADAL" clId="{A2AFF3C0-B35D-4D35-896C-645D8DA4EEB0}" dt="2026-08-18T15:01:36.856" v="22" actId="47"/>
        <pc:sldMkLst>
          <pc:docMk/>
          <pc:sldMk cId="1346459711" sldId="271"/>
        </pc:sldMkLst>
      </pc:sldChg>
      <pc:sldChg chg="modSp mod modAnim">
        <pc:chgData name="Katie Owers Bonner" userId="031be739-2ca3-49bb-9134-32c5274b029d" providerId="ADAL" clId="{A2AFF3C0-B35D-4D35-896C-645D8DA4EEB0}" dt="2026-08-18T15:03:40.402" v="140" actId="20577"/>
        <pc:sldMkLst>
          <pc:docMk/>
          <pc:sldMk cId="4126705857" sldId="272"/>
        </pc:sldMkLst>
        <pc:spChg chg="mod">
          <ac:chgData name="Katie Owers Bonner" userId="031be739-2ca3-49bb-9134-32c5274b029d" providerId="ADAL" clId="{A2AFF3C0-B35D-4D35-896C-645D8DA4EEB0}" dt="2026-08-18T15:01:55.969" v="29" actId="20577"/>
          <ac:spMkLst>
            <pc:docMk/>
            <pc:sldMk cId="4126705857" sldId="272"/>
            <ac:spMk id="141" creationId="{E1BF5683-D6F4-7C8F-FD88-A6220438308F}"/>
          </ac:spMkLst>
        </pc:spChg>
        <pc:spChg chg="mod">
          <ac:chgData name="Katie Owers Bonner" userId="031be739-2ca3-49bb-9134-32c5274b029d" providerId="ADAL" clId="{A2AFF3C0-B35D-4D35-896C-645D8DA4EEB0}" dt="2026-08-18T15:03:40.402" v="140" actId="20577"/>
          <ac:spMkLst>
            <pc:docMk/>
            <pc:sldMk cId="4126705857" sldId="272"/>
            <ac:spMk id="142" creationId="{1F33F10C-E37B-AAC3-E67B-2ECA203B4738}"/>
          </ac:spMkLst>
        </pc:spChg>
      </pc:sldChg>
      <pc:sldChg chg="del">
        <pc:chgData name="Katie Owers Bonner" userId="031be739-2ca3-49bb-9134-32c5274b029d" providerId="ADAL" clId="{A2AFF3C0-B35D-4D35-896C-645D8DA4EEB0}" dt="2026-08-18T15:03:46.863" v="141" actId="47"/>
        <pc:sldMkLst>
          <pc:docMk/>
          <pc:sldMk cId="1227487870" sldId="273"/>
        </pc:sldMkLst>
      </pc:sldChg>
      <pc:sldChg chg="modSp modAnim">
        <pc:chgData name="Katie Owers Bonner" userId="031be739-2ca3-49bb-9134-32c5274b029d" providerId="ADAL" clId="{A2AFF3C0-B35D-4D35-896C-645D8DA4EEB0}" dt="2026-08-18T15:29:53.864" v="462" actId="2711"/>
        <pc:sldMkLst>
          <pc:docMk/>
          <pc:sldMk cId="1791929691" sldId="288"/>
        </pc:sldMkLst>
        <pc:spChg chg="mod">
          <ac:chgData name="Katie Owers Bonner" userId="031be739-2ca3-49bb-9134-32c5274b029d" providerId="ADAL" clId="{A2AFF3C0-B35D-4D35-896C-645D8DA4EEB0}" dt="2026-08-18T15:29:53.864" v="462" actId="2711"/>
          <ac:spMkLst>
            <pc:docMk/>
            <pc:sldMk cId="1791929691" sldId="288"/>
            <ac:spMk id="142" creationId="{1F5853FA-6364-3501-C754-49BB9B5E3BB1}"/>
          </ac:spMkLst>
        </pc:spChg>
      </pc:sldChg>
      <pc:sldChg chg="del">
        <pc:chgData name="Katie Owers Bonner" userId="031be739-2ca3-49bb-9134-32c5274b029d" providerId="ADAL" clId="{A2AFF3C0-B35D-4D35-896C-645D8DA4EEB0}" dt="2026-08-18T15:38:25.777" v="469" actId="47"/>
        <pc:sldMkLst>
          <pc:docMk/>
          <pc:sldMk cId="1573925926" sldId="292"/>
        </pc:sldMkLst>
      </pc:sldChg>
      <pc:sldChg chg="del">
        <pc:chgData name="Katie Owers Bonner" userId="031be739-2ca3-49bb-9134-32c5274b029d" providerId="ADAL" clId="{A2AFF3C0-B35D-4D35-896C-645D8DA4EEB0}" dt="2026-08-18T15:38:12.932" v="468" actId="47"/>
        <pc:sldMkLst>
          <pc:docMk/>
          <pc:sldMk cId="536404643" sldId="296"/>
        </pc:sldMkLst>
      </pc:sldChg>
      <pc:sldChg chg="delSp modSp mod">
        <pc:chgData name="Katie Owers Bonner" userId="031be739-2ca3-49bb-9134-32c5274b029d" providerId="ADAL" clId="{A2AFF3C0-B35D-4D35-896C-645D8DA4EEB0}" dt="2026-08-18T15:01:33.347" v="21" actId="20577"/>
        <pc:sldMkLst>
          <pc:docMk/>
          <pc:sldMk cId="0" sldId="299"/>
        </pc:sldMkLst>
        <pc:spChg chg="del mod">
          <ac:chgData name="Katie Owers Bonner" userId="031be739-2ca3-49bb-9134-32c5274b029d" providerId="ADAL" clId="{A2AFF3C0-B35D-4D35-896C-645D8DA4EEB0}" dt="2026-08-18T15:01:14.329" v="16" actId="478"/>
          <ac:spMkLst>
            <pc:docMk/>
            <pc:sldMk cId="0" sldId="299"/>
            <ac:spMk id="3" creationId="{2DFCA70E-9589-E8DD-2A2A-957192EDBCDF}"/>
          </ac:spMkLst>
        </pc:spChg>
        <pc:spChg chg="mod">
          <ac:chgData name="Katie Owers Bonner" userId="031be739-2ca3-49bb-9134-32c5274b029d" providerId="ADAL" clId="{A2AFF3C0-B35D-4D35-896C-645D8DA4EEB0}" dt="2026-08-18T15:01:33.347" v="21" actId="20577"/>
          <ac:spMkLst>
            <pc:docMk/>
            <pc:sldMk cId="0" sldId="299"/>
            <ac:spMk id="109" creationId="{00000000-0000-0000-0000-000000000000}"/>
          </ac:spMkLst>
        </pc:spChg>
        <pc:spChg chg="del mod">
          <ac:chgData name="Katie Owers Bonner" userId="031be739-2ca3-49bb-9134-32c5274b029d" providerId="ADAL" clId="{A2AFF3C0-B35D-4D35-896C-645D8DA4EEB0}" dt="2026-08-18T15:01:27.541" v="19" actId="478"/>
          <ac:spMkLst>
            <pc:docMk/>
            <pc:sldMk cId="0" sldId="299"/>
            <ac:spMk id="111" creationId="{00000000-0000-0000-0000-000000000000}"/>
          </ac:spMkLst>
        </pc:spChg>
        <pc:spChg chg="mod">
          <ac:chgData name="Katie Owers Bonner" userId="031be739-2ca3-49bb-9134-32c5274b029d" providerId="ADAL" clId="{A2AFF3C0-B35D-4D35-896C-645D8DA4EEB0}" dt="2026-08-18T15:01:31.198" v="20" actId="1076"/>
          <ac:spMkLst>
            <pc:docMk/>
            <pc:sldMk cId="0" sldId="299"/>
            <ac:spMk id="112" creationId="{00000000-0000-0000-0000-000000000000}"/>
          </ac:spMkLst>
        </pc:spChg>
      </pc:sldChg>
      <pc:sldChg chg="modSp mod">
        <pc:chgData name="Katie Owers Bonner" userId="031be739-2ca3-49bb-9134-32c5274b029d" providerId="ADAL" clId="{A2AFF3C0-B35D-4D35-896C-645D8DA4EEB0}" dt="2026-08-18T15:23:11.525" v="328" actId="20577"/>
        <pc:sldMkLst>
          <pc:docMk/>
          <pc:sldMk cId="3557073072" sldId="306"/>
        </pc:sldMkLst>
        <pc:spChg chg="mod">
          <ac:chgData name="Katie Owers Bonner" userId="031be739-2ca3-49bb-9134-32c5274b029d" providerId="ADAL" clId="{A2AFF3C0-B35D-4D35-896C-645D8DA4EEB0}" dt="2026-08-18T15:23:11.525" v="328" actId="20577"/>
          <ac:spMkLst>
            <pc:docMk/>
            <pc:sldMk cId="3557073072" sldId="306"/>
            <ac:spMk id="142" creationId="{4CB52A31-2D2E-2619-49D4-9C15DDD7006D}"/>
          </ac:spMkLst>
        </pc:spChg>
      </pc:sldChg>
      <pc:sldChg chg="modSp mod">
        <pc:chgData name="Katie Owers Bonner" userId="031be739-2ca3-49bb-9134-32c5274b029d" providerId="ADAL" clId="{A2AFF3C0-B35D-4D35-896C-645D8DA4EEB0}" dt="2026-08-18T15:30:29.904" v="467" actId="6549"/>
        <pc:sldMkLst>
          <pc:docMk/>
          <pc:sldMk cId="3418495227" sldId="308"/>
        </pc:sldMkLst>
        <pc:spChg chg="mod">
          <ac:chgData name="Katie Owers Bonner" userId="031be739-2ca3-49bb-9134-32c5274b029d" providerId="ADAL" clId="{A2AFF3C0-B35D-4D35-896C-645D8DA4EEB0}" dt="2026-08-18T15:30:29.904" v="467" actId="6549"/>
          <ac:spMkLst>
            <pc:docMk/>
            <pc:sldMk cId="3418495227" sldId="308"/>
            <ac:spMk id="142" creationId="{EEB762E8-5734-55C9-255A-396077CEBB04}"/>
          </ac:spMkLst>
        </pc:spChg>
      </pc:sldChg>
      <pc:sldChg chg="modSp mod modNotesTx">
        <pc:chgData name="Katie Owers Bonner" userId="031be739-2ca3-49bb-9134-32c5274b029d" providerId="ADAL" clId="{A2AFF3C0-B35D-4D35-896C-645D8DA4EEB0}" dt="2026-08-18T15:51:39.635" v="473" actId="20577"/>
        <pc:sldMkLst>
          <pc:docMk/>
          <pc:sldMk cId="3846199407" sldId="321"/>
        </pc:sldMkLst>
        <pc:spChg chg="mod">
          <ac:chgData name="Katie Owers Bonner" userId="031be739-2ca3-49bb-9134-32c5274b029d" providerId="ADAL" clId="{A2AFF3C0-B35D-4D35-896C-645D8DA4EEB0}" dt="2026-08-18T15:07:12.239" v="142" actId="13926"/>
          <ac:spMkLst>
            <pc:docMk/>
            <pc:sldMk cId="3846199407" sldId="321"/>
            <ac:spMk id="158" creationId="{F0B4E771-CF6F-C6B2-8CF5-60A162B78732}"/>
          </ac:spMkLst>
        </pc:spChg>
      </pc:sldChg>
      <pc:sldChg chg="del">
        <pc:chgData name="Katie Owers Bonner" userId="031be739-2ca3-49bb-9134-32c5274b029d" providerId="ADAL" clId="{A2AFF3C0-B35D-4D35-896C-645D8DA4EEB0}" dt="2026-08-18T15:38:12.932" v="468" actId="47"/>
        <pc:sldMkLst>
          <pc:docMk/>
          <pc:sldMk cId="825263348" sldId="372"/>
        </pc:sldMkLst>
      </pc:sldChg>
      <pc:sldChg chg="del">
        <pc:chgData name="Katie Owers Bonner" userId="031be739-2ca3-49bb-9134-32c5274b029d" providerId="ADAL" clId="{A2AFF3C0-B35D-4D35-896C-645D8DA4EEB0}" dt="2026-08-18T15:38:12.932" v="468" actId="47"/>
        <pc:sldMkLst>
          <pc:docMk/>
          <pc:sldMk cId="561263410" sldId="373"/>
        </pc:sldMkLst>
      </pc:sldChg>
      <pc:sldMasterChg chg="delSldLayout">
        <pc:chgData name="Katie Owers Bonner" userId="031be739-2ca3-49bb-9134-32c5274b029d" providerId="ADAL" clId="{A2AFF3C0-B35D-4D35-896C-645D8DA4EEB0}" dt="2026-08-18T15:38:12.932" v="468" actId="47"/>
        <pc:sldMasterMkLst>
          <pc:docMk/>
          <pc:sldMasterMk cId="2621704862" sldId="2147483661"/>
        </pc:sldMasterMkLst>
        <pc:sldLayoutChg chg="del">
          <pc:chgData name="Katie Owers Bonner" userId="031be739-2ca3-49bb-9134-32c5274b029d" providerId="ADAL" clId="{A2AFF3C0-B35D-4D35-896C-645D8DA4EEB0}" dt="2026-08-18T15:38:12.932" v="468" actId="47"/>
          <pc:sldLayoutMkLst>
            <pc:docMk/>
            <pc:sldMasterMk cId="2621704862" sldId="2147483661"/>
            <pc:sldLayoutMk cId="2584189377" sldId="2147483676"/>
          </pc:sldLayoutMkLst>
        </pc:sldLayoutChg>
      </pc:sldMaster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spPr>
            <a:ln w="381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Sheet1!$G$2:$G$14</c:f>
              <c:numCache>
                <c:formatCode>General</c:formatCode>
                <c:ptCount val="13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</c:numCache>
            </c:numRef>
          </c:xVal>
          <c:yVal>
            <c:numRef>
              <c:f>Sheet1!$H$2:$H$14</c:f>
              <c:numCache>
                <c:formatCode>General</c:formatCode>
                <c:ptCount val="13"/>
                <c:pt idx="0">
                  <c:v>1</c:v>
                </c:pt>
                <c:pt idx="1">
                  <c:v>2</c:v>
                </c:pt>
                <c:pt idx="2">
                  <c:v>2.75</c:v>
                </c:pt>
                <c:pt idx="3">
                  <c:v>3.75</c:v>
                </c:pt>
                <c:pt idx="4">
                  <c:v>4.5</c:v>
                </c:pt>
                <c:pt idx="5">
                  <c:v>5.25</c:v>
                </c:pt>
                <c:pt idx="6">
                  <c:v>5.5</c:v>
                </c:pt>
                <c:pt idx="7">
                  <c:v>5.25</c:v>
                </c:pt>
                <c:pt idx="8">
                  <c:v>4.5</c:v>
                </c:pt>
                <c:pt idx="9">
                  <c:v>3.75</c:v>
                </c:pt>
                <c:pt idx="10">
                  <c:v>2.75</c:v>
                </c:pt>
                <c:pt idx="11">
                  <c:v>2</c:v>
                </c:pt>
                <c:pt idx="12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F599-4DCB-8CDA-C1C70226653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27621184"/>
        <c:axId val="327617824"/>
      </c:scatterChart>
      <c:valAx>
        <c:axId val="327621184"/>
        <c:scaling>
          <c:orientation val="minMax"/>
        </c:scaling>
        <c:delete val="0"/>
        <c:axPos val="b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bg2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27617824"/>
        <c:crosses val="autoZero"/>
        <c:crossBetween val="midCat"/>
      </c:valAx>
      <c:valAx>
        <c:axId val="327617824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bg2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2762118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omments/modernComment_17B_EB9FF45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EDEFB0E-1B4F-45F1-B679-22B3ED17557F}" authorId="{45D1CE9B-DF25-4FEC-06DE-212637DD9CB8}" created="2026-05-18T18:54:13.169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953128533" sldId="379"/>
      <ac:spMk id="142" creationId="{27622303-389D-ABBE-7C5C-93C326E9D9F8}"/>
      <ac:txMk cp="1" len="94">
        <ac:context len="257" hash="1850222488"/>
      </ac:txMk>
    </ac:txMkLst>
    <p188:pos x="9245528" y="549096"/>
    <p188:txBody>
      <a:bodyPr/>
      <a:lstStyle/>
      <a:p>
        <a:r>
          <a:rPr lang="en-US"/>
          <a:t>Not exactly - scatterplots are between variables</a:t>
        </a:r>
      </a:p>
    </p188:txBody>
  </p188:cm>
</p188:cmLst>
</file>

<file path=ppt/comments/modernComment_161_DE98C23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1BBEDD4-5D8E-4A46-8478-85018348240D}" authorId="{45D1CE9B-DF25-4FEC-06DE-212637DD9CB8}" created="2025-12-09T14:57:34.584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734553144" sldId="353"/>
      <ac:spMk id="4" creationId="{29027F2C-64D6-B5C7-8D16-A7C8F92F4D5D}"/>
    </ac:deMkLst>
    <p188:txBody>
      <a:bodyPr/>
      <a:lstStyle/>
      <a:p>
        <a:r>
          <a:rPr lang="en-US"/>
          <a:t>There are white boxes over parts of the table that disappear with clicks (open the animation pane). I moved them to the back so PDFs of the slides would show the whole table, but to reveal correctly as a presentation, be sure to move them back to the front. </a:t>
        </a:r>
      </a:p>
    </p188:txBody>
  </p188:cm>
</p188:cmLst>
</file>

<file path=ppt/comments/modernComment_162_A6C6441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4F68761-1BDB-47D5-A33E-3533AF63D37E}" authorId="{45D1CE9B-DF25-4FEC-06DE-212637DD9CB8}" created="2025-12-17T20:15:33.498">
    <pc:sldMkLst xmlns:pc="http://schemas.microsoft.com/office/powerpoint/2013/main/command">
      <pc:docMk/>
      <pc:sldMk cId="2798011412" sldId="354"/>
    </pc:sldMkLst>
    <p188:txBody>
      <a:bodyPr/>
      <a:lstStyle/>
      <a:p>
        <a:r>
          <a:rPr lang="en-US"/>
          <a:t>Is this something to get into in EDA? This is more involved than simple exploration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9BCB6A-05C9-45C4-8C56-4DA0982723A6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CD22BE-BF9C-4E75-AC94-2D6751883E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136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While people are joining - put something you're looking forward to this month in the chat!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7" name="Google Shape;10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09DADC13-2699-00A3-93AF-6AD015788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>
            <a:extLst>
              <a:ext uri="{FF2B5EF4-FFF2-40B4-BE49-F238E27FC236}">
                <a16:creationId xmlns:a16="http://schemas.microsoft.com/office/drawing/2014/main" id="{5E64E48B-396E-256A-5BCB-5142DD8642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5:notes">
            <a:extLst>
              <a:ext uri="{FF2B5EF4-FFF2-40B4-BE49-F238E27FC236}">
                <a16:creationId xmlns:a16="http://schemas.microsoft.com/office/drawing/2014/main" id="{A2869BC7-2B47-AF38-88CF-ED7B8FCE6F2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304924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>
          <a:extLst>
            <a:ext uri="{FF2B5EF4-FFF2-40B4-BE49-F238E27FC236}">
              <a16:creationId xmlns:a16="http://schemas.microsoft.com/office/drawing/2014/main" id="{2BA011E6-134D-151C-AD28-4AA22971D4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:notes">
            <a:extLst>
              <a:ext uri="{FF2B5EF4-FFF2-40B4-BE49-F238E27FC236}">
                <a16:creationId xmlns:a16="http://schemas.microsoft.com/office/drawing/2014/main" id="{4EFC36F4-02D7-B6FE-07B6-86360A7880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AutoNum type="arabicParenR"/>
            </a:pPr>
            <a:r>
              <a:rPr lang="en-US" dirty="0"/>
              <a:t>what does exploratory data analysis mean to you?</a:t>
            </a:r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AutoNum type="arabicParenR"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2) You have just been given a dataset to analyze. How confident are you in your next steps?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1- Not at all confident - I don't really know where to start.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2 - A little confident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3 - Somewhat confident - I have some ideas and can start playing around with the data.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4 - Pretty confident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5 - Highly confident - I have a plan and know what my next steps are.</a:t>
            </a:r>
          </a:p>
        </p:txBody>
      </p:sp>
      <p:sp>
        <p:nvSpPr>
          <p:cNvPr id="156" name="Google Shape;156;p3:notes">
            <a:extLst>
              <a:ext uri="{FF2B5EF4-FFF2-40B4-BE49-F238E27FC236}">
                <a16:creationId xmlns:a16="http://schemas.microsoft.com/office/drawing/2014/main" id="{236D2ACB-930C-5EAA-9C08-7FC1B263236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404533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>
          <a:extLst>
            <a:ext uri="{FF2B5EF4-FFF2-40B4-BE49-F238E27FC236}">
              <a16:creationId xmlns:a16="http://schemas.microsoft.com/office/drawing/2014/main" id="{69BC706B-0588-BCA5-7FA1-99C780C99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:notes">
            <a:extLst>
              <a:ext uri="{FF2B5EF4-FFF2-40B4-BE49-F238E27FC236}">
                <a16:creationId xmlns:a16="http://schemas.microsoft.com/office/drawing/2014/main" id="{07E39956-98A3-7608-6816-7F2D3C8084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4:notes">
            <a:extLst>
              <a:ext uri="{FF2B5EF4-FFF2-40B4-BE49-F238E27FC236}">
                <a16:creationId xmlns:a16="http://schemas.microsoft.com/office/drawing/2014/main" id="{2D6B694C-2E47-EB98-08A7-8D2760A74AE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901947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2C8219D7-4798-73BC-5B9F-124021007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>
            <a:extLst>
              <a:ext uri="{FF2B5EF4-FFF2-40B4-BE49-F238E27FC236}">
                <a16:creationId xmlns:a16="http://schemas.microsoft.com/office/drawing/2014/main" id="{52A13A83-1059-303F-DB12-FBC39FB25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Note this flow is specific to the data aspects of a project and does not include critical steps like literature review and hypothesis formulation.</a:t>
            </a:r>
            <a:endParaRPr dirty="0"/>
          </a:p>
        </p:txBody>
      </p:sp>
      <p:sp>
        <p:nvSpPr>
          <p:cNvPr id="138" name="Google Shape;138;p5:notes">
            <a:extLst>
              <a:ext uri="{FF2B5EF4-FFF2-40B4-BE49-F238E27FC236}">
                <a16:creationId xmlns:a16="http://schemas.microsoft.com/office/drawing/2014/main" id="{9120B126-7495-ED4D-95AF-D053BF1C5BB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179508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>
          <a:extLst>
            <a:ext uri="{FF2B5EF4-FFF2-40B4-BE49-F238E27FC236}">
              <a16:creationId xmlns:a16="http://schemas.microsoft.com/office/drawing/2014/main" id="{F5C9CD10-B1D8-F984-603A-94E0DF044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:notes">
            <a:extLst>
              <a:ext uri="{FF2B5EF4-FFF2-40B4-BE49-F238E27FC236}">
                <a16:creationId xmlns:a16="http://schemas.microsoft.com/office/drawing/2014/main" id="{342396D7-6680-CCFA-F959-A128CA0B82A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4:notes">
            <a:extLst>
              <a:ext uri="{FF2B5EF4-FFF2-40B4-BE49-F238E27FC236}">
                <a16:creationId xmlns:a16="http://schemas.microsoft.com/office/drawing/2014/main" id="{584595CD-9CB7-C7DF-B951-B98CC236FA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730178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630D9D44-15EA-9856-047B-24CF9CF1D6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>
            <a:extLst>
              <a:ext uri="{FF2B5EF4-FFF2-40B4-BE49-F238E27FC236}">
                <a16:creationId xmlns:a16="http://schemas.microsoft.com/office/drawing/2014/main" id="{36C89CF9-CD24-455E-0E29-C1311D8D1FB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kern="0" dirty="0">
                <a:solidFill>
                  <a:srgbClr val="12312B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You need to know several things before you start working with a dataset.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0" dirty="0">
                <a:solidFill>
                  <a:srgbClr val="12312B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If you don’t know these things, you don’t know if or how to use the data to answer your question(s)</a:t>
            </a:r>
            <a:endParaRPr lang="en-US" sz="1200" kern="0" dirty="0">
              <a:solidFill>
                <a:srgbClr val="12312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8" name="Google Shape;138;p5:notes">
            <a:extLst>
              <a:ext uri="{FF2B5EF4-FFF2-40B4-BE49-F238E27FC236}">
                <a16:creationId xmlns:a16="http://schemas.microsoft.com/office/drawing/2014/main" id="{13B6F075-54AC-59A4-DF80-1AF4AB81E11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021624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2C8219D7-4798-73BC-5B9F-124021007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>
            <a:extLst>
              <a:ext uri="{FF2B5EF4-FFF2-40B4-BE49-F238E27FC236}">
                <a16:creationId xmlns:a16="http://schemas.microsoft.com/office/drawing/2014/main" id="{52A13A83-1059-303F-DB12-FBC39FB25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kern="0" dirty="0">
                <a:solidFill>
                  <a:srgbClr val="12312B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You need to know several things before you start working with a dataset.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0" dirty="0">
                <a:solidFill>
                  <a:srgbClr val="12312B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If you don’t know these things, you don’t know if or how to use the data to answer your question(s)</a:t>
            </a:r>
            <a:endParaRPr lang="en-US" sz="1200" kern="0" dirty="0">
              <a:solidFill>
                <a:srgbClr val="12312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8" name="Google Shape;138;p5:notes">
            <a:extLst>
              <a:ext uri="{FF2B5EF4-FFF2-40B4-BE49-F238E27FC236}">
                <a16:creationId xmlns:a16="http://schemas.microsoft.com/office/drawing/2014/main" id="{9120B126-7495-ED4D-95AF-D053BF1C5BB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179508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>
          <a:extLst>
            <a:ext uri="{FF2B5EF4-FFF2-40B4-BE49-F238E27FC236}">
              <a16:creationId xmlns:a16="http://schemas.microsoft.com/office/drawing/2014/main" id="{536A4A2C-BCC0-31FF-FC65-AF3CE8109B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:notes">
            <a:extLst>
              <a:ext uri="{FF2B5EF4-FFF2-40B4-BE49-F238E27FC236}">
                <a16:creationId xmlns:a16="http://schemas.microsoft.com/office/drawing/2014/main" id="{24366FAE-32CA-0B0E-824F-59DAE9A763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4:notes">
            <a:extLst>
              <a:ext uri="{FF2B5EF4-FFF2-40B4-BE49-F238E27FC236}">
                <a16:creationId xmlns:a16="http://schemas.microsoft.com/office/drawing/2014/main" id="{0714B48B-FFE7-1595-2492-5E440CE00A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175555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3792C3CD-23F7-E86F-A38C-52BF35456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>
            <a:extLst>
              <a:ext uri="{FF2B5EF4-FFF2-40B4-BE49-F238E27FC236}">
                <a16:creationId xmlns:a16="http://schemas.microsoft.com/office/drawing/2014/main" id="{8B53C361-DFF8-DAD2-DBCE-30BBEBE99E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5:notes">
            <a:extLst>
              <a:ext uri="{FF2B5EF4-FFF2-40B4-BE49-F238E27FC236}">
                <a16:creationId xmlns:a16="http://schemas.microsoft.com/office/drawing/2014/main" id="{EB1DAEEF-C962-0788-9775-E129E4E07F4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969482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B2AE78D1-FD3F-FEE6-C60F-9310746F2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>
            <a:extLst>
              <a:ext uri="{FF2B5EF4-FFF2-40B4-BE49-F238E27FC236}">
                <a16:creationId xmlns:a16="http://schemas.microsoft.com/office/drawing/2014/main" id="{9513B877-D5C4-B7AD-D3EF-5D0861231C4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 everything I talk about will apply to all datasets</a:t>
            </a:r>
            <a:endParaRPr dirty="0"/>
          </a:p>
        </p:txBody>
      </p:sp>
      <p:sp>
        <p:nvSpPr>
          <p:cNvPr id="138" name="Google Shape;138;p5:notes">
            <a:extLst>
              <a:ext uri="{FF2B5EF4-FFF2-40B4-BE49-F238E27FC236}">
                <a16:creationId xmlns:a16="http://schemas.microsoft.com/office/drawing/2014/main" id="{4A9611FB-285A-5441-6470-6CAEC6099A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751134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3A07E4E5-A08E-D0CA-EB3F-438BD16BEF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>
            <a:extLst>
              <a:ext uri="{FF2B5EF4-FFF2-40B4-BE49-F238E27FC236}">
                <a16:creationId xmlns:a16="http://schemas.microsoft.com/office/drawing/2014/main" id="{8889A41A-1A96-7F3B-B8BA-395A6960D2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kern="0" dirty="0">
                <a:solidFill>
                  <a:srgbClr val="12312B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You need to know several things before you start working with a dataset.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0" dirty="0">
                <a:solidFill>
                  <a:srgbClr val="12312B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If you don’t know these things, you don’t know if or how to use the data to answer your question(s)</a:t>
            </a:r>
            <a:endParaRPr lang="en-US" sz="1200" kern="0" dirty="0">
              <a:solidFill>
                <a:srgbClr val="12312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8" name="Google Shape;138;p5:notes">
            <a:extLst>
              <a:ext uri="{FF2B5EF4-FFF2-40B4-BE49-F238E27FC236}">
                <a16:creationId xmlns:a16="http://schemas.microsoft.com/office/drawing/2014/main" id="{D1256B95-374D-F439-E609-7426793BED0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2464343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B66D1B45-C487-456F-3513-9E1648118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>
            <a:extLst>
              <a:ext uri="{FF2B5EF4-FFF2-40B4-BE49-F238E27FC236}">
                <a16:creationId xmlns:a16="http://schemas.microsoft.com/office/drawing/2014/main" id="{DC2ACC48-826E-E3C4-9783-BC75D7126D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5:notes">
            <a:extLst>
              <a:ext uri="{FF2B5EF4-FFF2-40B4-BE49-F238E27FC236}">
                <a16:creationId xmlns:a16="http://schemas.microsoft.com/office/drawing/2014/main" id="{6617B4F1-1254-F7A1-2203-C8154A6DBF6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780952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>
          <a:extLst>
            <a:ext uri="{FF2B5EF4-FFF2-40B4-BE49-F238E27FC236}">
              <a16:creationId xmlns:a16="http://schemas.microsoft.com/office/drawing/2014/main" id="{496111B2-86A8-BBA5-42BA-585ECCC6B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:notes">
            <a:extLst>
              <a:ext uri="{FF2B5EF4-FFF2-40B4-BE49-F238E27FC236}">
                <a16:creationId xmlns:a16="http://schemas.microsoft.com/office/drawing/2014/main" id="{B24ADCD6-0EB4-322B-A391-7C9779FDA3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4:notes">
            <a:extLst>
              <a:ext uri="{FF2B5EF4-FFF2-40B4-BE49-F238E27FC236}">
                <a16:creationId xmlns:a16="http://schemas.microsoft.com/office/drawing/2014/main" id="{23C8E68D-3369-08A9-8DBB-DF09FC4ACC7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3984373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503E8366-00AC-7283-F748-0CA8472F2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>
            <a:extLst>
              <a:ext uri="{FF2B5EF4-FFF2-40B4-BE49-F238E27FC236}">
                <a16:creationId xmlns:a16="http://schemas.microsoft.com/office/drawing/2014/main" id="{95723B5E-812A-3BB1-6060-0C5E1412F6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5:notes">
            <a:extLst>
              <a:ext uri="{FF2B5EF4-FFF2-40B4-BE49-F238E27FC236}">
                <a16:creationId xmlns:a16="http://schemas.microsoft.com/office/drawing/2014/main" id="{BDC7295B-7554-42A3-0747-F06B4FEE4BB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7420785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A3B20BA8-B11D-1276-EB62-7037F4448F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>
            <a:extLst>
              <a:ext uri="{FF2B5EF4-FFF2-40B4-BE49-F238E27FC236}">
                <a16:creationId xmlns:a16="http://schemas.microsoft.com/office/drawing/2014/main" id="{5EC882E3-B62C-43BC-967B-D5C0D4F95A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5:notes">
            <a:extLst>
              <a:ext uri="{FF2B5EF4-FFF2-40B4-BE49-F238E27FC236}">
                <a16:creationId xmlns:a16="http://schemas.microsoft.com/office/drawing/2014/main" id="{6D282EA1-36B9-CB06-33E5-233CD9E8B95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2504595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543DA498-E015-8298-26C0-090001F259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>
            <a:extLst>
              <a:ext uri="{FF2B5EF4-FFF2-40B4-BE49-F238E27FC236}">
                <a16:creationId xmlns:a16="http://schemas.microsoft.com/office/drawing/2014/main" id="{3CF8CCA7-7F9B-40B4-CE11-C745A6BEA1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5:notes">
            <a:extLst>
              <a:ext uri="{FF2B5EF4-FFF2-40B4-BE49-F238E27FC236}">
                <a16:creationId xmlns:a16="http://schemas.microsoft.com/office/drawing/2014/main" id="{C622CD28-19E9-BC7D-A0ED-4ACD542922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9118433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C0CE8FB2-26C4-E546-C125-EA84791768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>
            <a:extLst>
              <a:ext uri="{FF2B5EF4-FFF2-40B4-BE49-F238E27FC236}">
                <a16:creationId xmlns:a16="http://schemas.microsoft.com/office/drawing/2014/main" id="{CE3747A9-DABF-8EBD-798F-65E6D1BAFC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8" name="Google Shape;138;p5:notes">
            <a:extLst>
              <a:ext uri="{FF2B5EF4-FFF2-40B4-BE49-F238E27FC236}">
                <a16:creationId xmlns:a16="http://schemas.microsoft.com/office/drawing/2014/main" id="{73AD0362-6D3A-4A48-A103-874E0F2386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569707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>
          <a:extLst>
            <a:ext uri="{FF2B5EF4-FFF2-40B4-BE49-F238E27FC236}">
              <a16:creationId xmlns:a16="http://schemas.microsoft.com/office/drawing/2014/main" id="{1BCB57BC-E53C-76BA-154E-E5C4FF76CE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:notes">
            <a:extLst>
              <a:ext uri="{FF2B5EF4-FFF2-40B4-BE49-F238E27FC236}">
                <a16:creationId xmlns:a16="http://schemas.microsoft.com/office/drawing/2014/main" id="{C9A30F1D-AE3C-7C94-5B10-0A76313518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4:notes">
            <a:extLst>
              <a:ext uri="{FF2B5EF4-FFF2-40B4-BE49-F238E27FC236}">
                <a16:creationId xmlns:a16="http://schemas.microsoft.com/office/drawing/2014/main" id="{D1A66CE5-61EF-0EE3-D4C9-46B57C3FE8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4818572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635E225E-1B92-CA9F-0560-28A822ADC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>
            <a:extLst>
              <a:ext uri="{FF2B5EF4-FFF2-40B4-BE49-F238E27FC236}">
                <a16:creationId xmlns:a16="http://schemas.microsoft.com/office/drawing/2014/main" id="{DA44A782-D005-4404-4F2B-8DB8F810710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5:notes">
            <a:extLst>
              <a:ext uri="{FF2B5EF4-FFF2-40B4-BE49-F238E27FC236}">
                <a16:creationId xmlns:a16="http://schemas.microsoft.com/office/drawing/2014/main" id="{81A84CFD-48CA-2EDA-83E8-4E69A14E528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5193471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78ADACFF-6197-A4D4-D496-9CE7ACDEE1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>
            <a:extLst>
              <a:ext uri="{FF2B5EF4-FFF2-40B4-BE49-F238E27FC236}">
                <a16:creationId xmlns:a16="http://schemas.microsoft.com/office/drawing/2014/main" id="{2381B4BC-7E51-FFAA-B60E-2295CD383E4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8" name="Google Shape;138;p5:notes">
            <a:extLst>
              <a:ext uri="{FF2B5EF4-FFF2-40B4-BE49-F238E27FC236}">
                <a16:creationId xmlns:a16="http://schemas.microsoft.com/office/drawing/2014/main" id="{F1867B73-5EC5-2004-7830-B66C3089340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8019940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EAE84D93-88D6-8752-A873-EBBD0332F2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>
            <a:extLst>
              <a:ext uri="{FF2B5EF4-FFF2-40B4-BE49-F238E27FC236}">
                <a16:creationId xmlns:a16="http://schemas.microsoft.com/office/drawing/2014/main" id="{C15FAF84-0CCE-E1B4-D632-087B6E9A94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5:notes">
            <a:extLst>
              <a:ext uri="{FF2B5EF4-FFF2-40B4-BE49-F238E27FC236}">
                <a16:creationId xmlns:a16="http://schemas.microsoft.com/office/drawing/2014/main" id="{EAA6277F-60BB-60E7-96D0-0D285E424AA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0643008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79AB25BA-FE5D-93BA-05BF-0C96C60F6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>
            <a:extLst>
              <a:ext uri="{FF2B5EF4-FFF2-40B4-BE49-F238E27FC236}">
                <a16:creationId xmlns:a16="http://schemas.microsoft.com/office/drawing/2014/main" id="{B3CEACA2-960C-8D0D-F191-918590A428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5:notes">
            <a:extLst>
              <a:ext uri="{FF2B5EF4-FFF2-40B4-BE49-F238E27FC236}">
                <a16:creationId xmlns:a16="http://schemas.microsoft.com/office/drawing/2014/main" id="{41AA9574-2484-9656-219E-4A7BC989E6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6568389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BEB2650E-9DBD-1510-C178-C1EF20B362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>
            <a:extLst>
              <a:ext uri="{FF2B5EF4-FFF2-40B4-BE49-F238E27FC236}">
                <a16:creationId xmlns:a16="http://schemas.microsoft.com/office/drawing/2014/main" id="{6DC0CB1C-8822-5BAE-7462-317AAD24B8B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5:notes">
            <a:extLst>
              <a:ext uri="{FF2B5EF4-FFF2-40B4-BE49-F238E27FC236}">
                <a16:creationId xmlns:a16="http://schemas.microsoft.com/office/drawing/2014/main" id="{E0385EBB-6432-FFBA-B747-83B45A6BB1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4404513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Are any important variables missing entirely? Does the arrangement of the data work (i.e. do you have a timeseries kind of question and the data aren’t there?)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CD22BE-BF9C-4E75-AC94-2D6751883E45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36768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>
          <a:extLst>
            <a:ext uri="{FF2B5EF4-FFF2-40B4-BE49-F238E27FC236}">
              <a16:creationId xmlns:a16="http://schemas.microsoft.com/office/drawing/2014/main" id="{C78F6840-D7C8-6E75-F177-8B5B608E78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:notes">
            <a:extLst>
              <a:ext uri="{FF2B5EF4-FFF2-40B4-BE49-F238E27FC236}">
                <a16:creationId xmlns:a16="http://schemas.microsoft.com/office/drawing/2014/main" id="{3C1159EE-E2E6-64C0-B986-4BAF830E057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4:notes">
            <a:extLst>
              <a:ext uri="{FF2B5EF4-FFF2-40B4-BE49-F238E27FC236}">
                <a16:creationId xmlns:a16="http://schemas.microsoft.com/office/drawing/2014/main" id="{FE3532F2-A3A2-FAC9-B8FD-7F20A6DA3F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7626038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3DDDAE9B-7E0E-637E-B4DD-2EAA9EF68B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>
            <a:extLst>
              <a:ext uri="{FF2B5EF4-FFF2-40B4-BE49-F238E27FC236}">
                <a16:creationId xmlns:a16="http://schemas.microsoft.com/office/drawing/2014/main" id="{A11EB04C-929B-924C-5B65-CC20657905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8" name="Google Shape;138;p5:notes">
            <a:extLst>
              <a:ext uri="{FF2B5EF4-FFF2-40B4-BE49-F238E27FC236}">
                <a16:creationId xmlns:a16="http://schemas.microsoft.com/office/drawing/2014/main" id="{43EC3703-FB28-31B6-C5DD-2408E688810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8138137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9FCB34A4-0A8C-FD8A-9B60-9AC591BBBA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>
            <a:extLst>
              <a:ext uri="{FF2B5EF4-FFF2-40B4-BE49-F238E27FC236}">
                <a16:creationId xmlns:a16="http://schemas.microsoft.com/office/drawing/2014/main" id="{3D7764BD-42CA-0958-0859-DD378392F4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8" name="Google Shape;138;p5:notes">
            <a:extLst>
              <a:ext uri="{FF2B5EF4-FFF2-40B4-BE49-F238E27FC236}">
                <a16:creationId xmlns:a16="http://schemas.microsoft.com/office/drawing/2014/main" id="{87AE73BE-FD8E-98E8-9EE8-6C09C2B575D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3327768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5A8E0682-8191-6716-261C-FB6E487ED5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>
            <a:extLst>
              <a:ext uri="{FF2B5EF4-FFF2-40B4-BE49-F238E27FC236}">
                <a16:creationId xmlns:a16="http://schemas.microsoft.com/office/drawing/2014/main" id="{A5418641-2AA0-3FC7-B1F9-B713625A0E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5:notes">
            <a:extLst>
              <a:ext uri="{FF2B5EF4-FFF2-40B4-BE49-F238E27FC236}">
                <a16:creationId xmlns:a16="http://schemas.microsoft.com/office/drawing/2014/main" id="{66AD0F02-9E31-2323-CB9E-B0836853BA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6286735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BAF52D90-8F08-BCCE-A101-1E02EDC50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>
            <a:extLst>
              <a:ext uri="{FF2B5EF4-FFF2-40B4-BE49-F238E27FC236}">
                <a16:creationId xmlns:a16="http://schemas.microsoft.com/office/drawing/2014/main" id="{80F324F8-D2AF-E770-82CE-B1F9FF905D4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5:notes">
            <a:extLst>
              <a:ext uri="{FF2B5EF4-FFF2-40B4-BE49-F238E27FC236}">
                <a16:creationId xmlns:a16="http://schemas.microsoft.com/office/drawing/2014/main" id="{0CB08AC2-0A8C-E8DA-98DE-8DCFFC5DF90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1500046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403DBDEE-9F6B-EB32-AD4D-877338B330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>
            <a:extLst>
              <a:ext uri="{FF2B5EF4-FFF2-40B4-BE49-F238E27FC236}">
                <a16:creationId xmlns:a16="http://schemas.microsoft.com/office/drawing/2014/main" id="{88EFF93F-5DA7-EF80-3E3A-5F8BF9C91A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Scatterplots, like histograms, are great for looking at the distributions of variables</a:t>
            </a:r>
            <a:endParaRPr dirty="0"/>
          </a:p>
        </p:txBody>
      </p:sp>
      <p:sp>
        <p:nvSpPr>
          <p:cNvPr id="138" name="Google Shape;138;p5:notes">
            <a:extLst>
              <a:ext uri="{FF2B5EF4-FFF2-40B4-BE49-F238E27FC236}">
                <a16:creationId xmlns:a16="http://schemas.microsoft.com/office/drawing/2014/main" id="{0E55287A-3804-A484-4D33-1204EB916B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2021948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E637E4D6-A3C1-BB15-4525-8238759D80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>
            <a:extLst>
              <a:ext uri="{FF2B5EF4-FFF2-40B4-BE49-F238E27FC236}">
                <a16:creationId xmlns:a16="http://schemas.microsoft.com/office/drawing/2014/main" id="{FA0C0FCB-CD8D-63B5-3C5D-FECBD3C945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5:notes">
            <a:extLst>
              <a:ext uri="{FF2B5EF4-FFF2-40B4-BE49-F238E27FC236}">
                <a16:creationId xmlns:a16="http://schemas.microsoft.com/office/drawing/2014/main" id="{42A0829F-FC28-7C81-FC78-78DB9CD7717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6016672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0A013290-DEC4-CB39-E194-0A0588AA7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>
            <a:extLst>
              <a:ext uri="{FF2B5EF4-FFF2-40B4-BE49-F238E27FC236}">
                <a16:creationId xmlns:a16="http://schemas.microsoft.com/office/drawing/2014/main" id="{CD4F4A22-2C13-AA4D-7CE2-2F1794EED4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8" name="Google Shape;138;p5:notes">
            <a:extLst>
              <a:ext uri="{FF2B5EF4-FFF2-40B4-BE49-F238E27FC236}">
                <a16:creationId xmlns:a16="http://schemas.microsoft.com/office/drawing/2014/main" id="{3585CB5E-3B85-43A5-9243-2AF34FBDA39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0440029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7EB9DEA9-5DD2-E7D9-DA8F-5819B7550C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>
            <a:extLst>
              <a:ext uri="{FF2B5EF4-FFF2-40B4-BE49-F238E27FC236}">
                <a16:creationId xmlns:a16="http://schemas.microsoft.com/office/drawing/2014/main" id="{EA5832FF-42B5-4AE8-C909-E012E3DE0F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8" name="Google Shape;138;p5:notes">
            <a:extLst>
              <a:ext uri="{FF2B5EF4-FFF2-40B4-BE49-F238E27FC236}">
                <a16:creationId xmlns:a16="http://schemas.microsoft.com/office/drawing/2014/main" id="{B40A6A34-4C78-9FB9-FFC0-8FA9363D6D2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8735758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B43CCABD-CABF-6109-882C-3898DA227D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>
            <a:extLst>
              <a:ext uri="{FF2B5EF4-FFF2-40B4-BE49-F238E27FC236}">
                <a16:creationId xmlns:a16="http://schemas.microsoft.com/office/drawing/2014/main" id="{C5E2E9DA-BF1C-63DC-2D27-93AA3C1CA7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8" name="Google Shape;138;p5:notes">
            <a:extLst>
              <a:ext uri="{FF2B5EF4-FFF2-40B4-BE49-F238E27FC236}">
                <a16:creationId xmlns:a16="http://schemas.microsoft.com/office/drawing/2014/main" id="{9A5B8DCD-85E5-ACD7-92EC-16DC0B0FB0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0712341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AC131D21-1E15-CD83-2D0C-36670E3383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>
            <a:extLst>
              <a:ext uri="{FF2B5EF4-FFF2-40B4-BE49-F238E27FC236}">
                <a16:creationId xmlns:a16="http://schemas.microsoft.com/office/drawing/2014/main" id="{C7879460-97D0-C453-9F18-64343F3DEE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8" name="Google Shape;138;p5:notes">
            <a:extLst>
              <a:ext uri="{FF2B5EF4-FFF2-40B4-BE49-F238E27FC236}">
                <a16:creationId xmlns:a16="http://schemas.microsoft.com/office/drawing/2014/main" id="{58E6C661-4816-74AF-8006-6E3AE8190E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2760115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78A2525B-1BAB-3826-B68C-C6ED4A8F4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>
            <a:extLst>
              <a:ext uri="{FF2B5EF4-FFF2-40B4-BE49-F238E27FC236}">
                <a16:creationId xmlns:a16="http://schemas.microsoft.com/office/drawing/2014/main" id="{7DF99B15-5D0D-CF54-0BD2-78E47202E3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8" name="Google Shape;138;p5:notes">
            <a:extLst>
              <a:ext uri="{FF2B5EF4-FFF2-40B4-BE49-F238E27FC236}">
                <a16:creationId xmlns:a16="http://schemas.microsoft.com/office/drawing/2014/main" id="{0FD8E6BC-2BE2-B467-2F05-948E877B6C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9281645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D241AFAF-496E-C83D-3859-F7F3CD7FA1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>
            <a:extLst>
              <a:ext uri="{FF2B5EF4-FFF2-40B4-BE49-F238E27FC236}">
                <a16:creationId xmlns:a16="http://schemas.microsoft.com/office/drawing/2014/main" id="{4905E198-4C62-014B-00E2-BC0E8FB55F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8" name="Google Shape;138;p5:notes">
            <a:extLst>
              <a:ext uri="{FF2B5EF4-FFF2-40B4-BE49-F238E27FC236}">
                <a16:creationId xmlns:a16="http://schemas.microsoft.com/office/drawing/2014/main" id="{77856A07-18A6-5115-0890-4F5B5F50832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7309275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E369CCC3-D45F-389E-C8A1-9E3C27F626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>
            <a:extLst>
              <a:ext uri="{FF2B5EF4-FFF2-40B4-BE49-F238E27FC236}">
                <a16:creationId xmlns:a16="http://schemas.microsoft.com/office/drawing/2014/main" id="{183BCE34-670A-F60A-BA2C-48769BE7D3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8" name="Google Shape;138;p5:notes">
            <a:extLst>
              <a:ext uri="{FF2B5EF4-FFF2-40B4-BE49-F238E27FC236}">
                <a16:creationId xmlns:a16="http://schemas.microsoft.com/office/drawing/2014/main" id="{5C519662-B926-3A8E-3368-D9A79FC6D50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9642927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D687D66E-5789-F2E1-3CB0-6D2CC73028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>
            <a:extLst>
              <a:ext uri="{FF2B5EF4-FFF2-40B4-BE49-F238E27FC236}">
                <a16:creationId xmlns:a16="http://schemas.microsoft.com/office/drawing/2014/main" id="{7AEE6399-EDAF-917F-9744-2901705CDE7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5:notes">
            <a:extLst>
              <a:ext uri="{FF2B5EF4-FFF2-40B4-BE49-F238E27FC236}">
                <a16:creationId xmlns:a16="http://schemas.microsoft.com/office/drawing/2014/main" id="{3BFFBB14-277F-2AB5-F582-B109ADB819D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1726677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3EEE7824-B9D7-BC2A-8B06-4D9AF5EDD8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>
            <a:extLst>
              <a:ext uri="{FF2B5EF4-FFF2-40B4-BE49-F238E27FC236}">
                <a16:creationId xmlns:a16="http://schemas.microsoft.com/office/drawing/2014/main" id="{362EAB8E-196F-B1AC-0911-F9EC7193DFD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8" name="Google Shape;138;p5:notes">
            <a:extLst>
              <a:ext uri="{FF2B5EF4-FFF2-40B4-BE49-F238E27FC236}">
                <a16:creationId xmlns:a16="http://schemas.microsoft.com/office/drawing/2014/main" id="{2AF827D5-1B4F-20C0-B95E-E5DDE0B33B0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1370262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>
          <a:extLst>
            <a:ext uri="{FF2B5EF4-FFF2-40B4-BE49-F238E27FC236}">
              <a16:creationId xmlns:a16="http://schemas.microsoft.com/office/drawing/2014/main" id="{8919B34A-0BD8-B658-D119-FFE4C2749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:notes">
            <a:extLst>
              <a:ext uri="{FF2B5EF4-FFF2-40B4-BE49-F238E27FC236}">
                <a16:creationId xmlns:a16="http://schemas.microsoft.com/office/drawing/2014/main" id="{1ECF25D9-BC37-8191-3DCD-CC42CACD90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4:notes">
            <a:extLst>
              <a:ext uri="{FF2B5EF4-FFF2-40B4-BE49-F238E27FC236}">
                <a16:creationId xmlns:a16="http://schemas.microsoft.com/office/drawing/2014/main" id="{F0F3FBE1-69DE-2029-1246-5533CF3895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00608589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>
          <a:extLst>
            <a:ext uri="{FF2B5EF4-FFF2-40B4-BE49-F238E27FC236}">
              <a16:creationId xmlns:a16="http://schemas.microsoft.com/office/drawing/2014/main" id="{CC97BD73-27AB-4AD2-BD03-D3DD272FE1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>
            <a:extLst>
              <a:ext uri="{FF2B5EF4-FFF2-40B4-BE49-F238E27FC236}">
                <a16:creationId xmlns:a16="http://schemas.microsoft.com/office/drawing/2014/main" id="{85517D47-E44F-E38F-8749-7EFBE02FF7F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5:notes">
            <a:extLst>
              <a:ext uri="{FF2B5EF4-FFF2-40B4-BE49-F238E27FC236}">
                <a16:creationId xmlns:a16="http://schemas.microsoft.com/office/drawing/2014/main" id="{B30B72D2-8521-B232-8770-44DD33B9EC1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2570095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>
          <a:extLst>
            <a:ext uri="{FF2B5EF4-FFF2-40B4-BE49-F238E27FC236}">
              <a16:creationId xmlns:a16="http://schemas.microsoft.com/office/drawing/2014/main" id="{6B7CDAF3-A3E1-F8DC-4BD2-B766AA7BB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:notes">
            <a:extLst>
              <a:ext uri="{FF2B5EF4-FFF2-40B4-BE49-F238E27FC236}">
                <a16:creationId xmlns:a16="http://schemas.microsoft.com/office/drawing/2014/main" id="{1089E331-22DE-2D39-4EB7-E6081ADA57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4:notes">
            <a:extLst>
              <a:ext uri="{FF2B5EF4-FFF2-40B4-BE49-F238E27FC236}">
                <a16:creationId xmlns:a16="http://schemas.microsoft.com/office/drawing/2014/main" id="{CF5F2583-1F65-964A-5065-FC32AED6648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555029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7.png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90AC5-99DB-31B8-8BC3-993B07585C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BC36C6-9142-697C-CB39-B7057F8587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0EC6FB-A9F3-C0CF-5436-DBE814C46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4748DB-6D25-224A-3048-8EFF22FA9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63A5AB-B3E4-4293-CF8D-DA6DAF31B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2F6DB-E6B6-4703-834F-10175180B3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6736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84272F-AC80-7861-E4DF-35A7FFB9C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D9AAE5-D53A-E3D2-65C9-9C0C3B3289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EDD51B-35A6-DC7B-8029-23DFAB4B71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70D6C2-C857-75DD-7A94-F4AEA8DEDE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3CD09E-8C9F-16EA-A186-423159F83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2F6DB-E6B6-4703-834F-10175180B3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7651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A5980-6C8D-6923-1F87-667FD99AD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F05B5D-79BA-008C-4717-5BF5ABB10D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8DF499-C888-A235-A6E8-A813577A8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2C188D-007F-CFF4-8294-15226899D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A933A4-366F-80B6-A34E-CBB937FB7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2F6DB-E6B6-4703-834F-10175180B3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73167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7DEBA-9CBA-1A8D-7218-2CC5428BD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F9DC86-762F-1618-8580-E38264F1BA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DC499E-099B-76B9-58A1-21E8057D78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E271BD-A5C3-F9D1-439B-471E901354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D37A1A-D6F8-7923-BA15-4B4C7DC02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B204BF-26B0-622E-E983-541582ADD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2F6DB-E6B6-4703-834F-10175180B3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0978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638C0-C3D9-E655-0FBD-318426609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70BF89-1571-7020-A6B7-21E8CE1F3D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BF357-38D9-E1D4-CDD8-C3E13C513D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DCFBE2-CDF9-404B-C8AA-F8E6D5EC7B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D1F975-F813-FD9B-4DCF-4985E9B1AB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C9DA69E-8482-F147-447D-55701C12C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310D66-C562-5FF8-40F6-3207E8765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067365-7E7F-ED25-9FB9-CA3AB7D71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2F6DB-E6B6-4703-834F-10175180B3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5709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F0CFD-8F45-23AE-7E1D-C7D98FB02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6CF317-B113-E985-8559-AE845AD640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D20A2F-3D43-75FD-4193-9949179E6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3B67CC-7DDA-2F49-1B45-9C095BB1D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2F6DB-E6B6-4703-834F-10175180B3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2057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983077-85E3-6754-AF11-23526BB89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7A8293A-6D56-28CF-807D-DBE13492E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563639-D2C6-7C4B-A77A-7C8596375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2F6DB-E6B6-4703-834F-10175180B3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3998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853735-2859-676C-4862-A63CC7EBF7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A1352B-1FD0-6DCC-75F6-9F5780E937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43A4ED-9907-9950-8091-88D634157F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3FAF96-7803-6E2F-7E4A-7F8342016E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1D6E87-AB55-AD33-0F7E-4146276FE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F04ADE-B458-7490-9D34-8CFE721DA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2F6DB-E6B6-4703-834F-10175180B3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3605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6664B7-CA35-F9AF-158E-D1E57FF85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6F06683-A988-3389-E854-3F3F600582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56D405-D1F2-3E1E-CAAC-E2AA72BEB0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35954B-74DE-2CF1-A7D2-EDAB657C3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345768-A4D8-0448-B78F-C94FCBA76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6902CC-B769-60C6-4803-C97FF3B3B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2F6DB-E6B6-4703-834F-10175180B3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2403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B62B9-BF0F-FE3D-D867-72E399683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05E3DF-031A-4339-A54E-568BF11A1D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491202-0928-6953-5452-B36AC91AE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DF51A5-17B7-4943-5754-F9AA026B9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9106A8-70E6-43DB-592F-C162AFC96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2F6DB-E6B6-4703-834F-10175180B3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1721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6F6698-DA36-BB51-FBD4-1DA0D8F5F3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13A653-196E-0CD4-7770-A0BC483DC5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465D8E-35B6-D092-E04A-73028A3ACC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849CFB-ADBC-231E-E1B1-FE1924246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624C26-95D0-7609-1954-D93C3CE64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2F6DB-E6B6-4703-834F-10175180B3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4654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losing Slide Basic" type="picTx">
  <p:cSld name="Closing Slide Basic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/>
          <p:nvPr/>
        </p:nvSpPr>
        <p:spPr>
          <a:xfrm>
            <a:off x="10488666" y="-1830709"/>
            <a:ext cx="5199477" cy="5138816"/>
          </a:xfrm>
          <a:custGeom>
            <a:avLst/>
            <a:gdLst/>
            <a:ahLst/>
            <a:cxnLst/>
            <a:rect l="l" t="t" r="r" b="b"/>
            <a:pathLst>
              <a:path w="7799215" h="7708224" extrusionOk="0">
                <a:moveTo>
                  <a:pt x="0" y="0"/>
                </a:moveTo>
                <a:lnTo>
                  <a:pt x="7799215" y="0"/>
                </a:lnTo>
                <a:lnTo>
                  <a:pt x="7799215" y="7708224"/>
                </a:lnTo>
                <a:lnTo>
                  <a:pt x="0" y="77082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16"/>
          <p:cNvSpPr/>
          <p:nvPr/>
        </p:nvSpPr>
        <p:spPr>
          <a:xfrm>
            <a:off x="0" y="0"/>
            <a:ext cx="3046130" cy="1477392"/>
          </a:xfrm>
          <a:custGeom>
            <a:avLst/>
            <a:gdLst/>
            <a:ahLst/>
            <a:cxnLst/>
            <a:rect l="l" t="t" r="r" b="b"/>
            <a:pathLst>
              <a:path w="5729398" h="2744382" extrusionOk="0">
                <a:moveTo>
                  <a:pt x="0" y="0"/>
                </a:moveTo>
                <a:lnTo>
                  <a:pt x="5729398" y="0"/>
                </a:lnTo>
                <a:lnTo>
                  <a:pt x="5729398" y="2744382"/>
                </a:lnTo>
                <a:lnTo>
                  <a:pt x="0" y="27443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29" r="-19"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6"/>
          <p:cNvSpPr txBox="1">
            <a:spLocks noGrp="1"/>
          </p:cNvSpPr>
          <p:nvPr>
            <p:ph type="title"/>
          </p:nvPr>
        </p:nvSpPr>
        <p:spPr>
          <a:xfrm>
            <a:off x="471500" y="2318208"/>
            <a:ext cx="11249000" cy="14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rtl="0">
              <a:spcBef>
                <a:spcPts val="0"/>
              </a:spcBef>
              <a:spcAft>
                <a:spcPts val="0"/>
              </a:spcAft>
              <a:buClr>
                <a:srgbClr val="12312B"/>
              </a:buClr>
              <a:buSzPts val="10000"/>
              <a:buFont typeface="Anton"/>
              <a:buNone/>
              <a:defRPr sz="6667" i="0" u="none" strike="noStrike" cap="none">
                <a:solidFill>
                  <a:srgbClr val="12312B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72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72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72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72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72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72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72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7200"/>
              <a:buNone/>
              <a:defRPr sz="4800"/>
            </a:lvl9pPr>
          </a:lstStyle>
          <a:p>
            <a:endParaRPr/>
          </a:p>
        </p:txBody>
      </p:sp>
      <p:sp>
        <p:nvSpPr>
          <p:cNvPr id="76" name="Google Shape;76;p16"/>
          <p:cNvSpPr/>
          <p:nvPr/>
        </p:nvSpPr>
        <p:spPr>
          <a:xfrm>
            <a:off x="10951344" y="-914048"/>
            <a:ext cx="2135801" cy="2132759"/>
          </a:xfrm>
          <a:custGeom>
            <a:avLst/>
            <a:gdLst/>
            <a:ahLst/>
            <a:cxnLst/>
            <a:rect l="l" t="t" r="r" b="b"/>
            <a:pathLst>
              <a:path w="3203702" h="3199138" extrusionOk="0">
                <a:moveTo>
                  <a:pt x="0" y="0"/>
                </a:moveTo>
                <a:lnTo>
                  <a:pt x="3203702" y="0"/>
                </a:lnTo>
                <a:lnTo>
                  <a:pt x="3203702" y="3199138"/>
                </a:lnTo>
                <a:lnTo>
                  <a:pt x="0" y="31991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6"/>
          <p:cNvSpPr txBox="1">
            <a:spLocks noGrp="1"/>
          </p:cNvSpPr>
          <p:nvPr>
            <p:ph type="body" idx="1"/>
          </p:nvPr>
        </p:nvSpPr>
        <p:spPr>
          <a:xfrm>
            <a:off x="615500" y="3670033"/>
            <a:ext cx="7425600" cy="37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marR="0" lvl="0" indent="-385253" algn="l" rtl="0">
              <a:spcBef>
                <a:spcPts val="427"/>
              </a:spcBef>
              <a:spcAft>
                <a:spcPts val="0"/>
              </a:spcAft>
              <a:buClr>
                <a:srgbClr val="00693D"/>
              </a:buClr>
              <a:buSzPts val="5500"/>
              <a:buFont typeface="Archivo"/>
              <a:buChar char="●"/>
              <a:defRPr sz="3667" b="1" i="0" u="none" strike="noStrike" cap="none">
                <a:solidFill>
                  <a:srgbClr val="00693D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609630" marR="0" lvl="1" indent="-355618" algn="l" rtl="0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chivo SemiBold"/>
              <a:buChar char="○"/>
              <a:defRPr sz="320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marL="914446" marR="0" lvl="2" indent="-292115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chivo Medium"/>
              <a:buChar char="■"/>
              <a:defRPr sz="2200" i="0" u="none" strike="noStrike" cap="none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3pPr>
            <a:lvl4pPr marL="1219261" marR="0" lvl="3" indent="-254013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"/>
              <a:buChar char="●"/>
              <a:defRPr sz="16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L="1524076" marR="0" lvl="4" indent="-241312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chivo SemiBold"/>
              <a:buChar char="○"/>
              <a:defRPr sz="140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marL="1828891" marR="0" lvl="5" indent="-228611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chivo Medium"/>
              <a:buChar char="■"/>
              <a:defRPr sz="1200" i="0" u="none" strike="noStrike" cap="none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6pPr>
            <a:lvl7pPr marL="2133707" marR="0" lvl="6" indent="-211677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  <a:defRPr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L="2438522" marR="0" lvl="7" indent="-203210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○"/>
              <a:defRPr sz="80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L="2743337" marR="0" lvl="8" indent="-203210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■"/>
              <a:defRPr sz="80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052316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een Logo and Grid White Background">
  <p:cSld name="Green Logo and Grid White Background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"/>
          <p:cNvSpPr/>
          <p:nvPr/>
        </p:nvSpPr>
        <p:spPr>
          <a:xfrm>
            <a:off x="10904678" y="-905531"/>
            <a:ext cx="2135801" cy="2132759"/>
          </a:xfrm>
          <a:custGeom>
            <a:avLst/>
            <a:gdLst/>
            <a:ahLst/>
            <a:cxnLst/>
            <a:rect l="l" t="t" r="r" b="b"/>
            <a:pathLst>
              <a:path w="3203702" h="3199138" extrusionOk="0">
                <a:moveTo>
                  <a:pt x="0" y="0"/>
                </a:moveTo>
                <a:lnTo>
                  <a:pt x="3203702" y="0"/>
                </a:lnTo>
                <a:lnTo>
                  <a:pt x="3203702" y="3199138"/>
                </a:lnTo>
                <a:lnTo>
                  <a:pt x="0" y="31991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4"/>
          <p:cNvSpPr/>
          <p:nvPr/>
        </p:nvSpPr>
        <p:spPr>
          <a:xfrm>
            <a:off x="0" y="0"/>
            <a:ext cx="1518291" cy="736409"/>
          </a:xfrm>
          <a:custGeom>
            <a:avLst/>
            <a:gdLst/>
            <a:ahLst/>
            <a:cxnLst/>
            <a:rect l="l" t="t" r="r" b="b"/>
            <a:pathLst>
              <a:path w="5729398" h="2744382" extrusionOk="0">
                <a:moveTo>
                  <a:pt x="0" y="0"/>
                </a:moveTo>
                <a:lnTo>
                  <a:pt x="5729398" y="0"/>
                </a:lnTo>
                <a:lnTo>
                  <a:pt x="5729398" y="2744382"/>
                </a:lnTo>
                <a:lnTo>
                  <a:pt x="0" y="27443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29" r="-19"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035473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hite Logo and Grid Green Background" type="blank">
  <p:cSld name="White Logo and Grid Green Background">
    <p:bg>
      <p:bgPr>
        <a:solidFill>
          <a:schemeClr val="dk2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11054028" y="-829014"/>
            <a:ext cx="2135801" cy="2132759"/>
          </a:xfrm>
          <a:custGeom>
            <a:avLst/>
            <a:gdLst/>
            <a:ahLst/>
            <a:cxnLst/>
            <a:rect l="l" t="t" r="r" b="b"/>
            <a:pathLst>
              <a:path w="3203702" h="3199138" extrusionOk="0">
                <a:moveTo>
                  <a:pt x="0" y="0"/>
                </a:moveTo>
                <a:lnTo>
                  <a:pt x="3203702" y="0"/>
                </a:lnTo>
                <a:lnTo>
                  <a:pt x="3203702" y="3199138"/>
                </a:lnTo>
                <a:lnTo>
                  <a:pt x="0" y="31991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0;p2"/>
          <p:cNvSpPr/>
          <p:nvPr/>
        </p:nvSpPr>
        <p:spPr>
          <a:xfrm>
            <a:off x="1" y="0"/>
            <a:ext cx="1909799" cy="955960"/>
          </a:xfrm>
          <a:custGeom>
            <a:avLst/>
            <a:gdLst/>
            <a:ahLst/>
            <a:cxnLst/>
            <a:rect l="l" t="t" r="r" b="b"/>
            <a:pathLst>
              <a:path w="5729398" h="2744382" extrusionOk="0">
                <a:moveTo>
                  <a:pt x="0" y="0"/>
                </a:moveTo>
                <a:lnTo>
                  <a:pt x="5729398" y="0"/>
                </a:lnTo>
                <a:lnTo>
                  <a:pt x="5729398" y="2744382"/>
                </a:lnTo>
                <a:lnTo>
                  <a:pt x="0" y="27443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4455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een Logo and Grid White Background">
  <p:cSld name="Green Logo and Grid White Background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"/>
          <p:cNvSpPr/>
          <p:nvPr/>
        </p:nvSpPr>
        <p:spPr>
          <a:xfrm>
            <a:off x="10904678" y="-905531"/>
            <a:ext cx="2135801" cy="2132759"/>
          </a:xfrm>
          <a:custGeom>
            <a:avLst/>
            <a:gdLst/>
            <a:ahLst/>
            <a:cxnLst/>
            <a:rect l="l" t="t" r="r" b="b"/>
            <a:pathLst>
              <a:path w="3203702" h="3199138" extrusionOk="0">
                <a:moveTo>
                  <a:pt x="0" y="0"/>
                </a:moveTo>
                <a:lnTo>
                  <a:pt x="3203702" y="0"/>
                </a:lnTo>
                <a:lnTo>
                  <a:pt x="3203702" y="3199138"/>
                </a:lnTo>
                <a:lnTo>
                  <a:pt x="0" y="31991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4"/>
          <p:cNvSpPr/>
          <p:nvPr/>
        </p:nvSpPr>
        <p:spPr>
          <a:xfrm>
            <a:off x="0" y="0"/>
            <a:ext cx="1518291" cy="736409"/>
          </a:xfrm>
          <a:custGeom>
            <a:avLst/>
            <a:gdLst/>
            <a:ahLst/>
            <a:cxnLst/>
            <a:rect l="l" t="t" r="r" b="b"/>
            <a:pathLst>
              <a:path w="5729398" h="2744382" extrusionOk="0">
                <a:moveTo>
                  <a:pt x="0" y="0"/>
                </a:moveTo>
                <a:lnTo>
                  <a:pt x="5729398" y="0"/>
                </a:lnTo>
                <a:lnTo>
                  <a:pt x="5729398" y="2744382"/>
                </a:lnTo>
                <a:lnTo>
                  <a:pt x="0" y="27443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29" r="-19"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185800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ogo and Blue Swish Option 1">
  <p:cSld name="Logo and Blue Swish Option 1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5"/>
          <p:cNvSpPr/>
          <p:nvPr/>
        </p:nvSpPr>
        <p:spPr>
          <a:xfrm>
            <a:off x="9962086" y="3353950"/>
            <a:ext cx="5199477" cy="5138816"/>
          </a:xfrm>
          <a:custGeom>
            <a:avLst/>
            <a:gdLst/>
            <a:ahLst/>
            <a:cxnLst/>
            <a:rect l="l" t="t" r="r" b="b"/>
            <a:pathLst>
              <a:path w="7799215" h="7708224" extrusionOk="0">
                <a:moveTo>
                  <a:pt x="0" y="0"/>
                </a:moveTo>
                <a:lnTo>
                  <a:pt x="7799215" y="0"/>
                </a:lnTo>
                <a:lnTo>
                  <a:pt x="7799215" y="7708224"/>
                </a:lnTo>
                <a:lnTo>
                  <a:pt x="0" y="77082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5"/>
          <p:cNvSpPr/>
          <p:nvPr/>
        </p:nvSpPr>
        <p:spPr>
          <a:xfrm>
            <a:off x="0" y="0"/>
            <a:ext cx="1518291" cy="736409"/>
          </a:xfrm>
          <a:custGeom>
            <a:avLst/>
            <a:gdLst/>
            <a:ahLst/>
            <a:cxnLst/>
            <a:rect l="l" t="t" r="r" b="b"/>
            <a:pathLst>
              <a:path w="5729398" h="2744382" extrusionOk="0">
                <a:moveTo>
                  <a:pt x="0" y="0"/>
                </a:moveTo>
                <a:lnTo>
                  <a:pt x="5729398" y="0"/>
                </a:lnTo>
                <a:lnTo>
                  <a:pt x="5729398" y="2744382"/>
                </a:lnTo>
                <a:lnTo>
                  <a:pt x="0" y="27443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29" r="-19"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906757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ogo and Blue Swish Option 2">
  <p:cSld name="Logo and Blue Swish Option 2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6"/>
          <p:cNvSpPr/>
          <p:nvPr/>
        </p:nvSpPr>
        <p:spPr>
          <a:xfrm>
            <a:off x="-1016265" y="-1926417"/>
            <a:ext cx="5199477" cy="5138816"/>
          </a:xfrm>
          <a:custGeom>
            <a:avLst/>
            <a:gdLst/>
            <a:ahLst/>
            <a:cxnLst/>
            <a:rect l="l" t="t" r="r" b="b"/>
            <a:pathLst>
              <a:path w="7799215" h="7708224" extrusionOk="0">
                <a:moveTo>
                  <a:pt x="0" y="0"/>
                </a:moveTo>
                <a:lnTo>
                  <a:pt x="7799215" y="0"/>
                </a:lnTo>
                <a:lnTo>
                  <a:pt x="7799215" y="7708224"/>
                </a:lnTo>
                <a:lnTo>
                  <a:pt x="0" y="77082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6"/>
          <p:cNvSpPr/>
          <p:nvPr/>
        </p:nvSpPr>
        <p:spPr>
          <a:xfrm>
            <a:off x="10673717" y="6121584"/>
            <a:ext cx="1518291" cy="736409"/>
          </a:xfrm>
          <a:custGeom>
            <a:avLst/>
            <a:gdLst/>
            <a:ahLst/>
            <a:cxnLst/>
            <a:rect l="l" t="t" r="r" b="b"/>
            <a:pathLst>
              <a:path w="5729398" h="2744382" extrusionOk="0">
                <a:moveTo>
                  <a:pt x="0" y="0"/>
                </a:moveTo>
                <a:lnTo>
                  <a:pt x="5729398" y="0"/>
                </a:lnTo>
                <a:lnTo>
                  <a:pt x="5729398" y="2744382"/>
                </a:lnTo>
                <a:lnTo>
                  <a:pt x="0" y="27443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29" r="-19"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1473945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bg>
      <p:bgPr>
        <a:solidFill>
          <a:schemeClr val="lt1"/>
        </a:soli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7"/>
          <p:cNvSpPr/>
          <p:nvPr/>
        </p:nvSpPr>
        <p:spPr>
          <a:xfrm>
            <a:off x="-570831" y="2964183"/>
            <a:ext cx="5199477" cy="5138816"/>
          </a:xfrm>
          <a:custGeom>
            <a:avLst/>
            <a:gdLst/>
            <a:ahLst/>
            <a:cxnLst/>
            <a:rect l="l" t="t" r="r" b="b"/>
            <a:pathLst>
              <a:path w="7799215" h="7708224" extrusionOk="0">
                <a:moveTo>
                  <a:pt x="0" y="0"/>
                </a:moveTo>
                <a:lnTo>
                  <a:pt x="7799215" y="0"/>
                </a:lnTo>
                <a:lnTo>
                  <a:pt x="7799215" y="7708224"/>
                </a:lnTo>
                <a:lnTo>
                  <a:pt x="0" y="77082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7"/>
          <p:cNvSpPr txBox="1">
            <a:spLocks noGrp="1"/>
          </p:cNvSpPr>
          <p:nvPr>
            <p:ph type="title"/>
          </p:nvPr>
        </p:nvSpPr>
        <p:spPr>
          <a:xfrm>
            <a:off x="784667" y="1922964"/>
            <a:ext cx="112490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0"/>
              <a:buFont typeface="Anton"/>
              <a:buNone/>
              <a:defRPr sz="6667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9pPr>
          </a:lstStyle>
          <a:p>
            <a:endParaRPr/>
          </a:p>
        </p:txBody>
      </p:sp>
      <p:sp>
        <p:nvSpPr>
          <p:cNvPr id="25" name="Google Shape;25;p7"/>
          <p:cNvSpPr/>
          <p:nvPr/>
        </p:nvSpPr>
        <p:spPr>
          <a:xfrm>
            <a:off x="10946761" y="-903714"/>
            <a:ext cx="2135801" cy="2132759"/>
          </a:xfrm>
          <a:custGeom>
            <a:avLst/>
            <a:gdLst/>
            <a:ahLst/>
            <a:cxnLst/>
            <a:rect l="l" t="t" r="r" b="b"/>
            <a:pathLst>
              <a:path w="3203702" h="3199138" extrusionOk="0">
                <a:moveTo>
                  <a:pt x="0" y="0"/>
                </a:moveTo>
                <a:lnTo>
                  <a:pt x="3203702" y="0"/>
                </a:lnTo>
                <a:lnTo>
                  <a:pt x="3203702" y="3199138"/>
                </a:lnTo>
                <a:lnTo>
                  <a:pt x="0" y="31991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7"/>
          <p:cNvSpPr txBox="1"/>
          <p:nvPr/>
        </p:nvSpPr>
        <p:spPr>
          <a:xfrm>
            <a:off x="4171950" y="7141095"/>
            <a:ext cx="5345400" cy="11901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60950" rIns="60950" bIns="6095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934">
              <a:solidFill>
                <a:srgbClr val="00693D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27" name="Google Shape;27;p7"/>
          <p:cNvSpPr txBox="1">
            <a:spLocks noGrp="1"/>
          </p:cNvSpPr>
          <p:nvPr>
            <p:ph type="body" idx="1"/>
          </p:nvPr>
        </p:nvSpPr>
        <p:spPr>
          <a:xfrm>
            <a:off x="903200" y="3066817"/>
            <a:ext cx="7425600" cy="37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marR="0" lvl="0" indent="-385253" algn="l" rtl="0">
              <a:spcBef>
                <a:spcPts val="427"/>
              </a:spcBef>
              <a:spcAft>
                <a:spcPts val="0"/>
              </a:spcAft>
              <a:buClr>
                <a:srgbClr val="00693D"/>
              </a:buClr>
              <a:buSzPts val="5500"/>
              <a:buFont typeface="Archivo"/>
              <a:buChar char="●"/>
              <a:defRPr sz="3667" b="1" i="0" u="none" strike="noStrike" cap="none">
                <a:solidFill>
                  <a:srgbClr val="00693D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609630" marR="0" lvl="1" indent="-355618" algn="l" rtl="0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chivo SemiBold"/>
              <a:buChar char="○"/>
              <a:defRPr sz="320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marL="914446" marR="0" lvl="2" indent="-292115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chivo Medium"/>
              <a:buChar char="■"/>
              <a:defRPr sz="2200" i="0" u="none" strike="noStrike" cap="none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3pPr>
            <a:lvl4pPr marL="1219261" marR="0" lvl="3" indent="-254013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"/>
              <a:buChar char="●"/>
              <a:defRPr sz="16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L="1524076" marR="0" lvl="4" indent="-241312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chivo SemiBold"/>
              <a:buChar char="○"/>
              <a:defRPr sz="140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marL="1828891" marR="0" lvl="5" indent="-228611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chivo Medium"/>
              <a:buChar char="■"/>
              <a:defRPr sz="1200" i="0" u="none" strike="noStrike" cap="none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6pPr>
            <a:lvl7pPr marL="2133707" marR="0" lvl="6" indent="-211677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  <a:defRPr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L="2438522" marR="0" lvl="7" indent="-203210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○"/>
              <a:defRPr sz="80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L="2743337" marR="0" lvl="8" indent="-203210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■"/>
              <a:defRPr sz="80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  <p:sp>
        <p:nvSpPr>
          <p:cNvPr id="28" name="Google Shape;28;p7"/>
          <p:cNvSpPr/>
          <p:nvPr/>
        </p:nvSpPr>
        <p:spPr>
          <a:xfrm>
            <a:off x="0" y="0"/>
            <a:ext cx="3819599" cy="1829588"/>
          </a:xfrm>
          <a:custGeom>
            <a:avLst/>
            <a:gdLst/>
            <a:ahLst/>
            <a:cxnLst/>
            <a:rect l="l" t="t" r="r" b="b"/>
            <a:pathLst>
              <a:path w="5729398" h="2744382" extrusionOk="0">
                <a:moveTo>
                  <a:pt x="0" y="0"/>
                </a:moveTo>
                <a:lnTo>
                  <a:pt x="5729398" y="0"/>
                </a:lnTo>
                <a:lnTo>
                  <a:pt x="5729398" y="2744382"/>
                </a:lnTo>
                <a:lnTo>
                  <a:pt x="0" y="27443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29" r="-19"/>
            </a:stretch>
          </a:blip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68905466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or Contents Page" type="obj">
  <p:cSld name="Agenda or Contents Page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/>
          <p:nvPr/>
        </p:nvSpPr>
        <p:spPr>
          <a:xfrm>
            <a:off x="0" y="0"/>
            <a:ext cx="1844404" cy="883469"/>
          </a:xfrm>
          <a:custGeom>
            <a:avLst/>
            <a:gdLst/>
            <a:ahLst/>
            <a:cxnLst/>
            <a:rect l="l" t="t" r="r" b="b"/>
            <a:pathLst>
              <a:path w="2766606" h="1325204" extrusionOk="0">
                <a:moveTo>
                  <a:pt x="0" y="0"/>
                </a:moveTo>
                <a:lnTo>
                  <a:pt x="2766606" y="0"/>
                </a:lnTo>
                <a:lnTo>
                  <a:pt x="2766606" y="1325204"/>
                </a:lnTo>
                <a:lnTo>
                  <a:pt x="0" y="13252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l="-29" r="-19"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8"/>
          <p:cNvSpPr/>
          <p:nvPr/>
        </p:nvSpPr>
        <p:spPr>
          <a:xfrm>
            <a:off x="10951344" y="-914048"/>
            <a:ext cx="2135801" cy="2132759"/>
          </a:xfrm>
          <a:custGeom>
            <a:avLst/>
            <a:gdLst/>
            <a:ahLst/>
            <a:cxnLst/>
            <a:rect l="l" t="t" r="r" b="b"/>
            <a:pathLst>
              <a:path w="3203702" h="3199138" extrusionOk="0">
                <a:moveTo>
                  <a:pt x="0" y="0"/>
                </a:moveTo>
                <a:lnTo>
                  <a:pt x="3203702" y="0"/>
                </a:lnTo>
                <a:lnTo>
                  <a:pt x="3203702" y="3199138"/>
                </a:lnTo>
                <a:lnTo>
                  <a:pt x="0" y="31991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8"/>
          <p:cNvSpPr txBox="1"/>
          <p:nvPr/>
        </p:nvSpPr>
        <p:spPr>
          <a:xfrm>
            <a:off x="1095083" y="1830633"/>
            <a:ext cx="4825600" cy="68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60950" rIns="60950" bIns="609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934">
              <a:solidFill>
                <a:srgbClr val="00693D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33" name="Google Shape;33;p8"/>
          <p:cNvSpPr txBox="1">
            <a:spLocks noGrp="1"/>
          </p:cNvSpPr>
          <p:nvPr>
            <p:ph type="body" idx="1"/>
          </p:nvPr>
        </p:nvSpPr>
        <p:spPr>
          <a:xfrm>
            <a:off x="1534250" y="1830633"/>
            <a:ext cx="7425600" cy="37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marR="0" lvl="0" indent="-385253" algn="l" rtl="0">
              <a:spcBef>
                <a:spcPts val="427"/>
              </a:spcBef>
              <a:spcAft>
                <a:spcPts val="0"/>
              </a:spcAft>
              <a:buClr>
                <a:srgbClr val="00693D"/>
              </a:buClr>
              <a:buSzPts val="5500"/>
              <a:buFont typeface="Archivo"/>
              <a:buChar char="●"/>
              <a:defRPr sz="3667" b="1" i="0" u="none" strike="noStrike" cap="none">
                <a:solidFill>
                  <a:srgbClr val="00693D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609630" marR="0" lvl="1" indent="-355618" algn="l" rtl="0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chivo SemiBold"/>
              <a:buChar char="○"/>
              <a:defRPr sz="320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marL="914446" marR="0" lvl="2" indent="-292115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chivo Medium"/>
              <a:buChar char="■"/>
              <a:defRPr sz="2200" i="0" u="none" strike="noStrike" cap="none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3pPr>
            <a:lvl4pPr marL="1219261" marR="0" lvl="3" indent="-254013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"/>
              <a:buChar char="●"/>
              <a:defRPr sz="16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L="1524076" marR="0" lvl="4" indent="-241312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chivo SemiBold"/>
              <a:buChar char="○"/>
              <a:defRPr sz="140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marL="1828891" marR="0" lvl="5" indent="-228611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chivo Medium"/>
              <a:buChar char="■"/>
              <a:defRPr sz="1200" i="0" u="none" strike="noStrike" cap="none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6pPr>
            <a:lvl7pPr marL="2133707" marR="0" lvl="6" indent="-211677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  <a:defRPr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L="2438522" marR="0" lvl="7" indent="-203210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○"/>
              <a:defRPr sz="80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L="2743337" marR="0" lvl="8" indent="-203210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■"/>
              <a:defRPr sz="80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30992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or Contents Page alternate logo placement" type="secHead">
  <p:cSld name="Agenda or Contents Page alternate logo placemen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/>
          <p:nvPr/>
        </p:nvSpPr>
        <p:spPr>
          <a:xfrm>
            <a:off x="10352693" y="5983889"/>
            <a:ext cx="1844404" cy="883469"/>
          </a:xfrm>
          <a:custGeom>
            <a:avLst/>
            <a:gdLst/>
            <a:ahLst/>
            <a:cxnLst/>
            <a:rect l="l" t="t" r="r" b="b"/>
            <a:pathLst>
              <a:path w="2766606" h="1325204" extrusionOk="0">
                <a:moveTo>
                  <a:pt x="0" y="0"/>
                </a:moveTo>
                <a:lnTo>
                  <a:pt x="2766606" y="0"/>
                </a:lnTo>
                <a:lnTo>
                  <a:pt x="2766606" y="1325204"/>
                </a:lnTo>
                <a:lnTo>
                  <a:pt x="0" y="13252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l="-29" r="-19"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9"/>
          <p:cNvSpPr/>
          <p:nvPr/>
        </p:nvSpPr>
        <p:spPr>
          <a:xfrm>
            <a:off x="-899356" y="-895481"/>
            <a:ext cx="2135801" cy="2132759"/>
          </a:xfrm>
          <a:custGeom>
            <a:avLst/>
            <a:gdLst/>
            <a:ahLst/>
            <a:cxnLst/>
            <a:rect l="l" t="t" r="r" b="b"/>
            <a:pathLst>
              <a:path w="3203702" h="3199138" extrusionOk="0">
                <a:moveTo>
                  <a:pt x="0" y="0"/>
                </a:moveTo>
                <a:lnTo>
                  <a:pt x="3203702" y="0"/>
                </a:lnTo>
                <a:lnTo>
                  <a:pt x="3203702" y="3199138"/>
                </a:lnTo>
                <a:lnTo>
                  <a:pt x="0" y="31991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9"/>
          <p:cNvSpPr txBox="1">
            <a:spLocks noGrp="1"/>
          </p:cNvSpPr>
          <p:nvPr>
            <p:ph type="body" idx="1"/>
          </p:nvPr>
        </p:nvSpPr>
        <p:spPr>
          <a:xfrm>
            <a:off x="1654900" y="1721200"/>
            <a:ext cx="7425600" cy="37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marR="0" lvl="0" indent="-385253" algn="l" rtl="0">
              <a:spcBef>
                <a:spcPts val="427"/>
              </a:spcBef>
              <a:spcAft>
                <a:spcPts val="0"/>
              </a:spcAft>
              <a:buClr>
                <a:srgbClr val="00693D"/>
              </a:buClr>
              <a:buSzPts val="5500"/>
              <a:buFont typeface="Archivo"/>
              <a:buChar char="●"/>
              <a:defRPr sz="3667" b="1" i="0" u="none" strike="noStrike" cap="none">
                <a:solidFill>
                  <a:srgbClr val="00693D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609630" marR="0" lvl="1" indent="-355618" algn="l" rtl="0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chivo SemiBold"/>
              <a:buChar char="○"/>
              <a:defRPr sz="320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marL="914446" marR="0" lvl="2" indent="-292115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chivo Medium"/>
              <a:buChar char="■"/>
              <a:defRPr sz="2200" i="0" u="none" strike="noStrike" cap="none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3pPr>
            <a:lvl4pPr marL="1219261" marR="0" lvl="3" indent="-254013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"/>
              <a:buChar char="●"/>
              <a:defRPr sz="16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L="1524076" marR="0" lvl="4" indent="-241312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chivo SemiBold"/>
              <a:buChar char="○"/>
              <a:defRPr sz="140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marL="1828891" marR="0" lvl="5" indent="-228611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chivo Medium"/>
              <a:buChar char="■"/>
              <a:defRPr sz="1200" i="0" u="none" strike="noStrike" cap="none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6pPr>
            <a:lvl7pPr marL="2133707" marR="0" lvl="6" indent="-211677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  <a:defRPr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L="2438522" marR="0" lvl="7" indent="-203210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○"/>
              <a:defRPr sz="80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L="2743337" marR="0" lvl="8" indent="-203210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■"/>
              <a:defRPr sz="80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0591783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ro Slide Option 2" type="twoTxTwoObj">
  <p:cSld name="Intro Slide Option 2">
    <p:bg>
      <p:bgPr>
        <a:solidFill>
          <a:srgbClr val="00693D"/>
        </a:solidFill>
        <a:effectLst/>
      </p:bgPr>
    </p:bg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1"/>
          <p:cNvSpPr/>
          <p:nvPr/>
        </p:nvSpPr>
        <p:spPr>
          <a:xfrm>
            <a:off x="802544" y="1510467"/>
            <a:ext cx="1300075" cy="1086732"/>
          </a:xfrm>
          <a:custGeom>
            <a:avLst/>
            <a:gdLst/>
            <a:ahLst/>
            <a:cxnLst/>
            <a:rect l="l" t="t" r="r" b="b"/>
            <a:pathLst>
              <a:path w="3578188" h="2597765" extrusionOk="0">
                <a:moveTo>
                  <a:pt x="0" y="0"/>
                </a:moveTo>
                <a:lnTo>
                  <a:pt x="3578188" y="0"/>
                </a:lnTo>
                <a:lnTo>
                  <a:pt x="3578188" y="2597765"/>
                </a:lnTo>
                <a:lnTo>
                  <a:pt x="0" y="25977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l="-69" r="-59"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11"/>
          <p:cNvSpPr/>
          <p:nvPr/>
        </p:nvSpPr>
        <p:spPr>
          <a:xfrm>
            <a:off x="10347596" y="5974531"/>
            <a:ext cx="1844404" cy="883469"/>
          </a:xfrm>
          <a:custGeom>
            <a:avLst/>
            <a:gdLst/>
            <a:ahLst/>
            <a:cxnLst/>
            <a:rect l="l" t="t" r="r" b="b"/>
            <a:pathLst>
              <a:path w="2766606" h="1325204" extrusionOk="0">
                <a:moveTo>
                  <a:pt x="0" y="0"/>
                </a:moveTo>
                <a:lnTo>
                  <a:pt x="2766606" y="0"/>
                </a:lnTo>
                <a:lnTo>
                  <a:pt x="2766606" y="1325204"/>
                </a:lnTo>
                <a:lnTo>
                  <a:pt x="0" y="13252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11"/>
          <p:cNvSpPr/>
          <p:nvPr/>
        </p:nvSpPr>
        <p:spPr>
          <a:xfrm>
            <a:off x="10951344" y="-914048"/>
            <a:ext cx="2135801" cy="2132759"/>
          </a:xfrm>
          <a:custGeom>
            <a:avLst/>
            <a:gdLst/>
            <a:ahLst/>
            <a:cxnLst/>
            <a:rect l="l" t="t" r="r" b="b"/>
            <a:pathLst>
              <a:path w="3203702" h="3199138" extrusionOk="0">
                <a:moveTo>
                  <a:pt x="0" y="0"/>
                </a:moveTo>
                <a:lnTo>
                  <a:pt x="3203702" y="0"/>
                </a:lnTo>
                <a:lnTo>
                  <a:pt x="3203702" y="3199138"/>
                </a:lnTo>
                <a:lnTo>
                  <a:pt x="0" y="31991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11"/>
          <p:cNvSpPr txBox="1">
            <a:spLocks noGrp="1"/>
          </p:cNvSpPr>
          <p:nvPr>
            <p:ph type="title"/>
          </p:nvPr>
        </p:nvSpPr>
        <p:spPr>
          <a:xfrm>
            <a:off x="2213800" y="1588881"/>
            <a:ext cx="112490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Font typeface="Anton"/>
              <a:buNone/>
              <a:defRPr sz="4334" i="0" u="none" strike="noStrike" cap="none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4334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4334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4334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4334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4334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4334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4334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500"/>
              <a:buNone/>
              <a:defRPr sz="4334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6176868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 Box and Text">
  <p:cSld name="Photo Box and Tex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>
            <a:spLocks noGrp="1"/>
          </p:cNvSpPr>
          <p:nvPr>
            <p:ph type="pic" idx="2"/>
          </p:nvPr>
        </p:nvSpPr>
        <p:spPr>
          <a:xfrm>
            <a:off x="28217" y="1050150"/>
            <a:ext cx="4331600" cy="5451800"/>
          </a:xfrm>
          <a:prstGeom prst="rect">
            <a:avLst/>
          </a:prstGeom>
          <a:noFill/>
          <a:ln>
            <a:noFill/>
          </a:ln>
        </p:spPr>
      </p:sp>
      <p:sp>
        <p:nvSpPr>
          <p:cNvPr id="50" name="Google Shape;50;p12"/>
          <p:cNvSpPr/>
          <p:nvPr/>
        </p:nvSpPr>
        <p:spPr>
          <a:xfrm>
            <a:off x="28215" y="0"/>
            <a:ext cx="1844404" cy="883469"/>
          </a:xfrm>
          <a:custGeom>
            <a:avLst/>
            <a:gdLst/>
            <a:ahLst/>
            <a:cxnLst/>
            <a:rect l="l" t="t" r="r" b="b"/>
            <a:pathLst>
              <a:path w="2766606" h="1325204" extrusionOk="0">
                <a:moveTo>
                  <a:pt x="0" y="0"/>
                </a:moveTo>
                <a:lnTo>
                  <a:pt x="2766605" y="0"/>
                </a:lnTo>
                <a:lnTo>
                  <a:pt x="2766605" y="1325204"/>
                </a:lnTo>
                <a:lnTo>
                  <a:pt x="0" y="13252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l="-29" r="-19"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12"/>
          <p:cNvSpPr/>
          <p:nvPr/>
        </p:nvSpPr>
        <p:spPr>
          <a:xfrm>
            <a:off x="-707765" y="3725167"/>
            <a:ext cx="5199477" cy="5138816"/>
          </a:xfrm>
          <a:custGeom>
            <a:avLst/>
            <a:gdLst/>
            <a:ahLst/>
            <a:cxnLst/>
            <a:rect l="l" t="t" r="r" b="b"/>
            <a:pathLst>
              <a:path w="7799215" h="7708224" extrusionOk="0">
                <a:moveTo>
                  <a:pt x="0" y="0"/>
                </a:moveTo>
                <a:lnTo>
                  <a:pt x="7799215" y="0"/>
                </a:lnTo>
                <a:lnTo>
                  <a:pt x="7799215" y="7708224"/>
                </a:lnTo>
                <a:lnTo>
                  <a:pt x="0" y="77082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12"/>
          <p:cNvSpPr/>
          <p:nvPr/>
        </p:nvSpPr>
        <p:spPr>
          <a:xfrm>
            <a:off x="10951344" y="-914048"/>
            <a:ext cx="2135801" cy="2132759"/>
          </a:xfrm>
          <a:custGeom>
            <a:avLst/>
            <a:gdLst/>
            <a:ahLst/>
            <a:cxnLst/>
            <a:rect l="l" t="t" r="r" b="b"/>
            <a:pathLst>
              <a:path w="3203702" h="3199138" extrusionOk="0">
                <a:moveTo>
                  <a:pt x="0" y="0"/>
                </a:moveTo>
                <a:lnTo>
                  <a:pt x="3203702" y="0"/>
                </a:lnTo>
                <a:lnTo>
                  <a:pt x="3203702" y="3199138"/>
                </a:lnTo>
                <a:lnTo>
                  <a:pt x="0" y="31991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12"/>
          <p:cNvSpPr txBox="1">
            <a:spLocks noGrp="1"/>
          </p:cNvSpPr>
          <p:nvPr>
            <p:ph type="body" idx="1"/>
          </p:nvPr>
        </p:nvSpPr>
        <p:spPr>
          <a:xfrm>
            <a:off x="5162783" y="1118000"/>
            <a:ext cx="7425600" cy="37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marR="0" lvl="0" indent="-385253" algn="l" rtl="0">
              <a:spcBef>
                <a:spcPts val="427"/>
              </a:spcBef>
              <a:spcAft>
                <a:spcPts val="0"/>
              </a:spcAft>
              <a:buClr>
                <a:srgbClr val="00693D"/>
              </a:buClr>
              <a:buSzPts val="5500"/>
              <a:buFont typeface="Archivo"/>
              <a:buChar char="●"/>
              <a:defRPr sz="3667" b="1" i="0" u="none" strike="noStrike" cap="none">
                <a:solidFill>
                  <a:srgbClr val="00693D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609630" marR="0" lvl="1" indent="-355618" algn="l" rtl="0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chivo SemiBold"/>
              <a:buChar char="○"/>
              <a:defRPr sz="320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marL="914446" marR="0" lvl="2" indent="-292115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chivo Medium"/>
              <a:buChar char="■"/>
              <a:defRPr sz="2200" i="0" u="none" strike="noStrike" cap="none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3pPr>
            <a:lvl4pPr marL="1219261" marR="0" lvl="3" indent="-254013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"/>
              <a:buChar char="●"/>
              <a:defRPr sz="16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L="1524076" marR="0" lvl="4" indent="-241312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chivo SemiBold"/>
              <a:buChar char="○"/>
              <a:defRPr sz="140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marL="1828891" marR="0" lvl="5" indent="-228611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chivo Medium"/>
              <a:buChar char="■"/>
              <a:defRPr sz="1200" i="0" u="none" strike="noStrike" cap="none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6pPr>
            <a:lvl7pPr marL="2133707" marR="0" lvl="6" indent="-211677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  <a:defRPr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L="2438522" marR="0" lvl="7" indent="-203210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○"/>
              <a:defRPr sz="80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L="2743337" marR="0" lvl="8" indent="-203210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■"/>
              <a:defRPr sz="80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  <p:cxnSp>
        <p:nvCxnSpPr>
          <p:cNvPr id="54" name="Google Shape;54;p12"/>
          <p:cNvCxnSpPr/>
          <p:nvPr/>
        </p:nvCxnSpPr>
        <p:spPr>
          <a:xfrm rot="10800000">
            <a:off x="4695752" y="949750"/>
            <a:ext cx="31000" cy="56526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5" name="Google Shape;55;p12"/>
          <p:cNvCxnSpPr/>
          <p:nvPr/>
        </p:nvCxnSpPr>
        <p:spPr>
          <a:xfrm rot="10800000">
            <a:off x="4819550" y="1687881"/>
            <a:ext cx="15400" cy="3888800"/>
          </a:xfrm>
          <a:prstGeom prst="straightConnector1">
            <a:avLst/>
          </a:prstGeom>
          <a:noFill/>
          <a:ln w="28575" cap="flat" cmpd="sng">
            <a:solidFill>
              <a:srgbClr val="A5D75F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86593698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to Box and Text Option 2" type="titleOnly">
  <p:cSld name="Photo Box and Text Option 2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3"/>
          <p:cNvSpPr/>
          <p:nvPr/>
        </p:nvSpPr>
        <p:spPr>
          <a:xfrm>
            <a:off x="28215" y="0"/>
            <a:ext cx="1844404" cy="883469"/>
          </a:xfrm>
          <a:custGeom>
            <a:avLst/>
            <a:gdLst/>
            <a:ahLst/>
            <a:cxnLst/>
            <a:rect l="l" t="t" r="r" b="b"/>
            <a:pathLst>
              <a:path w="2766606" h="1325204" extrusionOk="0">
                <a:moveTo>
                  <a:pt x="0" y="0"/>
                </a:moveTo>
                <a:lnTo>
                  <a:pt x="2766605" y="0"/>
                </a:lnTo>
                <a:lnTo>
                  <a:pt x="2766605" y="1325204"/>
                </a:lnTo>
                <a:lnTo>
                  <a:pt x="0" y="13252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l="-29" r="-19"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13"/>
          <p:cNvSpPr/>
          <p:nvPr/>
        </p:nvSpPr>
        <p:spPr>
          <a:xfrm>
            <a:off x="10951344" y="-914048"/>
            <a:ext cx="2135801" cy="2132759"/>
          </a:xfrm>
          <a:custGeom>
            <a:avLst/>
            <a:gdLst/>
            <a:ahLst/>
            <a:cxnLst/>
            <a:rect l="l" t="t" r="r" b="b"/>
            <a:pathLst>
              <a:path w="3203702" h="3199138" extrusionOk="0">
                <a:moveTo>
                  <a:pt x="0" y="0"/>
                </a:moveTo>
                <a:lnTo>
                  <a:pt x="3203702" y="0"/>
                </a:lnTo>
                <a:lnTo>
                  <a:pt x="3203702" y="3199138"/>
                </a:lnTo>
                <a:lnTo>
                  <a:pt x="0" y="31991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13"/>
          <p:cNvSpPr>
            <a:spLocks noGrp="1"/>
          </p:cNvSpPr>
          <p:nvPr>
            <p:ph type="pic" idx="2"/>
          </p:nvPr>
        </p:nvSpPr>
        <p:spPr>
          <a:xfrm>
            <a:off x="7581867" y="1519792"/>
            <a:ext cx="4380200" cy="4259600"/>
          </a:xfrm>
          <a:prstGeom prst="ellipse">
            <a:avLst/>
          </a:prstGeom>
          <a:noFill/>
          <a:ln>
            <a:noFill/>
          </a:ln>
        </p:spPr>
      </p:sp>
      <p:cxnSp>
        <p:nvCxnSpPr>
          <p:cNvPr id="60" name="Google Shape;60;p13"/>
          <p:cNvCxnSpPr/>
          <p:nvPr/>
        </p:nvCxnSpPr>
        <p:spPr>
          <a:xfrm>
            <a:off x="7331300" y="2134383"/>
            <a:ext cx="37200" cy="36960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1" name="Google Shape;61;p13"/>
          <p:cNvCxnSpPr/>
          <p:nvPr/>
        </p:nvCxnSpPr>
        <p:spPr>
          <a:xfrm rot="10800000">
            <a:off x="7994667" y="6080467"/>
            <a:ext cx="3554600" cy="190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2" name="Google Shape;62;p13"/>
          <p:cNvCxnSpPr/>
          <p:nvPr/>
        </p:nvCxnSpPr>
        <p:spPr>
          <a:xfrm>
            <a:off x="7201400" y="2805033"/>
            <a:ext cx="18600" cy="2542800"/>
          </a:xfrm>
          <a:prstGeom prst="straightConnector1">
            <a:avLst/>
          </a:prstGeom>
          <a:noFill/>
          <a:ln w="28575" cap="flat" cmpd="sng">
            <a:solidFill>
              <a:srgbClr val="A5D75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3" name="Google Shape;63;p13"/>
          <p:cNvCxnSpPr/>
          <p:nvPr/>
        </p:nvCxnSpPr>
        <p:spPr>
          <a:xfrm rot="10800000">
            <a:off x="8477167" y="5929733"/>
            <a:ext cx="2589600" cy="400"/>
          </a:xfrm>
          <a:prstGeom prst="straightConnector1">
            <a:avLst/>
          </a:prstGeom>
          <a:noFill/>
          <a:ln w="28575" cap="flat" cmpd="sng">
            <a:solidFill>
              <a:srgbClr val="A5D75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4" name="Google Shape;64;p13"/>
          <p:cNvSpPr/>
          <p:nvPr/>
        </p:nvSpPr>
        <p:spPr>
          <a:xfrm>
            <a:off x="7479798" y="5046500"/>
            <a:ext cx="864729" cy="883240"/>
          </a:xfrm>
          <a:custGeom>
            <a:avLst/>
            <a:gdLst/>
            <a:ahLst/>
            <a:cxnLst/>
            <a:rect l="l" t="t" r="r" b="b"/>
            <a:pathLst>
              <a:path w="3578188" h="2597765" extrusionOk="0">
                <a:moveTo>
                  <a:pt x="0" y="0"/>
                </a:moveTo>
                <a:lnTo>
                  <a:pt x="3578188" y="0"/>
                </a:lnTo>
                <a:lnTo>
                  <a:pt x="3578188" y="2597765"/>
                </a:lnTo>
                <a:lnTo>
                  <a:pt x="0" y="25977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69" r="-59"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3"/>
          <p:cNvSpPr txBox="1">
            <a:spLocks noGrp="1"/>
          </p:cNvSpPr>
          <p:nvPr>
            <p:ph type="body" idx="1"/>
          </p:nvPr>
        </p:nvSpPr>
        <p:spPr>
          <a:xfrm>
            <a:off x="569067" y="1519800"/>
            <a:ext cx="7425600" cy="37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marR="0" lvl="0" indent="-385253" algn="l" rtl="0">
              <a:spcBef>
                <a:spcPts val="427"/>
              </a:spcBef>
              <a:spcAft>
                <a:spcPts val="0"/>
              </a:spcAft>
              <a:buClr>
                <a:srgbClr val="00693D"/>
              </a:buClr>
              <a:buSzPts val="5500"/>
              <a:buFont typeface="Archivo"/>
              <a:buChar char="●"/>
              <a:defRPr sz="3667" b="1" i="0" u="none" strike="noStrike" cap="none">
                <a:solidFill>
                  <a:srgbClr val="00693D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609630" marR="0" lvl="1" indent="-355618" algn="l" rtl="0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chivo SemiBold"/>
              <a:buChar char="○"/>
              <a:defRPr sz="320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marL="914446" marR="0" lvl="2" indent="-292115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chivo Medium"/>
              <a:buChar char="■"/>
              <a:defRPr sz="2200" i="0" u="none" strike="noStrike" cap="none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3pPr>
            <a:lvl4pPr marL="1219261" marR="0" lvl="3" indent="-254013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"/>
              <a:buChar char="●"/>
              <a:defRPr sz="16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L="1524076" marR="0" lvl="4" indent="-241312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chivo SemiBold"/>
              <a:buChar char="○"/>
              <a:defRPr sz="140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marL="1828891" marR="0" lvl="5" indent="-228611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chivo Medium"/>
              <a:buChar char="■"/>
              <a:defRPr sz="1200" i="0" u="none" strike="noStrike" cap="none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6pPr>
            <a:lvl7pPr marL="2133707" marR="0" lvl="6" indent="-211677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  <a:defRPr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L="2438522" marR="0" lvl="7" indent="-203210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○"/>
              <a:defRPr sz="80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L="2743337" marR="0" lvl="8" indent="-203210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■"/>
              <a:defRPr sz="80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7548468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Only No Grid or Swoosh" type="objTx">
  <p:cSld name="Text Only No Grid or Swoosh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/>
          <p:nvPr/>
        </p:nvSpPr>
        <p:spPr>
          <a:xfrm>
            <a:off x="10347596" y="5974531"/>
            <a:ext cx="1844404" cy="883469"/>
          </a:xfrm>
          <a:custGeom>
            <a:avLst/>
            <a:gdLst/>
            <a:ahLst/>
            <a:cxnLst/>
            <a:rect l="l" t="t" r="r" b="b"/>
            <a:pathLst>
              <a:path w="2766606" h="1325204" extrusionOk="0">
                <a:moveTo>
                  <a:pt x="0" y="0"/>
                </a:moveTo>
                <a:lnTo>
                  <a:pt x="2766606" y="0"/>
                </a:lnTo>
                <a:lnTo>
                  <a:pt x="2766606" y="1325204"/>
                </a:lnTo>
                <a:lnTo>
                  <a:pt x="0" y="13252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l="-29" r="-19"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1"/>
          </p:nvPr>
        </p:nvSpPr>
        <p:spPr>
          <a:xfrm>
            <a:off x="1543533" y="1674817"/>
            <a:ext cx="7425600" cy="37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marR="0" lvl="0" indent="-385253" algn="l" rtl="0">
              <a:spcBef>
                <a:spcPts val="427"/>
              </a:spcBef>
              <a:spcAft>
                <a:spcPts val="0"/>
              </a:spcAft>
              <a:buClr>
                <a:srgbClr val="00693D"/>
              </a:buClr>
              <a:buSzPts val="5500"/>
              <a:buFont typeface="Archivo"/>
              <a:buChar char="●"/>
              <a:defRPr sz="3667" b="1" i="0" u="none" strike="noStrike" cap="none">
                <a:solidFill>
                  <a:srgbClr val="00693D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609630" marR="0" lvl="1" indent="-355618" algn="l" rtl="0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chivo SemiBold"/>
              <a:buChar char="○"/>
              <a:defRPr sz="320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marL="914446" marR="0" lvl="2" indent="-292115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chivo Medium"/>
              <a:buChar char="■"/>
              <a:defRPr sz="2200" i="0" u="none" strike="noStrike" cap="none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3pPr>
            <a:lvl4pPr marL="1219261" marR="0" lvl="3" indent="-254013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"/>
              <a:buChar char="●"/>
              <a:defRPr sz="16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L="1524076" marR="0" lvl="4" indent="-241312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chivo SemiBold"/>
              <a:buChar char="○"/>
              <a:defRPr sz="140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marL="1828891" marR="0" lvl="5" indent="-228611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chivo Medium"/>
              <a:buChar char="■"/>
              <a:defRPr sz="1200" i="0" u="none" strike="noStrike" cap="none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6pPr>
            <a:lvl7pPr marL="2133707" marR="0" lvl="6" indent="-211677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  <a:defRPr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L="2438522" marR="0" lvl="7" indent="-203210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○"/>
              <a:defRPr sz="80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L="2743337" marR="0" lvl="8" indent="-203210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■"/>
              <a:defRPr sz="80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3765955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Only No Grid or Swoosh 2">
  <p:cSld name="Text Only No Grid or Swoosh 2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/>
          <p:nvPr/>
        </p:nvSpPr>
        <p:spPr>
          <a:xfrm>
            <a:off x="-4" y="-3"/>
            <a:ext cx="1844404" cy="883469"/>
          </a:xfrm>
          <a:custGeom>
            <a:avLst/>
            <a:gdLst/>
            <a:ahLst/>
            <a:cxnLst/>
            <a:rect l="l" t="t" r="r" b="b"/>
            <a:pathLst>
              <a:path w="2766606" h="1325204" extrusionOk="0">
                <a:moveTo>
                  <a:pt x="0" y="0"/>
                </a:moveTo>
                <a:lnTo>
                  <a:pt x="2766606" y="0"/>
                </a:lnTo>
                <a:lnTo>
                  <a:pt x="2766606" y="1325204"/>
                </a:lnTo>
                <a:lnTo>
                  <a:pt x="0" y="13252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l="-29" r="-19"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15"/>
          <p:cNvSpPr txBox="1">
            <a:spLocks noGrp="1"/>
          </p:cNvSpPr>
          <p:nvPr>
            <p:ph type="body" idx="1"/>
          </p:nvPr>
        </p:nvSpPr>
        <p:spPr>
          <a:xfrm>
            <a:off x="1543533" y="1674817"/>
            <a:ext cx="7425600" cy="37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marR="0" lvl="0" indent="-385253" algn="l" rtl="0">
              <a:spcBef>
                <a:spcPts val="427"/>
              </a:spcBef>
              <a:spcAft>
                <a:spcPts val="0"/>
              </a:spcAft>
              <a:buClr>
                <a:srgbClr val="00693D"/>
              </a:buClr>
              <a:buSzPts val="5500"/>
              <a:buFont typeface="Archivo"/>
              <a:buChar char="●"/>
              <a:defRPr sz="3667" b="1" i="0" u="none" strike="noStrike" cap="none">
                <a:solidFill>
                  <a:srgbClr val="00693D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609630" marR="0" lvl="1" indent="-355618" algn="l" rtl="0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chivo SemiBold"/>
              <a:buChar char="○"/>
              <a:defRPr sz="320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marL="914446" marR="0" lvl="2" indent="-292115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chivo Medium"/>
              <a:buChar char="■"/>
              <a:defRPr sz="2200" i="0" u="none" strike="noStrike" cap="none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3pPr>
            <a:lvl4pPr marL="1219261" marR="0" lvl="3" indent="-254013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"/>
              <a:buChar char="●"/>
              <a:defRPr sz="16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L="1524076" marR="0" lvl="4" indent="-241312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chivo SemiBold"/>
              <a:buChar char="○"/>
              <a:defRPr sz="140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marL="1828891" marR="0" lvl="5" indent="-228611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chivo Medium"/>
              <a:buChar char="■"/>
              <a:defRPr sz="1200" i="0" u="none" strike="noStrike" cap="none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6pPr>
            <a:lvl7pPr marL="2133707" marR="0" lvl="6" indent="-211677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  <a:defRPr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L="2438522" marR="0" lvl="7" indent="-203210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○"/>
              <a:defRPr sz="80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L="2743337" marR="0" lvl="8" indent="-203210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■"/>
              <a:defRPr sz="80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8538335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ark Closing Slide with QR Code" type="vertTx">
  <p:cSld name="Dark Closing Slide with QR Code">
    <p:bg>
      <p:bgPr>
        <a:solidFill>
          <a:srgbClr val="12312B"/>
        </a:solidFill>
        <a:effectLst/>
      </p:bgPr>
    </p:bg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/>
          <p:nvPr/>
        </p:nvSpPr>
        <p:spPr>
          <a:xfrm>
            <a:off x="9014051" y="4784199"/>
            <a:ext cx="1547499" cy="1525745"/>
          </a:xfrm>
          <a:custGeom>
            <a:avLst/>
            <a:gdLst/>
            <a:ahLst/>
            <a:cxnLst/>
            <a:rect l="l" t="t" r="r" b="b"/>
            <a:pathLst>
              <a:path w="2149304" h="2080562" extrusionOk="0">
                <a:moveTo>
                  <a:pt x="0" y="0"/>
                </a:moveTo>
                <a:lnTo>
                  <a:pt x="2149304" y="0"/>
                </a:lnTo>
                <a:lnTo>
                  <a:pt x="2149304" y="2080561"/>
                </a:lnTo>
                <a:lnTo>
                  <a:pt x="0" y="208056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l="-110437"/>
            </a:stretch>
          </a:blipFill>
          <a:ln>
            <a:noFill/>
          </a:ln>
        </p:spPr>
      </p:sp>
      <p:sp>
        <p:nvSpPr>
          <p:cNvPr id="80" name="Google Shape;80;p17"/>
          <p:cNvSpPr txBox="1"/>
          <p:nvPr/>
        </p:nvSpPr>
        <p:spPr>
          <a:xfrm>
            <a:off x="9423599" y="5180635"/>
            <a:ext cx="728400" cy="4178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41" i="0" u="none" strike="noStrike" cap="none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*Place QR code here</a:t>
            </a:r>
            <a:endParaRPr sz="333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81" name="Google Shape;81;p17"/>
          <p:cNvSpPr txBox="1"/>
          <p:nvPr/>
        </p:nvSpPr>
        <p:spPr>
          <a:xfrm>
            <a:off x="7507349" y="4784200"/>
            <a:ext cx="1308200" cy="4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18" b="1" i="0" u="none" strike="noStrike" cap="none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rPr>
              <a:t>SCAN</a:t>
            </a:r>
            <a:endParaRPr sz="1200" b="1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82" name="Google Shape;82;p17"/>
          <p:cNvSpPr txBox="1"/>
          <p:nvPr/>
        </p:nvSpPr>
        <p:spPr>
          <a:xfrm>
            <a:off x="7308842" y="5233400"/>
            <a:ext cx="1705200" cy="17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48" i="0" u="none" strike="noStrike" cap="none">
                <a:solidFill>
                  <a:srgbClr val="A5D75F"/>
                </a:solidFill>
                <a:latin typeface="Anton"/>
                <a:ea typeface="Anton"/>
                <a:cs typeface="Anton"/>
                <a:sym typeface="Anton"/>
              </a:rPr>
              <a:t>ME</a:t>
            </a:r>
            <a:endParaRPr sz="100">
              <a:solidFill>
                <a:srgbClr val="A5D75F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83" name="Google Shape;83;p17"/>
          <p:cNvSpPr/>
          <p:nvPr/>
        </p:nvSpPr>
        <p:spPr>
          <a:xfrm>
            <a:off x="0" y="0"/>
            <a:ext cx="3047877" cy="1526193"/>
          </a:xfrm>
          <a:custGeom>
            <a:avLst/>
            <a:gdLst/>
            <a:ahLst/>
            <a:cxnLst/>
            <a:rect l="l" t="t" r="r" b="b"/>
            <a:pathLst>
              <a:path w="2766606" h="1325204" extrusionOk="0">
                <a:moveTo>
                  <a:pt x="0" y="0"/>
                </a:moveTo>
                <a:lnTo>
                  <a:pt x="2766606" y="0"/>
                </a:lnTo>
                <a:lnTo>
                  <a:pt x="2766606" y="1325204"/>
                </a:lnTo>
                <a:lnTo>
                  <a:pt x="0" y="13252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7"/>
          <p:cNvSpPr txBox="1">
            <a:spLocks noGrp="1"/>
          </p:cNvSpPr>
          <p:nvPr>
            <p:ph type="title"/>
          </p:nvPr>
        </p:nvSpPr>
        <p:spPr>
          <a:xfrm>
            <a:off x="471500" y="2318208"/>
            <a:ext cx="11249000" cy="14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Font typeface="Anton"/>
              <a:buNone/>
              <a:defRPr sz="6667" i="0" u="none" strike="noStrike" cap="none">
                <a:solidFill>
                  <a:schemeClr val="lt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5" name="Google Shape;85;p17"/>
          <p:cNvSpPr/>
          <p:nvPr/>
        </p:nvSpPr>
        <p:spPr>
          <a:xfrm>
            <a:off x="10951344" y="-914048"/>
            <a:ext cx="2135801" cy="2132759"/>
          </a:xfrm>
          <a:custGeom>
            <a:avLst/>
            <a:gdLst/>
            <a:ahLst/>
            <a:cxnLst/>
            <a:rect l="l" t="t" r="r" b="b"/>
            <a:pathLst>
              <a:path w="3203702" h="3199138" extrusionOk="0">
                <a:moveTo>
                  <a:pt x="0" y="0"/>
                </a:moveTo>
                <a:lnTo>
                  <a:pt x="3203702" y="0"/>
                </a:lnTo>
                <a:lnTo>
                  <a:pt x="3203702" y="3199138"/>
                </a:lnTo>
                <a:lnTo>
                  <a:pt x="0" y="31991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7"/>
          <p:cNvSpPr txBox="1">
            <a:spLocks noGrp="1"/>
          </p:cNvSpPr>
          <p:nvPr>
            <p:ph type="body" idx="1"/>
          </p:nvPr>
        </p:nvSpPr>
        <p:spPr>
          <a:xfrm>
            <a:off x="615517" y="3510033"/>
            <a:ext cx="7425600" cy="37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marR="0" lvl="0" indent="-385253" algn="l" rtl="0">
              <a:spcBef>
                <a:spcPts val="427"/>
              </a:spcBef>
              <a:spcAft>
                <a:spcPts val="0"/>
              </a:spcAft>
              <a:buClr>
                <a:srgbClr val="A5D75F"/>
              </a:buClr>
              <a:buSzPts val="5500"/>
              <a:buFont typeface="Archivo"/>
              <a:buChar char="●"/>
              <a:defRPr sz="3667" b="1" i="0" u="none" strike="noStrike" cap="none">
                <a:solidFill>
                  <a:srgbClr val="A5D75F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609630" marR="0" lvl="1" indent="-355618" algn="l" rtl="0"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chivo SemiBold"/>
              <a:buChar char="○"/>
              <a:defRPr sz="3200" i="0" u="none" strike="noStrike" cap="none">
                <a:solidFill>
                  <a:schemeClr val="lt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marL="914446" marR="0" lvl="2" indent="-292115" algn="l" rtl="0">
              <a:spcBef>
                <a:spcPts val="320"/>
              </a:spcBef>
              <a:spcAft>
                <a:spcPts val="0"/>
              </a:spcAft>
              <a:buClr>
                <a:srgbClr val="A5D75F"/>
              </a:buClr>
              <a:buSzPts val="3300"/>
              <a:buFont typeface="Archivo Medium"/>
              <a:buChar char="■"/>
              <a:defRPr sz="2200" i="0" u="none" strike="noStrike" cap="none">
                <a:solidFill>
                  <a:srgbClr val="A5D75F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3pPr>
            <a:lvl4pPr marL="1219261" marR="0" lvl="3" indent="-254013" algn="l" rtl="0"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chivo"/>
              <a:buChar char="●"/>
              <a:defRPr sz="1600" b="1" i="0" u="none" strike="noStrike" cap="none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L="1524076" marR="0" lvl="4" indent="-241312" algn="l" rtl="0">
              <a:spcBef>
                <a:spcPts val="267"/>
              </a:spcBef>
              <a:spcAft>
                <a:spcPts val="0"/>
              </a:spcAft>
              <a:buClr>
                <a:srgbClr val="A5D75F"/>
              </a:buClr>
              <a:buSzPts val="2100"/>
              <a:buFont typeface="Archivo SemiBold"/>
              <a:buChar char="○"/>
              <a:defRPr sz="1400" i="0" u="none" strike="noStrike" cap="none">
                <a:solidFill>
                  <a:srgbClr val="A5D75F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marL="1828891" marR="0" lvl="5" indent="-228611" algn="l" rtl="0"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chivo Medium"/>
              <a:buChar char="■"/>
              <a:defRPr sz="1200" i="0" u="none" strike="noStrike" cap="none">
                <a:solidFill>
                  <a:schemeClr val="lt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6pPr>
            <a:lvl7pPr marL="2133707" marR="0" lvl="6" indent="-211677" algn="l" rtl="0"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chivo"/>
              <a:buChar char="●"/>
              <a:defRPr i="0" u="none" strike="noStrike" cap="none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L="2438522" marR="0" lvl="7" indent="-203210" algn="l" rtl="0"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chivo"/>
              <a:buChar char="○"/>
              <a:defRPr sz="800" i="0" u="none" strike="noStrike" cap="none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L="2743337" marR="0" lvl="8" indent="-203210" algn="l" rtl="0"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chivo"/>
              <a:buChar char="■"/>
              <a:defRPr sz="800" i="0" u="none" strike="noStrike" cap="none">
                <a:solidFill>
                  <a:schemeClr val="lt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889046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hite Closing Slide with QR Code">
  <p:cSld name="White Closing Slide with QR Code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>
            <a:spLocks noGrp="1"/>
          </p:cNvSpPr>
          <p:nvPr>
            <p:ph type="title"/>
          </p:nvPr>
        </p:nvSpPr>
        <p:spPr>
          <a:xfrm>
            <a:off x="778100" y="2425706"/>
            <a:ext cx="11249000" cy="1445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8"/>
          <p:cNvSpPr txBox="1"/>
          <p:nvPr/>
        </p:nvSpPr>
        <p:spPr>
          <a:xfrm>
            <a:off x="6822930" y="4923600"/>
            <a:ext cx="1831800" cy="17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115" i="0" u="none" strike="noStrike" cap="none">
                <a:solidFill>
                  <a:srgbClr val="00693D"/>
                </a:solidFill>
                <a:latin typeface="Anton"/>
                <a:ea typeface="Anton"/>
                <a:cs typeface="Anton"/>
                <a:sym typeface="Anton"/>
              </a:rPr>
              <a:t>ME</a:t>
            </a:r>
            <a:endParaRPr sz="1200"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90" name="Google Shape;90;p18"/>
          <p:cNvSpPr/>
          <p:nvPr/>
        </p:nvSpPr>
        <p:spPr>
          <a:xfrm>
            <a:off x="0" y="0"/>
            <a:ext cx="3819599" cy="1829588"/>
          </a:xfrm>
          <a:custGeom>
            <a:avLst/>
            <a:gdLst/>
            <a:ahLst/>
            <a:cxnLst/>
            <a:rect l="l" t="t" r="r" b="b"/>
            <a:pathLst>
              <a:path w="5729398" h="2744382" extrusionOk="0">
                <a:moveTo>
                  <a:pt x="0" y="0"/>
                </a:moveTo>
                <a:lnTo>
                  <a:pt x="5729398" y="0"/>
                </a:lnTo>
                <a:lnTo>
                  <a:pt x="5729398" y="2744382"/>
                </a:lnTo>
                <a:lnTo>
                  <a:pt x="0" y="27443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91" name="Google Shape;91;p18"/>
          <p:cNvSpPr/>
          <p:nvPr/>
        </p:nvSpPr>
        <p:spPr>
          <a:xfrm>
            <a:off x="0" y="0"/>
            <a:ext cx="3819599" cy="1829588"/>
          </a:xfrm>
          <a:custGeom>
            <a:avLst/>
            <a:gdLst/>
            <a:ahLst/>
            <a:cxnLst/>
            <a:rect l="l" t="t" r="r" b="b"/>
            <a:pathLst>
              <a:path w="5729398" h="2744382" extrusionOk="0">
                <a:moveTo>
                  <a:pt x="0" y="0"/>
                </a:moveTo>
                <a:lnTo>
                  <a:pt x="5729398" y="0"/>
                </a:lnTo>
                <a:lnTo>
                  <a:pt x="5729398" y="2744382"/>
                </a:lnTo>
                <a:lnTo>
                  <a:pt x="0" y="27443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29" r="-19"/>
            </a:stretch>
          </a:blipFill>
          <a:ln>
            <a:noFill/>
          </a:ln>
        </p:spPr>
      </p:sp>
      <p:sp>
        <p:nvSpPr>
          <p:cNvPr id="92" name="Google Shape;92;p18"/>
          <p:cNvSpPr/>
          <p:nvPr/>
        </p:nvSpPr>
        <p:spPr>
          <a:xfrm>
            <a:off x="8910302" y="4626749"/>
            <a:ext cx="1830491" cy="1636709"/>
          </a:xfrm>
          <a:custGeom>
            <a:avLst/>
            <a:gdLst/>
            <a:ahLst/>
            <a:cxnLst/>
            <a:rect l="l" t="t" r="r" b="b"/>
            <a:pathLst>
              <a:path w="2149304" h="2080562" extrusionOk="0">
                <a:moveTo>
                  <a:pt x="0" y="0"/>
                </a:moveTo>
                <a:lnTo>
                  <a:pt x="2149304" y="0"/>
                </a:lnTo>
                <a:lnTo>
                  <a:pt x="2149304" y="2080561"/>
                </a:lnTo>
                <a:lnTo>
                  <a:pt x="0" y="208056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110437"/>
            </a:stretch>
          </a:blipFill>
          <a:ln>
            <a:noFill/>
          </a:ln>
        </p:spPr>
      </p:sp>
      <p:sp>
        <p:nvSpPr>
          <p:cNvPr id="93" name="Google Shape;93;p18"/>
          <p:cNvSpPr txBox="1"/>
          <p:nvPr/>
        </p:nvSpPr>
        <p:spPr>
          <a:xfrm>
            <a:off x="9305866" y="5111434"/>
            <a:ext cx="744600" cy="479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42" b="0" i="0" u="none" strike="noStrike" cap="none">
                <a:solidFill>
                  <a:srgbClr val="12312B"/>
                </a:solidFill>
                <a:latin typeface="Arial"/>
                <a:ea typeface="Arial"/>
                <a:cs typeface="Arial"/>
                <a:sym typeface="Arial"/>
              </a:rPr>
              <a:t>*</a:t>
            </a:r>
            <a:r>
              <a:rPr lang="en-US" sz="875" i="0" u="none" strike="noStrike" cap="none">
                <a:solidFill>
                  <a:srgbClr val="12312B"/>
                </a:solidFill>
                <a:latin typeface="Archivo"/>
                <a:ea typeface="Archivo"/>
                <a:cs typeface="Archivo"/>
                <a:sym typeface="Archivo"/>
              </a:rPr>
              <a:t>Place QR code here</a:t>
            </a:r>
            <a:endParaRPr sz="100"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94" name="Google Shape;94;p18"/>
          <p:cNvSpPr txBox="1"/>
          <p:nvPr/>
        </p:nvSpPr>
        <p:spPr>
          <a:xfrm>
            <a:off x="6947931" y="4467234"/>
            <a:ext cx="1581800" cy="9016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85" i="0" u="none" strike="noStrike" cap="none">
                <a:solidFill>
                  <a:srgbClr val="00693D"/>
                </a:solidFill>
                <a:latin typeface="Archivo ExtraBold"/>
                <a:ea typeface="Archivo ExtraBold"/>
                <a:cs typeface="Archivo ExtraBold"/>
                <a:sym typeface="Archivo ExtraBold"/>
              </a:rPr>
              <a:t>SCAN</a:t>
            </a:r>
            <a:endParaRPr sz="2200">
              <a:latin typeface="Archivo ExtraBold"/>
              <a:ea typeface="Archivo ExtraBold"/>
              <a:cs typeface="Archivo ExtraBold"/>
              <a:sym typeface="Archivo ExtraBold"/>
            </a:endParaRPr>
          </a:p>
        </p:txBody>
      </p:sp>
      <p:sp>
        <p:nvSpPr>
          <p:cNvPr id="95" name="Google Shape;95;p18"/>
          <p:cNvSpPr txBox="1">
            <a:spLocks noGrp="1"/>
          </p:cNvSpPr>
          <p:nvPr>
            <p:ph type="body" idx="1"/>
          </p:nvPr>
        </p:nvSpPr>
        <p:spPr>
          <a:xfrm>
            <a:off x="856767" y="3475233"/>
            <a:ext cx="7425600" cy="37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815" marR="0" lvl="0" indent="-385253" algn="l" rtl="0">
              <a:spcBef>
                <a:spcPts val="427"/>
              </a:spcBef>
              <a:spcAft>
                <a:spcPts val="0"/>
              </a:spcAft>
              <a:buClr>
                <a:srgbClr val="00693D"/>
              </a:buClr>
              <a:buSzPts val="5500"/>
              <a:buFont typeface="Archivo"/>
              <a:buChar char="●"/>
              <a:defRPr sz="3667" b="1" i="0" u="none" strike="noStrike" cap="none">
                <a:solidFill>
                  <a:srgbClr val="00693D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609630" marR="0" lvl="1" indent="-355618" algn="l" rtl="0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chivo SemiBold"/>
              <a:buChar char="○"/>
              <a:defRPr sz="320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marL="914446" marR="0" lvl="2" indent="-292115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chivo Medium"/>
              <a:buChar char="■"/>
              <a:defRPr sz="2200" i="0" u="none" strike="noStrike" cap="none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3pPr>
            <a:lvl4pPr marL="1219261" marR="0" lvl="3" indent="-254013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"/>
              <a:buChar char="●"/>
              <a:defRPr sz="16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L="1524076" marR="0" lvl="4" indent="-241312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chivo SemiBold"/>
              <a:buChar char="○"/>
              <a:defRPr sz="140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marL="1828891" marR="0" lvl="5" indent="-228611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chivo Medium"/>
              <a:buChar char="■"/>
              <a:defRPr sz="1200" i="0" u="none" strike="noStrike" cap="none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6pPr>
            <a:lvl7pPr marL="2133707" marR="0" lvl="6" indent="-211677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  <a:defRPr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L="2438522" marR="0" lvl="7" indent="-203210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○"/>
              <a:defRPr sz="80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L="2743337" marR="0" lvl="8" indent="-203210" algn="l" rtl="0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■"/>
              <a:defRPr sz="80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602451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een Logo with Weblink">
  <p:cSld name="Green Logo with Weblink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/>
          <p:nvPr/>
        </p:nvSpPr>
        <p:spPr>
          <a:xfrm>
            <a:off x="2276400" y="1133617"/>
            <a:ext cx="7639197" cy="3526531"/>
          </a:xfrm>
          <a:custGeom>
            <a:avLst/>
            <a:gdLst/>
            <a:ahLst/>
            <a:cxnLst/>
            <a:rect l="l" t="t" r="r" b="b"/>
            <a:pathLst>
              <a:path w="5729398" h="2744382" extrusionOk="0">
                <a:moveTo>
                  <a:pt x="0" y="0"/>
                </a:moveTo>
                <a:lnTo>
                  <a:pt x="5729398" y="0"/>
                </a:lnTo>
                <a:lnTo>
                  <a:pt x="5729398" y="2744382"/>
                </a:lnTo>
                <a:lnTo>
                  <a:pt x="0" y="27443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l="-29" r="-19"/>
            </a:stretch>
          </a:blipFill>
          <a:ln>
            <a:noFill/>
          </a:ln>
        </p:spPr>
      </p:sp>
      <p:sp>
        <p:nvSpPr>
          <p:cNvPr id="98" name="Google Shape;98;p19"/>
          <p:cNvSpPr txBox="1"/>
          <p:nvPr/>
        </p:nvSpPr>
        <p:spPr>
          <a:xfrm>
            <a:off x="2287300" y="5092383"/>
            <a:ext cx="7300200" cy="53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60950" rIns="60950" bIns="609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34">
                <a:solidFill>
                  <a:srgbClr val="12312B"/>
                </a:solidFill>
                <a:latin typeface="Archivo ExtraBold"/>
                <a:ea typeface="Archivo ExtraBold"/>
                <a:cs typeface="Archivo ExtraBold"/>
                <a:sym typeface="Archivo ExtraBold"/>
              </a:rPr>
              <a:t>libraries.dartmouth.edu</a:t>
            </a:r>
            <a:endParaRPr sz="4734">
              <a:solidFill>
                <a:srgbClr val="12312B"/>
              </a:solidFill>
              <a:latin typeface="Archivo ExtraBold"/>
              <a:ea typeface="Archivo ExtraBold"/>
              <a:cs typeface="Archivo ExtraBold"/>
              <a:sym typeface="Archivo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34964467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hite Logo with Weblink">
  <p:cSld name="White Logo with Weblink">
    <p:bg>
      <p:bgPr>
        <a:solidFill>
          <a:srgbClr val="12312B"/>
        </a:solid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/>
        </p:nvSpPr>
        <p:spPr>
          <a:xfrm>
            <a:off x="2287300" y="5092383"/>
            <a:ext cx="7300200" cy="53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60950" rIns="60950" bIns="609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34">
                <a:solidFill>
                  <a:srgbClr val="A5D75F"/>
                </a:solidFill>
                <a:latin typeface="Archivo ExtraBold"/>
                <a:ea typeface="Archivo ExtraBold"/>
                <a:cs typeface="Archivo ExtraBold"/>
                <a:sym typeface="Archivo ExtraBold"/>
              </a:rPr>
              <a:t>libraries.dartmouth.edu</a:t>
            </a:r>
            <a:endParaRPr sz="4734">
              <a:solidFill>
                <a:srgbClr val="A5D75F"/>
              </a:solidFill>
              <a:latin typeface="Archivo ExtraBold"/>
              <a:ea typeface="Archivo ExtraBold"/>
              <a:cs typeface="Archivo ExtraBold"/>
              <a:sym typeface="Archivo ExtraBold"/>
            </a:endParaRPr>
          </a:p>
        </p:txBody>
      </p:sp>
      <p:pic>
        <p:nvPicPr>
          <p:cNvPr id="101" name="Google Shape;101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118259" y="1119151"/>
            <a:ext cx="7638289" cy="36602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0965099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hite Logo with Weblink alternate">
  <p:cSld name="White Logo with Weblink alternate">
    <p:bg>
      <p:bgPr>
        <a:solidFill>
          <a:schemeClr val="dk2"/>
        </a:solidFill>
        <a:effectLst/>
      </p:bgPr>
    </p:bg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1"/>
          <p:cNvSpPr txBox="1"/>
          <p:nvPr/>
        </p:nvSpPr>
        <p:spPr>
          <a:xfrm>
            <a:off x="2287300" y="5092383"/>
            <a:ext cx="7300200" cy="53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60950" rIns="60950" bIns="609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34">
                <a:solidFill>
                  <a:srgbClr val="A5D75F"/>
                </a:solidFill>
                <a:latin typeface="Archivo ExtraBold"/>
                <a:ea typeface="Archivo ExtraBold"/>
                <a:cs typeface="Archivo ExtraBold"/>
                <a:sym typeface="Archivo ExtraBold"/>
              </a:rPr>
              <a:t>libraries.dartmouth.edu</a:t>
            </a:r>
            <a:endParaRPr sz="4734">
              <a:solidFill>
                <a:srgbClr val="A5D75F"/>
              </a:solidFill>
              <a:latin typeface="Archivo ExtraBold"/>
              <a:ea typeface="Archivo ExtraBold"/>
              <a:cs typeface="Archivo ExtraBold"/>
              <a:sym typeface="Archivo ExtraBold"/>
            </a:endParaRPr>
          </a:p>
        </p:txBody>
      </p:sp>
      <p:pic>
        <p:nvPicPr>
          <p:cNvPr id="104" name="Google Shape;104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118259" y="1119151"/>
            <a:ext cx="7638289" cy="36602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9919874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-White">
  <p:cSld name="Section Header-White">
    <p:bg>
      <p:bgPr>
        <a:solidFill>
          <a:schemeClr val="lt1"/>
        </a:solidFill>
        <a:effectLst/>
      </p:bgPr>
    </p:bg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"/>
          <p:cNvSpPr txBox="1">
            <a:spLocks noGrp="1"/>
          </p:cNvSpPr>
          <p:nvPr>
            <p:ph type="title"/>
          </p:nvPr>
        </p:nvSpPr>
        <p:spPr>
          <a:xfrm>
            <a:off x="2329800" y="1709750"/>
            <a:ext cx="90174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93E"/>
              </a:buClr>
              <a:buSzPts val="6000"/>
              <a:buFont typeface="Arial"/>
              <a:buNone/>
              <a:defRPr sz="6000">
                <a:solidFill>
                  <a:srgbClr val="00693E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body" idx="1"/>
          </p:nvPr>
        </p:nvSpPr>
        <p:spPr>
          <a:xfrm>
            <a:off x="2329800" y="4562450"/>
            <a:ext cx="90174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sldNum" idx="12"/>
          </p:nvPr>
        </p:nvSpPr>
        <p:spPr>
          <a:xfrm>
            <a:off x="10855712" y="6424596"/>
            <a:ext cx="498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1" name="Google Shape;41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910725" y="0"/>
            <a:ext cx="1828247" cy="182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" name="Google Shape;42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910725" y="1825625"/>
            <a:ext cx="1828247" cy="182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" name="Google Shape;4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910725" y="3651250"/>
            <a:ext cx="1828247" cy="182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" name="Google Shape;44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910725" y="5476875"/>
            <a:ext cx="1828247" cy="182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Google Shape;45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99700" y="5639340"/>
            <a:ext cx="1993825" cy="955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Google Shape;46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1550" y="2805988"/>
            <a:ext cx="1828249" cy="169051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681887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1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30.xml"/><Relationship Id="rId2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23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7F8B098-1FDB-85A1-A229-1509E5A58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32BFF5-A90E-828B-F083-5B73160FBF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2AFF2E-3469-82AC-BD65-432D2A47F7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91598F-E36D-2AFA-F7B0-EFCB4A88D8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0A7395-CD56-00F2-67A4-06A3886512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E2F6DB-E6B6-4703-834F-10175180B3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0967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82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04800" y="183114"/>
            <a:ext cx="11249000" cy="14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0"/>
              <a:buFont typeface="Anton"/>
              <a:buNone/>
              <a:defRPr sz="10000" i="0" u="none" strike="noStrike" cap="none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6415583" y="2621383"/>
            <a:ext cx="7425600" cy="37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577850" algn="l" rtl="0">
              <a:spcBef>
                <a:spcPts val="640"/>
              </a:spcBef>
              <a:spcAft>
                <a:spcPts val="0"/>
              </a:spcAft>
              <a:buClr>
                <a:srgbClr val="00693D"/>
              </a:buClr>
              <a:buSzPts val="5500"/>
              <a:buFont typeface="Archivo"/>
              <a:buChar char="●"/>
              <a:defRPr sz="5500" b="1" i="0" u="none" strike="noStrike" cap="none">
                <a:solidFill>
                  <a:srgbClr val="00693D"/>
                </a:solidFill>
                <a:latin typeface="Archivo"/>
                <a:ea typeface="Archivo"/>
                <a:cs typeface="Archivo"/>
                <a:sym typeface="Archivo"/>
              </a:defRPr>
            </a:lvl1pPr>
            <a:lvl2pPr marL="914400" marR="0" lvl="1" indent="-533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chivo SemiBold"/>
              <a:buChar char="○"/>
              <a:defRPr sz="480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2pPr>
            <a:lvl3pPr marL="1371600" marR="0" lvl="2" indent="-4381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chivo Medium"/>
              <a:buChar char="■"/>
              <a:defRPr sz="3300" i="0" u="none" strike="noStrike" cap="none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3pPr>
            <a:lvl4pPr marL="1828800" marR="0" lvl="3" indent="-3810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chivo"/>
              <a:buChar char="●"/>
              <a:defRPr sz="2400" b="1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4pPr>
            <a:lvl5pPr marL="2286000" marR="0" lvl="4" indent="-3619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chivo SemiBold"/>
              <a:buChar char="○"/>
              <a:defRPr sz="2100" i="0" u="none" strike="noStrike" cap="none">
                <a:solidFill>
                  <a:schemeClr val="dk1"/>
                </a:solidFill>
                <a:latin typeface="Archivo SemiBold"/>
                <a:ea typeface="Archivo SemiBold"/>
                <a:cs typeface="Archivo SemiBold"/>
                <a:sym typeface="Archivo SemiBold"/>
              </a:defRPr>
            </a:lvl5pPr>
            <a:lvl6pPr marL="2743200" marR="0" lvl="5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chivo Medium"/>
              <a:buChar char="■"/>
              <a:defRPr sz="1800" i="0" u="none" strike="noStrike" cap="none">
                <a:solidFill>
                  <a:schemeClr val="dk1"/>
                </a:solidFill>
                <a:latin typeface="Archivo Medium"/>
                <a:ea typeface="Archivo Medium"/>
                <a:cs typeface="Archivo Medium"/>
                <a:sym typeface="Archivo Medium"/>
              </a:defRPr>
            </a:lvl6pPr>
            <a:lvl7pPr marL="3200400" marR="0" lvl="6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chivo"/>
              <a:buChar char="●"/>
              <a:defRPr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7pPr>
            <a:lvl8pPr marL="3657600" marR="0" lvl="7" indent="-3048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○"/>
              <a:defRPr sz="120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8pPr>
            <a:lvl9pPr marL="4114800" marR="0" lvl="8" indent="-3048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chivo"/>
              <a:buChar char="■"/>
              <a:defRPr sz="1200" i="0" u="none" strike="noStrike" cap="none">
                <a:solidFill>
                  <a:schemeClr val="dk1"/>
                </a:solidFill>
                <a:latin typeface="Archivo"/>
                <a:ea typeface="Archivo"/>
                <a:cs typeface="Archivo"/>
                <a:sym typeface="Archivo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21704862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7" r:id="rId13"/>
    <p:sldLayoutId id="2147483678" r:id="rId14"/>
    <p:sldLayoutId id="2147483679" r:id="rId15"/>
    <p:sldLayoutId id="2147483680" r:id="rId16"/>
    <p:sldLayoutId id="2147483681" r:id="rId17"/>
    <p:sldLayoutId id="2147483683" r:id="rId1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40">
          <p15:clr>
            <a:srgbClr val="E46962"/>
          </p15:clr>
        </p15:guide>
        <p15:guide id="2" pos="5760">
          <p15:clr>
            <a:srgbClr val="E46962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9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5.xml"/></Relationships>
</file>

<file path=ppt/slides/_rels/slide34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7B_EB9FF455.xm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5.xml"/><Relationship Id="rId5" Type="http://schemas.openxmlformats.org/officeDocument/2006/relationships/hyperlink" Target="https://towardsdatascience.com/demystifying-the-correlation-matrix-in-data-science-6b8a4482b6e2/" TargetMode="External"/><Relationship Id="rId4" Type="http://schemas.openxmlformats.org/officeDocument/2006/relationships/image" Target="../media/image17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5.xml"/></Relationships>
</file>

<file path=ppt/slides/_rels/slide39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62_A6C64414.xml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5.xml"/></Relationships>
</file>

<file path=ppt/slides/_rels/slide42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61_DE98C238.xml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5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5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2"/>
          <p:cNvSpPr txBox="1"/>
          <p:nvPr/>
        </p:nvSpPr>
        <p:spPr>
          <a:xfrm>
            <a:off x="1257100" y="2303138"/>
            <a:ext cx="9677800" cy="17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40001"/>
              </a:lnSpc>
            </a:pPr>
            <a:r>
              <a:rPr lang="en-US" sz="4800" dirty="0">
                <a:latin typeface="Anton"/>
                <a:ea typeface="Anton"/>
                <a:cs typeface="Anton"/>
                <a:sym typeface="Anton"/>
              </a:rPr>
              <a:t>Session 2a:</a:t>
            </a:r>
          </a:p>
          <a:p>
            <a:pPr>
              <a:lnSpc>
                <a:spcPct val="140001"/>
              </a:lnSpc>
            </a:pPr>
            <a:r>
              <a:rPr lang="en-US" sz="4800" dirty="0">
                <a:latin typeface="Anton"/>
                <a:ea typeface="Anton"/>
                <a:cs typeface="Anton"/>
                <a:sym typeface="Anton"/>
              </a:rPr>
              <a:t>INTRODUCTION TO EXPLORING YOUR DATA</a:t>
            </a:r>
          </a:p>
        </p:txBody>
      </p:sp>
      <p:sp>
        <p:nvSpPr>
          <p:cNvPr id="112" name="Google Shape;112;p22"/>
          <p:cNvSpPr/>
          <p:nvPr/>
        </p:nvSpPr>
        <p:spPr>
          <a:xfrm>
            <a:off x="625722" y="4158302"/>
            <a:ext cx="10019901" cy="780393"/>
          </a:xfrm>
          <a:custGeom>
            <a:avLst/>
            <a:gdLst/>
            <a:ahLst/>
            <a:cxnLst/>
            <a:rect l="l" t="t" r="r" b="b"/>
            <a:pathLst>
              <a:path w="6287497" h="938348" extrusionOk="0">
                <a:moveTo>
                  <a:pt x="0" y="0"/>
                </a:moveTo>
                <a:lnTo>
                  <a:pt x="6287496" y="0"/>
                </a:lnTo>
                <a:lnTo>
                  <a:pt x="6287496" y="938349"/>
                </a:lnTo>
                <a:lnTo>
                  <a:pt x="0" y="9383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 sz="1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555B9BD9-DF9E-AC20-26F6-95664F4E0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6">
            <a:extLst>
              <a:ext uri="{FF2B5EF4-FFF2-40B4-BE49-F238E27FC236}">
                <a16:creationId xmlns:a16="http://schemas.microsoft.com/office/drawing/2014/main" id="{E1BF5683-D6F4-7C8F-FD88-A6220438308F}"/>
              </a:ext>
            </a:extLst>
          </p:cNvPr>
          <p:cNvSpPr txBox="1"/>
          <p:nvPr/>
        </p:nvSpPr>
        <p:spPr>
          <a:xfrm>
            <a:off x="922202" y="1157695"/>
            <a:ext cx="6097800" cy="742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defTabSz="609630">
              <a:lnSpc>
                <a:spcPct val="140007"/>
              </a:lnSpc>
              <a:buClr>
                <a:srgbClr val="000000"/>
              </a:buClr>
            </a:pPr>
            <a:r>
              <a:rPr lang="en-US" sz="3446" kern="0" dirty="0">
                <a:solidFill>
                  <a:srgbClr val="00693D"/>
                </a:solidFill>
                <a:latin typeface="Anton"/>
                <a:ea typeface="Anton"/>
                <a:cs typeface="Anton"/>
                <a:sym typeface="Anton"/>
              </a:rPr>
              <a:t>Exploratory Data Analysis aka EDA</a:t>
            </a:r>
          </a:p>
        </p:txBody>
      </p:sp>
      <p:sp>
        <p:nvSpPr>
          <p:cNvPr id="142" name="Google Shape;142;p26">
            <a:extLst>
              <a:ext uri="{FF2B5EF4-FFF2-40B4-BE49-F238E27FC236}">
                <a16:creationId xmlns:a16="http://schemas.microsoft.com/office/drawing/2014/main" id="{1F33F10C-E37B-AAC3-E67B-2ECA203B4738}"/>
              </a:ext>
            </a:extLst>
          </p:cNvPr>
          <p:cNvSpPr txBox="1"/>
          <p:nvPr/>
        </p:nvSpPr>
        <p:spPr>
          <a:xfrm>
            <a:off x="867673" y="1900078"/>
            <a:ext cx="9776400" cy="3793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400" kern="0" dirty="0">
              <a:solidFill>
                <a:srgbClr val="12312B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sz="2400" kern="0" dirty="0">
                <a:solidFill>
                  <a:srgbClr val="12312B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By the end of this session, you will</a:t>
            </a:r>
          </a:p>
          <a:p>
            <a:pPr marL="1016730" lvl="2" indent="-342900" defTabSz="609630">
              <a:lnSpc>
                <a:spcPct val="140013"/>
              </a:lnSpc>
              <a:buClr>
                <a:srgbClr val="12312B"/>
              </a:buClr>
              <a:buSzPct val="115000"/>
              <a:buAutoNum type="arabicPeriod"/>
            </a:pPr>
            <a:r>
              <a:rPr lang="en-US" sz="2000" kern="0" dirty="0">
                <a:solidFill>
                  <a:srgbClr val="12312B"/>
                </a:solidFill>
                <a:latin typeface="Archivo Medium"/>
                <a:cs typeface="Archivo Medium"/>
                <a:sym typeface="Archivo Medium"/>
              </a:rPr>
              <a:t>Understand why it is important to explore a dataset before analyzing it. </a:t>
            </a:r>
          </a:p>
          <a:p>
            <a:pPr marL="1016730" lvl="2" indent="-342900" defTabSz="609630">
              <a:lnSpc>
                <a:spcPct val="140013"/>
              </a:lnSpc>
              <a:buClr>
                <a:srgbClr val="12312B"/>
              </a:buClr>
              <a:buSzPct val="115000"/>
              <a:buAutoNum type="arabicPeriod"/>
            </a:pPr>
            <a:r>
              <a:rPr lang="en-US" sz="2000" kern="0" dirty="0">
                <a:solidFill>
                  <a:srgbClr val="12312B"/>
                </a:solidFill>
                <a:latin typeface="Archivo Medium"/>
                <a:cs typeface="Archivo Medium"/>
                <a:sym typeface="Archivo Medium"/>
              </a:rPr>
              <a:t>Learn high-level dataset features to consider for suitability to the research question.</a:t>
            </a:r>
          </a:p>
          <a:p>
            <a:pPr marL="1016730" lvl="2" indent="-342900" defTabSz="609630">
              <a:lnSpc>
                <a:spcPct val="140013"/>
              </a:lnSpc>
              <a:buClr>
                <a:srgbClr val="12312B"/>
              </a:buClr>
              <a:buSzPct val="115000"/>
              <a:buAutoNum type="arabicPeriod"/>
            </a:pPr>
            <a:r>
              <a:rPr lang="en-US" sz="2000" kern="0" dirty="0">
                <a:solidFill>
                  <a:srgbClr val="12312B"/>
                </a:solidFill>
                <a:latin typeface="Archivo Medium"/>
                <a:cs typeface="Archivo Medium"/>
                <a:sym typeface="Archivo Medium"/>
              </a:rPr>
              <a:t>Be able to effectively explore a dataset’s contents and identify issues</a:t>
            </a:r>
          </a:p>
          <a:p>
            <a:pPr marL="673830" lvl="2" defTabSz="609630">
              <a:lnSpc>
                <a:spcPct val="140013"/>
              </a:lnSpc>
              <a:buClr>
                <a:srgbClr val="12312B"/>
              </a:buClr>
              <a:buSzPct val="115000"/>
            </a:pPr>
            <a:endParaRPr lang="en-US" sz="2400" kern="0" dirty="0">
              <a:solidFill>
                <a:srgbClr val="12312B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sz="2400" kern="0" dirty="0">
                <a:solidFill>
                  <a:srgbClr val="12312B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After the break, we’ll apply this learning to our train data.</a:t>
            </a:r>
            <a:endParaRPr sz="1000" kern="0" dirty="0">
              <a:solidFill>
                <a:srgbClr val="000000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defTabSz="609630">
              <a:lnSpc>
                <a:spcPct val="140013"/>
              </a:lnSpc>
              <a:buClr>
                <a:srgbClr val="000000"/>
              </a:buClr>
            </a:pPr>
            <a:endParaRPr sz="2006" kern="0" dirty="0">
              <a:solidFill>
                <a:srgbClr val="12312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26705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>
          <a:extLst>
            <a:ext uri="{FF2B5EF4-FFF2-40B4-BE49-F238E27FC236}">
              <a16:creationId xmlns:a16="http://schemas.microsoft.com/office/drawing/2014/main" id="{085F6405-7F4A-13C9-ADC6-785C80561D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9">
            <a:extLst>
              <a:ext uri="{FF2B5EF4-FFF2-40B4-BE49-F238E27FC236}">
                <a16:creationId xmlns:a16="http://schemas.microsoft.com/office/drawing/2014/main" id="{F0B4E771-CF6F-C6B2-8CF5-60A162B7873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29800" y="1709750"/>
            <a:ext cx="90174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lang="en-US" dirty="0">
                <a:highlight>
                  <a:srgbClr val="FFFF00"/>
                </a:highlight>
              </a:rPr>
              <a:t>POLL 1</a:t>
            </a:r>
            <a:endParaRPr b="0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8461994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>
          <a:extLst>
            <a:ext uri="{FF2B5EF4-FFF2-40B4-BE49-F238E27FC236}">
              <a16:creationId xmlns:a16="http://schemas.microsoft.com/office/drawing/2014/main" id="{3E414038-5369-B37B-4312-59566BAC0C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5">
            <a:extLst>
              <a:ext uri="{FF2B5EF4-FFF2-40B4-BE49-F238E27FC236}">
                <a16:creationId xmlns:a16="http://schemas.microsoft.com/office/drawing/2014/main" id="{AEFC1B03-EB6E-7013-558E-E1A5E260A541}"/>
              </a:ext>
            </a:extLst>
          </p:cNvPr>
          <p:cNvSpPr txBox="1"/>
          <p:nvPr/>
        </p:nvSpPr>
        <p:spPr>
          <a:xfrm>
            <a:off x="1417320" y="2148841"/>
            <a:ext cx="9930384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defTabSz="609630">
              <a:buClr>
                <a:srgbClr val="000000"/>
              </a:buClr>
            </a:pPr>
            <a:r>
              <a:rPr lang="en-US" sz="4800" kern="0" dirty="0">
                <a:solidFill>
                  <a:srgbClr val="A5D75F"/>
                </a:solidFill>
                <a:latin typeface="Anton"/>
                <a:ea typeface="Anton"/>
                <a:cs typeface="Anton"/>
                <a:sym typeface="Anton"/>
              </a:rPr>
              <a:t>The research process</a:t>
            </a:r>
            <a:endParaRPr sz="100" kern="0" dirty="0">
              <a:solidFill>
                <a:srgbClr val="A5D75F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35" name="Google Shape;135;p25">
            <a:extLst>
              <a:ext uri="{FF2B5EF4-FFF2-40B4-BE49-F238E27FC236}">
                <a16:creationId xmlns:a16="http://schemas.microsoft.com/office/drawing/2014/main" id="{27C37B2B-A165-ED87-47C5-9789B934C931}"/>
              </a:ext>
            </a:extLst>
          </p:cNvPr>
          <p:cNvSpPr/>
          <p:nvPr/>
        </p:nvSpPr>
        <p:spPr>
          <a:xfrm>
            <a:off x="836403" y="3038803"/>
            <a:ext cx="7990097" cy="780393"/>
          </a:xfrm>
          <a:custGeom>
            <a:avLst/>
            <a:gdLst/>
            <a:ahLst/>
            <a:cxnLst/>
            <a:rect l="l" t="t" r="r" b="b"/>
            <a:pathLst>
              <a:path w="6287497" h="938348" extrusionOk="0">
                <a:moveTo>
                  <a:pt x="0" y="0"/>
                </a:moveTo>
                <a:lnTo>
                  <a:pt x="6287496" y="0"/>
                </a:lnTo>
                <a:lnTo>
                  <a:pt x="6287496" y="938349"/>
                </a:lnTo>
                <a:lnTo>
                  <a:pt x="0" y="9383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pPr defTabSz="609630">
              <a:buClr>
                <a:srgbClr val="000000"/>
              </a:buClr>
            </a:pPr>
            <a:endParaRPr lang="en-US" sz="933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721853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CC5B0E40-F06E-ED9C-1295-626B97CA27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6">
            <a:extLst>
              <a:ext uri="{FF2B5EF4-FFF2-40B4-BE49-F238E27FC236}">
                <a16:creationId xmlns:a16="http://schemas.microsoft.com/office/drawing/2014/main" id="{EA6DC3D4-80B7-B442-9E47-B7AF297B980B}"/>
              </a:ext>
            </a:extLst>
          </p:cNvPr>
          <p:cNvSpPr txBox="1"/>
          <p:nvPr/>
        </p:nvSpPr>
        <p:spPr>
          <a:xfrm>
            <a:off x="922202" y="1157695"/>
            <a:ext cx="9796350" cy="742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defTabSz="609630">
              <a:lnSpc>
                <a:spcPct val="140007"/>
              </a:lnSpc>
              <a:buClr>
                <a:srgbClr val="000000"/>
              </a:buClr>
            </a:pPr>
            <a:r>
              <a:rPr lang="en-US" sz="3446" kern="0" dirty="0">
                <a:solidFill>
                  <a:srgbClr val="00693D"/>
                </a:solidFill>
                <a:latin typeface="Anton"/>
                <a:ea typeface="Anton"/>
                <a:cs typeface="Anton"/>
                <a:sym typeface="Anton"/>
              </a:rPr>
              <a:t>The research process from a data perspective*</a:t>
            </a:r>
            <a:endParaRPr sz="933" kern="0" dirty="0">
              <a:solidFill>
                <a:srgbClr val="000000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6A2FEDCC-7067-8878-945A-FED8612480E9}"/>
              </a:ext>
            </a:extLst>
          </p:cNvPr>
          <p:cNvSpPr/>
          <p:nvPr/>
        </p:nvSpPr>
        <p:spPr>
          <a:xfrm>
            <a:off x="1847097" y="3019801"/>
            <a:ext cx="1731853" cy="973122"/>
          </a:xfrm>
          <a:custGeom>
            <a:avLst/>
            <a:gdLst>
              <a:gd name="connsiteX0" fmla="*/ 0 w 1722296"/>
              <a:gd name="connsiteY0" fmla="*/ 0 h 688918"/>
              <a:gd name="connsiteX1" fmla="*/ 1377837 w 1722296"/>
              <a:gd name="connsiteY1" fmla="*/ 0 h 688918"/>
              <a:gd name="connsiteX2" fmla="*/ 1722296 w 1722296"/>
              <a:gd name="connsiteY2" fmla="*/ 344459 h 688918"/>
              <a:gd name="connsiteX3" fmla="*/ 1377837 w 1722296"/>
              <a:gd name="connsiteY3" fmla="*/ 688918 h 688918"/>
              <a:gd name="connsiteX4" fmla="*/ 0 w 1722296"/>
              <a:gd name="connsiteY4" fmla="*/ 688918 h 688918"/>
              <a:gd name="connsiteX5" fmla="*/ 344459 w 1722296"/>
              <a:gd name="connsiteY5" fmla="*/ 344459 h 688918"/>
              <a:gd name="connsiteX6" fmla="*/ 0 w 1722296"/>
              <a:gd name="connsiteY6" fmla="*/ 0 h 6889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22296" h="688918">
                <a:moveTo>
                  <a:pt x="0" y="0"/>
                </a:moveTo>
                <a:lnTo>
                  <a:pt x="1377837" y="0"/>
                </a:lnTo>
                <a:lnTo>
                  <a:pt x="1722296" y="344459"/>
                </a:lnTo>
                <a:lnTo>
                  <a:pt x="1377837" y="688918"/>
                </a:lnTo>
                <a:lnTo>
                  <a:pt x="0" y="688918"/>
                </a:lnTo>
                <a:lnTo>
                  <a:pt x="344459" y="34445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04467" tIns="20003" rIns="364462" bIns="20003" numCol="1" spcCol="1270" anchor="ctr" anchorCtr="0">
            <a:noAutofit/>
          </a:bodyPr>
          <a:lstStyle/>
          <a:p>
            <a:pPr marL="0" lvl="0" indent="0"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kern="1200" dirty="0">
                <a:latin typeface="Archivo Medium"/>
              </a:rPr>
              <a:t>Get Raw Data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433F1A3-1B0F-EC1F-D46F-680664600BA4}"/>
              </a:ext>
            </a:extLst>
          </p:cNvPr>
          <p:cNvSpPr/>
          <p:nvPr/>
        </p:nvSpPr>
        <p:spPr>
          <a:xfrm>
            <a:off x="3405765" y="3019801"/>
            <a:ext cx="1800986" cy="973122"/>
          </a:xfrm>
          <a:custGeom>
            <a:avLst/>
            <a:gdLst>
              <a:gd name="connsiteX0" fmla="*/ 0 w 1722296"/>
              <a:gd name="connsiteY0" fmla="*/ 0 h 688918"/>
              <a:gd name="connsiteX1" fmla="*/ 1377837 w 1722296"/>
              <a:gd name="connsiteY1" fmla="*/ 0 h 688918"/>
              <a:gd name="connsiteX2" fmla="*/ 1722296 w 1722296"/>
              <a:gd name="connsiteY2" fmla="*/ 344459 h 688918"/>
              <a:gd name="connsiteX3" fmla="*/ 1377837 w 1722296"/>
              <a:gd name="connsiteY3" fmla="*/ 688918 h 688918"/>
              <a:gd name="connsiteX4" fmla="*/ 0 w 1722296"/>
              <a:gd name="connsiteY4" fmla="*/ 688918 h 688918"/>
              <a:gd name="connsiteX5" fmla="*/ 344459 w 1722296"/>
              <a:gd name="connsiteY5" fmla="*/ 344459 h 688918"/>
              <a:gd name="connsiteX6" fmla="*/ 0 w 1722296"/>
              <a:gd name="connsiteY6" fmla="*/ 0 h 6889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22296" h="688918">
                <a:moveTo>
                  <a:pt x="0" y="0"/>
                </a:moveTo>
                <a:lnTo>
                  <a:pt x="1377837" y="0"/>
                </a:lnTo>
                <a:lnTo>
                  <a:pt x="1722296" y="344459"/>
                </a:lnTo>
                <a:lnTo>
                  <a:pt x="1377837" y="688918"/>
                </a:lnTo>
                <a:lnTo>
                  <a:pt x="0" y="688918"/>
                </a:lnTo>
                <a:lnTo>
                  <a:pt x="344459" y="344459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04467" tIns="20003" rIns="364462" bIns="20003" numCol="1" spcCol="1270" anchor="ctr" anchorCtr="0">
            <a:noAutofit/>
          </a:bodyPr>
          <a:lstStyle/>
          <a:p>
            <a:pPr marL="0" lvl="0" indent="0"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600" kern="1200" dirty="0">
                <a:latin typeface="Archivo Medium"/>
              </a:rPr>
              <a:t>Exploratory Data Analysis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475C74A-3A6C-173F-F399-71D3F4CC8B5C}"/>
              </a:ext>
            </a:extLst>
          </p:cNvPr>
          <p:cNvSpPr/>
          <p:nvPr/>
        </p:nvSpPr>
        <p:spPr>
          <a:xfrm>
            <a:off x="4964433" y="3019801"/>
            <a:ext cx="1731853" cy="973122"/>
          </a:xfrm>
          <a:custGeom>
            <a:avLst/>
            <a:gdLst>
              <a:gd name="connsiteX0" fmla="*/ 0 w 1722296"/>
              <a:gd name="connsiteY0" fmla="*/ 0 h 688918"/>
              <a:gd name="connsiteX1" fmla="*/ 1377837 w 1722296"/>
              <a:gd name="connsiteY1" fmla="*/ 0 h 688918"/>
              <a:gd name="connsiteX2" fmla="*/ 1722296 w 1722296"/>
              <a:gd name="connsiteY2" fmla="*/ 344459 h 688918"/>
              <a:gd name="connsiteX3" fmla="*/ 1377837 w 1722296"/>
              <a:gd name="connsiteY3" fmla="*/ 688918 h 688918"/>
              <a:gd name="connsiteX4" fmla="*/ 0 w 1722296"/>
              <a:gd name="connsiteY4" fmla="*/ 688918 h 688918"/>
              <a:gd name="connsiteX5" fmla="*/ 344459 w 1722296"/>
              <a:gd name="connsiteY5" fmla="*/ 344459 h 688918"/>
              <a:gd name="connsiteX6" fmla="*/ 0 w 1722296"/>
              <a:gd name="connsiteY6" fmla="*/ 0 h 6889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22296" h="688918">
                <a:moveTo>
                  <a:pt x="0" y="0"/>
                </a:moveTo>
                <a:lnTo>
                  <a:pt x="1377837" y="0"/>
                </a:lnTo>
                <a:lnTo>
                  <a:pt x="1722296" y="344459"/>
                </a:lnTo>
                <a:lnTo>
                  <a:pt x="1377837" y="688918"/>
                </a:lnTo>
                <a:lnTo>
                  <a:pt x="0" y="688918"/>
                </a:lnTo>
                <a:lnTo>
                  <a:pt x="344459" y="34445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04467" tIns="20003" rIns="364462" bIns="20003" numCol="1" spcCol="1270" anchor="ctr" anchorCtr="0">
            <a:noAutofit/>
          </a:bodyPr>
          <a:lstStyle/>
          <a:p>
            <a:pPr marL="0" lvl="0" indent="0"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kern="1200" dirty="0">
                <a:latin typeface="Archivo Medium"/>
              </a:rPr>
              <a:t>Analysis Planning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2826DB96-4D79-0DDA-DEBC-DD9E1F3F728F}"/>
              </a:ext>
            </a:extLst>
          </p:cNvPr>
          <p:cNvSpPr/>
          <p:nvPr/>
        </p:nvSpPr>
        <p:spPr>
          <a:xfrm>
            <a:off x="6523101" y="3019801"/>
            <a:ext cx="1731853" cy="973122"/>
          </a:xfrm>
          <a:custGeom>
            <a:avLst/>
            <a:gdLst>
              <a:gd name="connsiteX0" fmla="*/ 0 w 1722296"/>
              <a:gd name="connsiteY0" fmla="*/ 0 h 688918"/>
              <a:gd name="connsiteX1" fmla="*/ 1377837 w 1722296"/>
              <a:gd name="connsiteY1" fmla="*/ 0 h 688918"/>
              <a:gd name="connsiteX2" fmla="*/ 1722296 w 1722296"/>
              <a:gd name="connsiteY2" fmla="*/ 344459 h 688918"/>
              <a:gd name="connsiteX3" fmla="*/ 1377837 w 1722296"/>
              <a:gd name="connsiteY3" fmla="*/ 688918 h 688918"/>
              <a:gd name="connsiteX4" fmla="*/ 0 w 1722296"/>
              <a:gd name="connsiteY4" fmla="*/ 688918 h 688918"/>
              <a:gd name="connsiteX5" fmla="*/ 344459 w 1722296"/>
              <a:gd name="connsiteY5" fmla="*/ 344459 h 688918"/>
              <a:gd name="connsiteX6" fmla="*/ 0 w 1722296"/>
              <a:gd name="connsiteY6" fmla="*/ 0 h 6889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22296" h="688918">
                <a:moveTo>
                  <a:pt x="0" y="0"/>
                </a:moveTo>
                <a:lnTo>
                  <a:pt x="1377837" y="0"/>
                </a:lnTo>
                <a:lnTo>
                  <a:pt x="1722296" y="344459"/>
                </a:lnTo>
                <a:lnTo>
                  <a:pt x="1377837" y="688918"/>
                </a:lnTo>
                <a:lnTo>
                  <a:pt x="0" y="688918"/>
                </a:lnTo>
                <a:lnTo>
                  <a:pt x="344459" y="34445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04467" tIns="20003" rIns="364462" bIns="20003" numCol="1" spcCol="1270" anchor="ctr" anchorCtr="0">
            <a:noAutofit/>
          </a:bodyPr>
          <a:lstStyle/>
          <a:p>
            <a:pPr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dirty="0">
                <a:latin typeface="Archivo Medium"/>
              </a:rPr>
              <a:t>Data Cleaning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F9F56EA-3622-960C-9BAD-22FD906BBC7A}"/>
              </a:ext>
            </a:extLst>
          </p:cNvPr>
          <p:cNvSpPr/>
          <p:nvPr/>
        </p:nvSpPr>
        <p:spPr>
          <a:xfrm>
            <a:off x="8081767" y="3019801"/>
            <a:ext cx="1731853" cy="973122"/>
          </a:xfrm>
          <a:custGeom>
            <a:avLst/>
            <a:gdLst>
              <a:gd name="connsiteX0" fmla="*/ 0 w 1722296"/>
              <a:gd name="connsiteY0" fmla="*/ 0 h 688918"/>
              <a:gd name="connsiteX1" fmla="*/ 1377837 w 1722296"/>
              <a:gd name="connsiteY1" fmla="*/ 0 h 688918"/>
              <a:gd name="connsiteX2" fmla="*/ 1722296 w 1722296"/>
              <a:gd name="connsiteY2" fmla="*/ 344459 h 688918"/>
              <a:gd name="connsiteX3" fmla="*/ 1377837 w 1722296"/>
              <a:gd name="connsiteY3" fmla="*/ 688918 h 688918"/>
              <a:gd name="connsiteX4" fmla="*/ 0 w 1722296"/>
              <a:gd name="connsiteY4" fmla="*/ 688918 h 688918"/>
              <a:gd name="connsiteX5" fmla="*/ 344459 w 1722296"/>
              <a:gd name="connsiteY5" fmla="*/ 344459 h 688918"/>
              <a:gd name="connsiteX6" fmla="*/ 0 w 1722296"/>
              <a:gd name="connsiteY6" fmla="*/ 0 h 6889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22296" h="688918">
                <a:moveTo>
                  <a:pt x="0" y="0"/>
                </a:moveTo>
                <a:lnTo>
                  <a:pt x="1377837" y="0"/>
                </a:lnTo>
                <a:lnTo>
                  <a:pt x="1722296" y="344459"/>
                </a:lnTo>
                <a:lnTo>
                  <a:pt x="1377837" y="688918"/>
                </a:lnTo>
                <a:lnTo>
                  <a:pt x="0" y="688918"/>
                </a:lnTo>
                <a:lnTo>
                  <a:pt x="344459" y="34445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04467" tIns="20003" rIns="364462" bIns="20003" numCol="1" spcCol="1270" anchor="ctr" anchorCtr="0">
            <a:noAutofit/>
          </a:bodyPr>
          <a:lstStyle/>
          <a:p>
            <a:pPr marL="0" lvl="0" indent="0" algn="ctr" defTabSz="6667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kern="1200" dirty="0">
                <a:latin typeface="Archivo Medium"/>
              </a:rPr>
              <a:t>Data Analysis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B50A1AB-7B55-28F6-C95E-2C84F4F6C051}"/>
              </a:ext>
            </a:extLst>
          </p:cNvPr>
          <p:cNvSpPr txBox="1"/>
          <p:nvPr/>
        </p:nvSpPr>
        <p:spPr>
          <a:xfrm>
            <a:off x="1308577" y="1791114"/>
            <a:ext cx="738410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2"/>
                </a:solidFill>
              </a:rPr>
              <a:t>*Note this flow is specific to the data aspects of a research project and does not include critical steps like literature review and sharing your findings.</a:t>
            </a:r>
          </a:p>
          <a:p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BD022D9-46DA-465D-25F1-1951AE9AFFA4}"/>
              </a:ext>
            </a:extLst>
          </p:cNvPr>
          <p:cNvSpPr txBox="1"/>
          <p:nvPr/>
        </p:nvSpPr>
        <p:spPr>
          <a:xfrm>
            <a:off x="3040840" y="4623179"/>
            <a:ext cx="179104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2"/>
                </a:solidFill>
              </a:rPr>
              <a:t>Learn what your data contains and how it is formatted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0B371DE-3019-08FD-EC87-BC90DF38505E}"/>
              </a:ext>
            </a:extLst>
          </p:cNvPr>
          <p:cNvCxnSpPr>
            <a:cxnSpLocks/>
          </p:cNvCxnSpPr>
          <p:nvPr/>
        </p:nvCxnSpPr>
        <p:spPr>
          <a:xfrm>
            <a:off x="3971722" y="4104682"/>
            <a:ext cx="0" cy="473978"/>
          </a:xfrm>
          <a:prstGeom prst="straightConnector1">
            <a:avLst/>
          </a:prstGeom>
          <a:ln w="28575"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60E60B8-14AA-275F-4F41-798ECD89F97A}"/>
              </a:ext>
            </a:extLst>
          </p:cNvPr>
          <p:cNvCxnSpPr>
            <a:cxnSpLocks/>
          </p:cNvCxnSpPr>
          <p:nvPr/>
        </p:nvCxnSpPr>
        <p:spPr>
          <a:xfrm flipV="1">
            <a:off x="4626064" y="4104682"/>
            <a:ext cx="708557" cy="614125"/>
          </a:xfrm>
          <a:prstGeom prst="straightConnector1">
            <a:avLst/>
          </a:prstGeom>
          <a:ln w="28575"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8028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>
          <a:extLst>
            <a:ext uri="{FF2B5EF4-FFF2-40B4-BE49-F238E27FC236}">
              <a16:creationId xmlns:a16="http://schemas.microsoft.com/office/drawing/2014/main" id="{B1F212BE-D56F-A8CF-808B-08CB869D9C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5">
            <a:extLst>
              <a:ext uri="{FF2B5EF4-FFF2-40B4-BE49-F238E27FC236}">
                <a16:creationId xmlns:a16="http://schemas.microsoft.com/office/drawing/2014/main" id="{FE5081CA-880C-3DEA-FB7C-E5D132381299}"/>
              </a:ext>
            </a:extLst>
          </p:cNvPr>
          <p:cNvSpPr txBox="1"/>
          <p:nvPr/>
        </p:nvSpPr>
        <p:spPr>
          <a:xfrm>
            <a:off x="1417320" y="2148841"/>
            <a:ext cx="9930384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defTabSz="609630">
              <a:buClr>
                <a:srgbClr val="000000"/>
              </a:buClr>
            </a:pPr>
            <a:r>
              <a:rPr lang="en-US" sz="4800" kern="0" dirty="0">
                <a:solidFill>
                  <a:srgbClr val="A5D75F"/>
                </a:solidFill>
                <a:latin typeface="Anton"/>
                <a:ea typeface="Anton"/>
                <a:cs typeface="Anton"/>
                <a:sym typeface="Anton"/>
              </a:rPr>
              <a:t>Why do we explore our data?</a:t>
            </a:r>
            <a:endParaRPr sz="100" kern="0" dirty="0">
              <a:solidFill>
                <a:srgbClr val="A5D75F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35" name="Google Shape;135;p25">
            <a:extLst>
              <a:ext uri="{FF2B5EF4-FFF2-40B4-BE49-F238E27FC236}">
                <a16:creationId xmlns:a16="http://schemas.microsoft.com/office/drawing/2014/main" id="{893EBE21-86A7-3B8F-79D9-C4B20E1B96ED}"/>
              </a:ext>
            </a:extLst>
          </p:cNvPr>
          <p:cNvSpPr/>
          <p:nvPr/>
        </p:nvSpPr>
        <p:spPr>
          <a:xfrm>
            <a:off x="836403" y="3038803"/>
            <a:ext cx="7990097" cy="780393"/>
          </a:xfrm>
          <a:custGeom>
            <a:avLst/>
            <a:gdLst/>
            <a:ahLst/>
            <a:cxnLst/>
            <a:rect l="l" t="t" r="r" b="b"/>
            <a:pathLst>
              <a:path w="6287497" h="938348" extrusionOk="0">
                <a:moveTo>
                  <a:pt x="0" y="0"/>
                </a:moveTo>
                <a:lnTo>
                  <a:pt x="6287496" y="0"/>
                </a:lnTo>
                <a:lnTo>
                  <a:pt x="6287496" y="938349"/>
                </a:lnTo>
                <a:lnTo>
                  <a:pt x="0" y="9383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pPr defTabSz="609630">
              <a:buClr>
                <a:srgbClr val="000000"/>
              </a:buClr>
            </a:pPr>
            <a:endParaRPr lang="en-US" sz="933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82568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36A3A810-BE3F-FF9F-7C09-CC7A3E413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6">
            <a:extLst>
              <a:ext uri="{FF2B5EF4-FFF2-40B4-BE49-F238E27FC236}">
                <a16:creationId xmlns:a16="http://schemas.microsoft.com/office/drawing/2014/main" id="{CFB73FC9-1CA6-89B0-A47E-4CD56BECF796}"/>
              </a:ext>
            </a:extLst>
          </p:cNvPr>
          <p:cNvSpPr txBox="1"/>
          <p:nvPr/>
        </p:nvSpPr>
        <p:spPr>
          <a:xfrm>
            <a:off x="922202" y="1157695"/>
            <a:ext cx="6097800" cy="742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defTabSz="609630">
              <a:lnSpc>
                <a:spcPct val="140007"/>
              </a:lnSpc>
              <a:buClr>
                <a:srgbClr val="000000"/>
              </a:buClr>
            </a:pPr>
            <a:r>
              <a:rPr lang="en-US" sz="3446" kern="0" dirty="0">
                <a:solidFill>
                  <a:srgbClr val="00693D"/>
                </a:solidFill>
                <a:latin typeface="Anton"/>
                <a:ea typeface="Anton"/>
                <a:cs typeface="Anton"/>
                <a:sym typeface="Anton"/>
              </a:rPr>
              <a:t>Why explore the data?</a:t>
            </a:r>
            <a:endParaRPr sz="933" kern="0" dirty="0">
              <a:solidFill>
                <a:srgbClr val="000000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42" name="Google Shape;142;p26">
            <a:extLst>
              <a:ext uri="{FF2B5EF4-FFF2-40B4-BE49-F238E27FC236}">
                <a16:creationId xmlns:a16="http://schemas.microsoft.com/office/drawing/2014/main" id="{979C2E83-708D-E6AD-5F5E-877A1779EB5E}"/>
              </a:ext>
            </a:extLst>
          </p:cNvPr>
          <p:cNvSpPr txBox="1"/>
          <p:nvPr/>
        </p:nvSpPr>
        <p:spPr>
          <a:xfrm>
            <a:off x="922202" y="1736904"/>
            <a:ext cx="9776400" cy="4833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006" kern="0" dirty="0">
              <a:solidFill>
                <a:srgbClr val="12312B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sz="2006" kern="0" dirty="0">
                <a:solidFill>
                  <a:srgbClr val="12312B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Determine whether it is suitable for your analysis.</a:t>
            </a: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006" kern="0" dirty="0">
              <a:solidFill>
                <a:srgbClr val="12312B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sz="2006" kern="0" dirty="0">
                <a:solidFill>
                  <a:srgbClr val="12312B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Identify features to keep in mind as you conduct the rest of your project.</a:t>
            </a:r>
          </a:p>
          <a:p>
            <a:pPr marL="866521" lvl="2" indent="-28884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⚬"/>
            </a:pPr>
            <a:r>
              <a:rPr lang="en-US" sz="1600" dirty="0">
                <a:sym typeface="Archivo Medium"/>
              </a:rPr>
              <a:t>Analysis planning</a:t>
            </a:r>
          </a:p>
          <a:p>
            <a:pPr marL="866521" lvl="2" indent="-28884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⚬"/>
            </a:pPr>
            <a:r>
              <a:rPr lang="en-US" sz="1600" dirty="0">
                <a:sym typeface="Archivo Medium"/>
              </a:rPr>
              <a:t>Data cleaning</a:t>
            </a:r>
          </a:p>
          <a:p>
            <a:pPr marL="866521" lvl="2" indent="-28884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⚬"/>
            </a:pPr>
            <a:r>
              <a:rPr lang="en-US" sz="1600" dirty="0">
                <a:sym typeface="Archivo Medium"/>
              </a:rPr>
              <a:t>Data analysis </a:t>
            </a: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006" kern="0" dirty="0">
              <a:solidFill>
                <a:srgbClr val="12312B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marL="216630" lvl="1" algn="ctr" defTabSz="609630">
              <a:lnSpc>
                <a:spcPct val="140013"/>
              </a:lnSpc>
              <a:buClr>
                <a:srgbClr val="12312B"/>
              </a:buClr>
              <a:buSzPts val="3009"/>
            </a:pPr>
            <a:r>
              <a:rPr lang="en-US" sz="2800" b="1" kern="0" dirty="0">
                <a:solidFill>
                  <a:schemeClr val="bg2"/>
                </a:solidFill>
                <a:latin typeface="Archivo Medium"/>
                <a:sym typeface="Arial"/>
              </a:rPr>
              <a:t>It’s important to </a:t>
            </a:r>
            <a:r>
              <a:rPr lang="en-US" sz="2800" b="1" kern="0" dirty="0">
                <a:solidFill>
                  <a:schemeClr val="bg2"/>
                </a:solidFill>
                <a:latin typeface="Archivo Medium"/>
                <a:sym typeface="Archivo Medium"/>
              </a:rPr>
              <a:t>think critically about the dataset </a:t>
            </a:r>
            <a:r>
              <a:rPr lang="en-US" sz="2800" b="1" u="sng" kern="0" dirty="0">
                <a:solidFill>
                  <a:schemeClr val="bg2"/>
                </a:solidFill>
                <a:latin typeface="Archivo Medium"/>
                <a:sym typeface="Archivo Medium"/>
              </a:rPr>
              <a:t>before</a:t>
            </a:r>
            <a:r>
              <a:rPr lang="en-US" sz="2800" b="1" kern="0" dirty="0">
                <a:solidFill>
                  <a:schemeClr val="bg2"/>
                </a:solidFill>
                <a:latin typeface="Archivo Medium"/>
                <a:sym typeface="Archivo Medium"/>
              </a:rPr>
              <a:t> </a:t>
            </a:r>
          </a:p>
          <a:p>
            <a:pPr marL="216630" lvl="1" algn="ctr" defTabSz="609630">
              <a:lnSpc>
                <a:spcPct val="140013"/>
              </a:lnSpc>
              <a:buClr>
                <a:srgbClr val="12312B"/>
              </a:buClr>
              <a:buSzPts val="3009"/>
            </a:pPr>
            <a:r>
              <a:rPr lang="en-US" sz="2800" b="1" kern="0" dirty="0">
                <a:solidFill>
                  <a:schemeClr val="bg2"/>
                </a:solidFill>
                <a:latin typeface="Archivo Medium"/>
                <a:sym typeface="Archivo Medium"/>
              </a:rPr>
              <a:t>you start analyzing it.</a:t>
            </a: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006" kern="0" dirty="0">
              <a:solidFill>
                <a:srgbClr val="12312B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</p:txBody>
      </p:sp>
    </p:spTree>
    <p:extLst>
      <p:ext uri="{BB962C8B-B14F-4D97-AF65-F5344CB8AC3E}">
        <p14:creationId xmlns:p14="http://schemas.microsoft.com/office/powerpoint/2010/main" val="3594546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2" grpId="0" uiExpand="1" build="allAtOnce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CC5B0E40-F06E-ED9C-1295-626B97CA27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6">
            <a:extLst>
              <a:ext uri="{FF2B5EF4-FFF2-40B4-BE49-F238E27FC236}">
                <a16:creationId xmlns:a16="http://schemas.microsoft.com/office/drawing/2014/main" id="{EA6DC3D4-80B7-B442-9E47-B7AF297B980B}"/>
              </a:ext>
            </a:extLst>
          </p:cNvPr>
          <p:cNvSpPr txBox="1"/>
          <p:nvPr/>
        </p:nvSpPr>
        <p:spPr>
          <a:xfrm>
            <a:off x="922202" y="1157695"/>
            <a:ext cx="6097800" cy="742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defTabSz="609630">
              <a:lnSpc>
                <a:spcPct val="140007"/>
              </a:lnSpc>
              <a:buClr>
                <a:srgbClr val="000000"/>
              </a:buClr>
            </a:pPr>
            <a:r>
              <a:rPr lang="en-US" sz="3446" kern="0" dirty="0">
                <a:solidFill>
                  <a:srgbClr val="00693D"/>
                </a:solidFill>
                <a:latin typeface="Anton"/>
                <a:ea typeface="Anton"/>
                <a:cs typeface="Anton"/>
                <a:sym typeface="Anton"/>
              </a:rPr>
              <a:t>Do I have to do this step?</a:t>
            </a:r>
            <a:endParaRPr sz="933" kern="0" dirty="0">
              <a:solidFill>
                <a:srgbClr val="000000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42" name="Google Shape;142;p26">
            <a:extLst>
              <a:ext uri="{FF2B5EF4-FFF2-40B4-BE49-F238E27FC236}">
                <a16:creationId xmlns:a16="http://schemas.microsoft.com/office/drawing/2014/main" id="{59B1BEC4-71C1-CA7C-DD91-BB35DB4643B1}"/>
              </a:ext>
            </a:extLst>
          </p:cNvPr>
          <p:cNvSpPr txBox="1"/>
          <p:nvPr/>
        </p:nvSpPr>
        <p:spPr>
          <a:xfrm>
            <a:off x="922202" y="1736904"/>
            <a:ext cx="9776400" cy="4492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006" kern="0" dirty="0">
              <a:solidFill>
                <a:srgbClr val="12312B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sz="2006" kern="0" dirty="0">
                <a:solidFill>
                  <a:srgbClr val="12312B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What if I’ve been given a dataset and told exactly how to analyze it?</a:t>
            </a: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006" kern="0" dirty="0">
              <a:solidFill>
                <a:srgbClr val="12312B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sz="2006" kern="0" dirty="0">
                <a:solidFill>
                  <a:srgbClr val="12312B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What if I have been told this is the dataset we’re analyzing, and I just need to pick a question? </a:t>
            </a: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006" kern="0" dirty="0">
              <a:solidFill>
                <a:srgbClr val="12312B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sz="2006" kern="0" dirty="0">
                <a:solidFill>
                  <a:srgbClr val="12312B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What if I generated the dataset?</a:t>
            </a: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006" kern="0" dirty="0">
              <a:solidFill>
                <a:srgbClr val="12312B"/>
              </a:solidFill>
              <a:latin typeface="Archivo Medium"/>
              <a:sym typeface="Archivo Medium"/>
            </a:endParaRPr>
          </a:p>
          <a:p>
            <a:pPr marL="216630" lvl="1" algn="ctr" defTabSz="609630">
              <a:lnSpc>
                <a:spcPct val="140013"/>
              </a:lnSpc>
              <a:buClr>
                <a:srgbClr val="12312B"/>
              </a:buClr>
              <a:buSzPts val="3009"/>
            </a:pPr>
            <a:r>
              <a:rPr lang="en-US" sz="2800" b="1" kern="0" dirty="0">
                <a:solidFill>
                  <a:schemeClr val="bg2"/>
                </a:solidFill>
                <a:latin typeface="Archivo Medium"/>
                <a:sym typeface="Archivo Medium"/>
              </a:rPr>
              <a:t>Yes! You should do EDA for every research project.</a:t>
            </a:r>
            <a:endParaRPr lang="en-US" sz="1600" dirty="0">
              <a:sym typeface="Archivo Medium"/>
            </a:endParaRP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006" kern="0" dirty="0">
              <a:solidFill>
                <a:srgbClr val="12312B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</p:txBody>
      </p:sp>
    </p:spTree>
    <p:extLst>
      <p:ext uri="{BB962C8B-B14F-4D97-AF65-F5344CB8AC3E}">
        <p14:creationId xmlns:p14="http://schemas.microsoft.com/office/powerpoint/2010/main" val="3339107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>
          <a:extLst>
            <a:ext uri="{FF2B5EF4-FFF2-40B4-BE49-F238E27FC236}">
              <a16:creationId xmlns:a16="http://schemas.microsoft.com/office/drawing/2014/main" id="{920E76E0-41B4-FAB6-4736-B711B266D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5">
            <a:extLst>
              <a:ext uri="{FF2B5EF4-FFF2-40B4-BE49-F238E27FC236}">
                <a16:creationId xmlns:a16="http://schemas.microsoft.com/office/drawing/2014/main" id="{45AF3CA8-5B3F-3CBB-B572-6FE3B8286F77}"/>
              </a:ext>
            </a:extLst>
          </p:cNvPr>
          <p:cNvSpPr txBox="1"/>
          <p:nvPr/>
        </p:nvSpPr>
        <p:spPr>
          <a:xfrm>
            <a:off x="1785128" y="2286000"/>
            <a:ext cx="7305000" cy="1034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defTabSz="609630">
              <a:lnSpc>
                <a:spcPct val="139996"/>
              </a:lnSpc>
              <a:buClr>
                <a:srgbClr val="000000"/>
              </a:buClr>
            </a:pPr>
            <a:r>
              <a:rPr lang="en-US" sz="4800" kern="0" dirty="0">
                <a:solidFill>
                  <a:srgbClr val="A5D75F"/>
                </a:solidFill>
                <a:latin typeface="Anton"/>
                <a:ea typeface="Anton"/>
                <a:cs typeface="Anton"/>
                <a:sym typeface="Anton"/>
              </a:rPr>
              <a:t>What exactly is EDA?</a:t>
            </a:r>
          </a:p>
        </p:txBody>
      </p:sp>
      <p:sp>
        <p:nvSpPr>
          <p:cNvPr id="135" name="Google Shape;135;p25">
            <a:extLst>
              <a:ext uri="{FF2B5EF4-FFF2-40B4-BE49-F238E27FC236}">
                <a16:creationId xmlns:a16="http://schemas.microsoft.com/office/drawing/2014/main" id="{0C747145-B25A-0416-32BE-A90F55D295E0}"/>
              </a:ext>
            </a:extLst>
          </p:cNvPr>
          <p:cNvSpPr/>
          <p:nvPr/>
        </p:nvSpPr>
        <p:spPr>
          <a:xfrm>
            <a:off x="1202207" y="3147675"/>
            <a:ext cx="5927179" cy="780393"/>
          </a:xfrm>
          <a:custGeom>
            <a:avLst/>
            <a:gdLst/>
            <a:ahLst/>
            <a:cxnLst/>
            <a:rect l="l" t="t" r="r" b="b"/>
            <a:pathLst>
              <a:path w="6287497" h="938348" extrusionOk="0">
                <a:moveTo>
                  <a:pt x="0" y="0"/>
                </a:moveTo>
                <a:lnTo>
                  <a:pt x="6287496" y="0"/>
                </a:lnTo>
                <a:lnTo>
                  <a:pt x="6287496" y="938349"/>
                </a:lnTo>
                <a:lnTo>
                  <a:pt x="0" y="9383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pPr defTabSz="609630">
              <a:buClr>
                <a:srgbClr val="000000"/>
              </a:buClr>
            </a:pPr>
            <a:endParaRPr lang="en-US" sz="933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533465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2F599D11-CA10-6606-C964-7F127EB1D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6">
            <a:extLst>
              <a:ext uri="{FF2B5EF4-FFF2-40B4-BE49-F238E27FC236}">
                <a16:creationId xmlns:a16="http://schemas.microsoft.com/office/drawing/2014/main" id="{453AA25D-2E42-8339-6A8B-6C926038F402}"/>
              </a:ext>
            </a:extLst>
          </p:cNvPr>
          <p:cNvSpPr txBox="1"/>
          <p:nvPr/>
        </p:nvSpPr>
        <p:spPr>
          <a:xfrm>
            <a:off x="922202" y="1157695"/>
            <a:ext cx="7343082" cy="742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defTabSz="609630">
              <a:lnSpc>
                <a:spcPct val="140007"/>
              </a:lnSpc>
              <a:buClr>
                <a:srgbClr val="000000"/>
              </a:buClr>
            </a:pPr>
            <a:r>
              <a:rPr lang="en-US" sz="3446" kern="0" dirty="0">
                <a:solidFill>
                  <a:srgbClr val="00693D"/>
                </a:solidFill>
                <a:latin typeface="Anton"/>
                <a:ea typeface="Anton"/>
                <a:cs typeface="Anton"/>
                <a:sym typeface="Anton"/>
              </a:rPr>
              <a:t>What does it mean to explore our data?</a:t>
            </a:r>
            <a:endParaRPr sz="933" kern="0" dirty="0">
              <a:solidFill>
                <a:srgbClr val="000000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42" name="Google Shape;142;p26">
            <a:extLst>
              <a:ext uri="{FF2B5EF4-FFF2-40B4-BE49-F238E27FC236}">
                <a16:creationId xmlns:a16="http://schemas.microsoft.com/office/drawing/2014/main" id="{1F5853FA-6364-3501-C754-49BB9B5E3BB1}"/>
              </a:ext>
            </a:extLst>
          </p:cNvPr>
          <p:cNvSpPr txBox="1"/>
          <p:nvPr/>
        </p:nvSpPr>
        <p:spPr>
          <a:xfrm>
            <a:off x="922202" y="1948685"/>
            <a:ext cx="9776400" cy="3877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dirty="0">
              <a:sym typeface="Archivo Medium"/>
            </a:endParaRP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dirty="0">
              <a:sym typeface="Archivo Medium"/>
            </a:endParaRP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dirty="0">
                <a:highlight>
                  <a:srgbClr val="FFFF00"/>
                </a:highlight>
                <a:latin typeface="Archivo Medium"/>
                <a:sym typeface="Arial"/>
              </a:rPr>
              <a:t>Investigating the dataset’s contents and format via summaries, figures, tables, and other detective methods.</a:t>
            </a: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dirty="0">
              <a:latin typeface="Archivo Medium"/>
              <a:sym typeface="Arial"/>
            </a:endParaRP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dirty="0">
                <a:latin typeface="Archivo Medium"/>
                <a:sym typeface="Arial"/>
              </a:rPr>
              <a:t>EDA shares some tools with data analysis.</a:t>
            </a: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dirty="0">
              <a:latin typeface="Archivo Medium"/>
              <a:sym typeface="Arial"/>
            </a:endParaRP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dirty="0">
                <a:latin typeface="Archivo Medium"/>
                <a:sym typeface="Arial"/>
              </a:rPr>
              <a:t>The goal is to become familiar with the data, not generate results.</a:t>
            </a: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dirty="0">
              <a:sym typeface="Arial"/>
            </a:endParaRP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dirty="0"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91929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C69E5A18-7A19-FC42-CD75-07CFE61CCC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6">
            <a:extLst>
              <a:ext uri="{FF2B5EF4-FFF2-40B4-BE49-F238E27FC236}">
                <a16:creationId xmlns:a16="http://schemas.microsoft.com/office/drawing/2014/main" id="{33374862-220A-7E8E-59BC-F4374658E12A}"/>
              </a:ext>
            </a:extLst>
          </p:cNvPr>
          <p:cNvSpPr txBox="1"/>
          <p:nvPr/>
        </p:nvSpPr>
        <p:spPr>
          <a:xfrm>
            <a:off x="922202" y="1157695"/>
            <a:ext cx="6097800" cy="742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defTabSz="609630">
              <a:lnSpc>
                <a:spcPct val="140007"/>
              </a:lnSpc>
              <a:buClr>
                <a:srgbClr val="000000"/>
              </a:buClr>
            </a:pPr>
            <a:r>
              <a:rPr lang="en-US" sz="3446" kern="0" dirty="0">
                <a:solidFill>
                  <a:srgbClr val="00693D"/>
                </a:solidFill>
                <a:latin typeface="Anton"/>
                <a:ea typeface="Anton"/>
                <a:cs typeface="Anton"/>
                <a:sym typeface="Anton"/>
              </a:rPr>
              <a:t>EDA: Art and science</a:t>
            </a:r>
            <a:endParaRPr sz="933" kern="0" dirty="0">
              <a:solidFill>
                <a:srgbClr val="000000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42" name="Google Shape;142;p26">
            <a:extLst>
              <a:ext uri="{FF2B5EF4-FFF2-40B4-BE49-F238E27FC236}">
                <a16:creationId xmlns:a16="http://schemas.microsoft.com/office/drawing/2014/main" id="{4CB52A31-2D2E-2619-49D4-9C15DDD7006D}"/>
              </a:ext>
            </a:extLst>
          </p:cNvPr>
          <p:cNvSpPr txBox="1"/>
          <p:nvPr/>
        </p:nvSpPr>
        <p:spPr>
          <a:xfrm>
            <a:off x="922202" y="1736904"/>
            <a:ext cx="9776400" cy="40905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006" kern="0" dirty="0">
              <a:solidFill>
                <a:srgbClr val="12312B"/>
              </a:solidFill>
              <a:highlight>
                <a:srgbClr val="FFFF00"/>
              </a:highlight>
              <a:latin typeface="Archivo Medium"/>
              <a:ea typeface="Archivo Medium"/>
              <a:cs typeface="Archivo Medium"/>
              <a:sym typeface="Archivo Medium"/>
            </a:endParaRP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sz="2006" kern="0" dirty="0">
                <a:solidFill>
                  <a:srgbClr val="12312B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It is good to have a plan to structure EDA, and this session will give you that framework.</a:t>
            </a: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006" kern="0" dirty="0">
              <a:solidFill>
                <a:srgbClr val="12312B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sz="2006" kern="0" dirty="0">
                <a:solidFill>
                  <a:srgbClr val="12312B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However, there is no complete checklist for EDA, because each dataset is unique.</a:t>
            </a: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006" kern="0" dirty="0">
              <a:solidFill>
                <a:srgbClr val="12312B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sz="2006" kern="0" dirty="0">
                <a:solidFill>
                  <a:srgbClr val="12312B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EDA usually leads to discoveries about your dataset that require further exploration.</a:t>
            </a: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006" kern="0" dirty="0">
              <a:solidFill>
                <a:srgbClr val="12312B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sz="2006" kern="0" dirty="0">
                <a:solidFill>
                  <a:srgbClr val="12312B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Think of it as a plan that you can expect to deviate from.</a:t>
            </a: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933" kern="0" dirty="0">
              <a:solidFill>
                <a:srgbClr val="000000"/>
              </a:solidFill>
              <a:highlight>
                <a:srgbClr val="FFFF00"/>
              </a:highlight>
              <a:latin typeface="Archivo Medium"/>
              <a:ea typeface="Archivo Medium"/>
              <a:cs typeface="Archivo Medium"/>
              <a:sym typeface="Archivo Medium"/>
            </a:endParaRP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006" kern="0" dirty="0">
              <a:solidFill>
                <a:srgbClr val="12312B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</p:txBody>
      </p:sp>
    </p:spTree>
    <p:extLst>
      <p:ext uri="{BB962C8B-B14F-4D97-AF65-F5344CB8AC3E}">
        <p14:creationId xmlns:p14="http://schemas.microsoft.com/office/powerpoint/2010/main" val="35570730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2BAE091B-ACDE-0A14-B0CF-D26022FAF2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6">
            <a:extLst>
              <a:ext uri="{FF2B5EF4-FFF2-40B4-BE49-F238E27FC236}">
                <a16:creationId xmlns:a16="http://schemas.microsoft.com/office/drawing/2014/main" id="{6CA87678-9B20-B8AB-F694-F82D0D43868B}"/>
              </a:ext>
            </a:extLst>
          </p:cNvPr>
          <p:cNvSpPr txBox="1"/>
          <p:nvPr/>
        </p:nvSpPr>
        <p:spPr>
          <a:xfrm>
            <a:off x="922202" y="1157695"/>
            <a:ext cx="6097800" cy="742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defTabSz="609630">
              <a:lnSpc>
                <a:spcPct val="140007"/>
              </a:lnSpc>
              <a:buClr>
                <a:srgbClr val="000000"/>
              </a:buClr>
            </a:pPr>
            <a:r>
              <a:rPr lang="en-US" sz="3446" kern="0" dirty="0">
                <a:solidFill>
                  <a:srgbClr val="00693D"/>
                </a:solidFill>
                <a:latin typeface="Anton"/>
                <a:ea typeface="Anton"/>
                <a:cs typeface="Anton"/>
                <a:sym typeface="Anton"/>
              </a:rPr>
              <a:t>Main EDA phases</a:t>
            </a:r>
            <a:endParaRPr sz="933" kern="0" dirty="0">
              <a:solidFill>
                <a:srgbClr val="000000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42" name="Google Shape;142;p26">
            <a:extLst>
              <a:ext uri="{FF2B5EF4-FFF2-40B4-BE49-F238E27FC236}">
                <a16:creationId xmlns:a16="http://schemas.microsoft.com/office/drawing/2014/main" id="{5511C48C-70EA-4D28-14E3-58B75BC0AC6B}"/>
              </a:ext>
            </a:extLst>
          </p:cNvPr>
          <p:cNvSpPr txBox="1"/>
          <p:nvPr/>
        </p:nvSpPr>
        <p:spPr>
          <a:xfrm>
            <a:off x="922202" y="1736904"/>
            <a:ext cx="9776400" cy="4081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006" kern="0" dirty="0">
              <a:solidFill>
                <a:srgbClr val="12312B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marL="673830" lvl="1" indent="-457200" defTabSz="609630">
              <a:lnSpc>
                <a:spcPct val="140013"/>
              </a:lnSpc>
              <a:buClr>
                <a:srgbClr val="12312B"/>
              </a:buClr>
              <a:buSzPct val="115000"/>
              <a:buFont typeface="+mj-lt"/>
              <a:buAutoNum type="arabicPeriod"/>
            </a:pPr>
            <a:r>
              <a:rPr lang="en-US" sz="2800" kern="0" dirty="0">
                <a:solidFill>
                  <a:srgbClr val="12312B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Read about the dataset</a:t>
            </a:r>
          </a:p>
          <a:p>
            <a:pPr marL="673830" lvl="1" indent="-457200" defTabSz="609630">
              <a:lnSpc>
                <a:spcPct val="140013"/>
              </a:lnSpc>
              <a:buClr>
                <a:srgbClr val="12312B"/>
              </a:buClr>
              <a:buSzPct val="115000"/>
              <a:buFont typeface="+mj-lt"/>
              <a:buAutoNum type="arabicPeriod"/>
            </a:pPr>
            <a:endParaRPr lang="en-US" sz="2800" kern="0" dirty="0">
              <a:solidFill>
                <a:srgbClr val="12312B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marL="673830" lvl="1" indent="-457200" defTabSz="609630">
              <a:lnSpc>
                <a:spcPct val="140013"/>
              </a:lnSpc>
              <a:buClr>
                <a:srgbClr val="12312B"/>
              </a:buClr>
              <a:buSzPct val="115000"/>
              <a:buFont typeface="+mj-lt"/>
              <a:buAutoNum type="arabicPeriod"/>
            </a:pPr>
            <a:r>
              <a:rPr lang="en-US" sz="2800" kern="0" dirty="0">
                <a:solidFill>
                  <a:srgbClr val="12312B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Examine its structure and contents (high level)</a:t>
            </a:r>
          </a:p>
          <a:p>
            <a:pPr marL="673830" lvl="1" indent="-457200" defTabSz="609630">
              <a:lnSpc>
                <a:spcPct val="140013"/>
              </a:lnSpc>
              <a:buClr>
                <a:srgbClr val="12312B"/>
              </a:buClr>
              <a:buSzPct val="115000"/>
              <a:buFont typeface="+mj-lt"/>
              <a:buAutoNum type="arabicPeriod"/>
            </a:pPr>
            <a:endParaRPr lang="en-US" sz="2800" kern="0" dirty="0">
              <a:solidFill>
                <a:srgbClr val="12312B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marL="673830" lvl="1" indent="-457200" defTabSz="609630">
              <a:lnSpc>
                <a:spcPct val="140013"/>
              </a:lnSpc>
              <a:buClr>
                <a:srgbClr val="12312B"/>
              </a:buClr>
              <a:buSzPct val="115000"/>
              <a:buFont typeface="+mj-lt"/>
              <a:buAutoNum type="arabicPeriod"/>
            </a:pPr>
            <a:r>
              <a:rPr lang="en-US" sz="2800" kern="0" dirty="0">
                <a:solidFill>
                  <a:srgbClr val="12312B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Dive into the data</a:t>
            </a: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933" kern="0" dirty="0">
              <a:solidFill>
                <a:srgbClr val="000000"/>
              </a:solidFill>
              <a:highlight>
                <a:srgbClr val="FFFF00"/>
              </a:highlight>
              <a:latin typeface="Archivo Medium"/>
              <a:ea typeface="Archivo Medium"/>
              <a:cs typeface="Archivo Medium"/>
              <a:sym typeface="Archivo Medium"/>
            </a:endParaRP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006" kern="0" dirty="0">
              <a:solidFill>
                <a:srgbClr val="12312B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</p:txBody>
      </p:sp>
    </p:spTree>
    <p:extLst>
      <p:ext uri="{BB962C8B-B14F-4D97-AF65-F5344CB8AC3E}">
        <p14:creationId xmlns:p14="http://schemas.microsoft.com/office/powerpoint/2010/main" val="24416369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15879BB2-F066-F75E-A8DB-0F7CD248D8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6">
            <a:extLst>
              <a:ext uri="{FF2B5EF4-FFF2-40B4-BE49-F238E27FC236}">
                <a16:creationId xmlns:a16="http://schemas.microsoft.com/office/drawing/2014/main" id="{0C5E1074-6BF4-21EF-64AF-3358BF019D54}"/>
              </a:ext>
            </a:extLst>
          </p:cNvPr>
          <p:cNvSpPr txBox="1"/>
          <p:nvPr/>
        </p:nvSpPr>
        <p:spPr>
          <a:xfrm>
            <a:off x="922202" y="1157695"/>
            <a:ext cx="8511218" cy="742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defTabSz="609630">
              <a:lnSpc>
                <a:spcPct val="140007"/>
              </a:lnSpc>
              <a:buClr>
                <a:srgbClr val="000000"/>
              </a:buClr>
            </a:pPr>
            <a:r>
              <a:rPr lang="en-US" sz="3446" kern="0" dirty="0">
                <a:solidFill>
                  <a:srgbClr val="00693D"/>
                </a:solidFill>
                <a:latin typeface="Anton"/>
                <a:ea typeface="Anton"/>
                <a:cs typeface="Anton"/>
                <a:sym typeface="Anton"/>
              </a:rPr>
              <a:t>Best practices for working with data</a:t>
            </a:r>
            <a:endParaRPr sz="933" kern="0" dirty="0">
              <a:solidFill>
                <a:srgbClr val="000000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42" name="Google Shape;142;p26">
            <a:extLst>
              <a:ext uri="{FF2B5EF4-FFF2-40B4-BE49-F238E27FC236}">
                <a16:creationId xmlns:a16="http://schemas.microsoft.com/office/drawing/2014/main" id="{2F69E860-2826-C663-75C7-D65490E0A9CA}"/>
              </a:ext>
            </a:extLst>
          </p:cNvPr>
          <p:cNvSpPr txBox="1"/>
          <p:nvPr/>
        </p:nvSpPr>
        <p:spPr>
          <a:xfrm>
            <a:off x="922202" y="2187594"/>
            <a:ext cx="10059742" cy="491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006" b="1" kern="0" dirty="0">
              <a:solidFill>
                <a:srgbClr val="12312B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sz="2006" b="1" kern="0" dirty="0">
                <a:solidFill>
                  <a:srgbClr val="12312B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Document your findings.</a:t>
            </a:r>
          </a:p>
          <a:p>
            <a:pPr marL="866521" lvl="2" indent="-28884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⚬"/>
            </a:pPr>
            <a:r>
              <a:rPr lang="en-US" kern="0" dirty="0">
                <a:solidFill>
                  <a:srgbClr val="12312B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What you find as you explore your data will inform your next steps.</a:t>
            </a:r>
          </a:p>
          <a:p>
            <a:pPr marL="866521" lvl="2" indent="-28884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⚬"/>
            </a:pPr>
            <a:r>
              <a:rPr lang="en-US" kern="0" dirty="0">
                <a:solidFill>
                  <a:srgbClr val="12312B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Do this as you go – don’t leave it until the end.</a:t>
            </a: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006" b="1" kern="0" dirty="0">
              <a:solidFill>
                <a:srgbClr val="12312B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sz="2006" b="1" kern="0" dirty="0">
                <a:solidFill>
                  <a:srgbClr val="12312B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Do not explore in your original (“raw”) data files!</a:t>
            </a:r>
          </a:p>
          <a:p>
            <a:pPr marL="866521" lvl="2" indent="-28884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⚬"/>
            </a:pPr>
            <a:r>
              <a:rPr lang="en-US" kern="0" dirty="0">
                <a:solidFill>
                  <a:srgbClr val="12312B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Yes, even if you’re just sorting and filtering it in Excel. </a:t>
            </a:r>
          </a:p>
          <a:p>
            <a:pPr marL="866521" lvl="2" indent="-28884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⚬"/>
            </a:pPr>
            <a:r>
              <a:rPr lang="en-US" kern="0" dirty="0">
                <a:solidFill>
                  <a:srgbClr val="12312B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Save a “working” copy and leave the original file untouched in case anything goes wrong.</a:t>
            </a:r>
          </a:p>
          <a:p>
            <a:pPr marL="1323721" lvl="3" indent="-28884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⚬"/>
            </a:pPr>
            <a:r>
              <a:rPr lang="en-US" kern="0" dirty="0">
                <a:solidFill>
                  <a:srgbClr val="12312B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R is good for this because it only reads files, not modifies them, unless you tell it to save a new version. </a:t>
            </a: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006" b="1" kern="0" dirty="0">
              <a:solidFill>
                <a:srgbClr val="12312B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defTabSz="609630">
              <a:lnSpc>
                <a:spcPct val="140013"/>
              </a:lnSpc>
              <a:buClr>
                <a:srgbClr val="000000"/>
              </a:buClr>
            </a:pPr>
            <a:endParaRPr sz="2006" kern="0" dirty="0">
              <a:solidFill>
                <a:srgbClr val="12312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61279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>
          <a:extLst>
            <a:ext uri="{FF2B5EF4-FFF2-40B4-BE49-F238E27FC236}">
              <a16:creationId xmlns:a16="http://schemas.microsoft.com/office/drawing/2014/main" id="{D452EFA7-99F5-AC17-FD94-47424FD19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5">
            <a:extLst>
              <a:ext uri="{FF2B5EF4-FFF2-40B4-BE49-F238E27FC236}">
                <a16:creationId xmlns:a16="http://schemas.microsoft.com/office/drawing/2014/main" id="{F7A93097-A548-77F9-CE56-144378A0207C}"/>
              </a:ext>
            </a:extLst>
          </p:cNvPr>
          <p:cNvSpPr txBox="1"/>
          <p:nvPr/>
        </p:nvSpPr>
        <p:spPr>
          <a:xfrm>
            <a:off x="1785128" y="2286000"/>
            <a:ext cx="7305000" cy="1034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defTabSz="609630">
              <a:lnSpc>
                <a:spcPct val="139996"/>
              </a:lnSpc>
              <a:buClr>
                <a:srgbClr val="000000"/>
              </a:buClr>
            </a:pPr>
            <a:r>
              <a:rPr lang="en-US" sz="4800" kern="0" dirty="0">
                <a:solidFill>
                  <a:srgbClr val="A5D75F"/>
                </a:solidFill>
                <a:latin typeface="Anton"/>
                <a:ea typeface="Anton"/>
                <a:cs typeface="Anton"/>
                <a:sym typeface="Anton"/>
              </a:rPr>
              <a:t>How do we explore our data?</a:t>
            </a:r>
          </a:p>
        </p:txBody>
      </p:sp>
      <p:sp>
        <p:nvSpPr>
          <p:cNvPr id="135" name="Google Shape;135;p25">
            <a:extLst>
              <a:ext uri="{FF2B5EF4-FFF2-40B4-BE49-F238E27FC236}">
                <a16:creationId xmlns:a16="http://schemas.microsoft.com/office/drawing/2014/main" id="{331D6F09-9458-526A-FF20-F267795F2555}"/>
              </a:ext>
            </a:extLst>
          </p:cNvPr>
          <p:cNvSpPr/>
          <p:nvPr/>
        </p:nvSpPr>
        <p:spPr>
          <a:xfrm>
            <a:off x="1202207" y="3147675"/>
            <a:ext cx="8470842" cy="780393"/>
          </a:xfrm>
          <a:custGeom>
            <a:avLst/>
            <a:gdLst/>
            <a:ahLst/>
            <a:cxnLst/>
            <a:rect l="l" t="t" r="r" b="b"/>
            <a:pathLst>
              <a:path w="6287497" h="938348" extrusionOk="0">
                <a:moveTo>
                  <a:pt x="0" y="0"/>
                </a:moveTo>
                <a:lnTo>
                  <a:pt x="6287496" y="0"/>
                </a:lnTo>
                <a:lnTo>
                  <a:pt x="6287496" y="938349"/>
                </a:lnTo>
                <a:lnTo>
                  <a:pt x="0" y="9383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pPr defTabSz="609630">
              <a:buClr>
                <a:srgbClr val="000000"/>
              </a:buClr>
            </a:pPr>
            <a:endParaRPr lang="en-US" sz="933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2" name="Google Shape;134;p25">
            <a:extLst>
              <a:ext uri="{FF2B5EF4-FFF2-40B4-BE49-F238E27FC236}">
                <a16:creationId xmlns:a16="http://schemas.microsoft.com/office/drawing/2014/main" id="{FD177E63-CF02-BE48-4279-6F903A246918}"/>
              </a:ext>
            </a:extLst>
          </p:cNvPr>
          <p:cNvSpPr txBox="1"/>
          <p:nvPr/>
        </p:nvSpPr>
        <p:spPr>
          <a:xfrm>
            <a:off x="1853585" y="4633937"/>
            <a:ext cx="7305000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defTabSz="609630">
              <a:lnSpc>
                <a:spcPct val="139996"/>
              </a:lnSpc>
              <a:buClr>
                <a:srgbClr val="000000"/>
              </a:buClr>
            </a:pPr>
            <a:r>
              <a:rPr lang="en-US" sz="4000" kern="0" dirty="0">
                <a:solidFill>
                  <a:schemeClr val="accent5"/>
                </a:solidFill>
                <a:latin typeface="Anton"/>
                <a:ea typeface="Anton"/>
                <a:cs typeface="Anton"/>
                <a:sym typeface="Anton"/>
              </a:rPr>
              <a:t>Phase 1: Read</a:t>
            </a:r>
          </a:p>
        </p:txBody>
      </p:sp>
    </p:spTree>
    <p:extLst>
      <p:ext uri="{BB962C8B-B14F-4D97-AF65-F5344CB8AC3E}">
        <p14:creationId xmlns:p14="http://schemas.microsoft.com/office/powerpoint/2010/main" val="2773612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9212C5AB-72A5-7067-85C0-793CD6971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9151B51-9165-1444-F82A-39A9A44A883A}"/>
              </a:ext>
            </a:extLst>
          </p:cNvPr>
          <p:cNvSpPr/>
          <p:nvPr/>
        </p:nvSpPr>
        <p:spPr>
          <a:xfrm>
            <a:off x="7768167" y="2446867"/>
            <a:ext cx="3162300" cy="2429933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" name="Google Shape;141;p26">
            <a:extLst>
              <a:ext uri="{FF2B5EF4-FFF2-40B4-BE49-F238E27FC236}">
                <a16:creationId xmlns:a16="http://schemas.microsoft.com/office/drawing/2014/main" id="{562D0598-D9FD-0315-EF98-9E344171A6E6}"/>
              </a:ext>
            </a:extLst>
          </p:cNvPr>
          <p:cNvSpPr txBox="1"/>
          <p:nvPr/>
        </p:nvSpPr>
        <p:spPr>
          <a:xfrm>
            <a:off x="922202" y="1157695"/>
            <a:ext cx="9933152" cy="742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defTabSz="609630">
              <a:lnSpc>
                <a:spcPct val="140007"/>
              </a:lnSpc>
              <a:buClr>
                <a:srgbClr val="000000"/>
              </a:buClr>
            </a:pPr>
            <a:r>
              <a:rPr lang="en-US" sz="3446" kern="0" dirty="0">
                <a:solidFill>
                  <a:srgbClr val="00693D"/>
                </a:solidFill>
                <a:latin typeface="Anton"/>
                <a:ea typeface="Anton"/>
                <a:cs typeface="Anton"/>
                <a:sym typeface="Anton"/>
              </a:rPr>
              <a:t>What is the source of the data?</a:t>
            </a:r>
            <a:endParaRPr sz="933" kern="0" dirty="0">
              <a:solidFill>
                <a:srgbClr val="000000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42" name="Google Shape;142;p26">
            <a:extLst>
              <a:ext uri="{FF2B5EF4-FFF2-40B4-BE49-F238E27FC236}">
                <a16:creationId xmlns:a16="http://schemas.microsoft.com/office/drawing/2014/main" id="{94C89B1C-E59E-28E2-5E84-56547F63EFBE}"/>
              </a:ext>
            </a:extLst>
          </p:cNvPr>
          <p:cNvSpPr txBox="1"/>
          <p:nvPr/>
        </p:nvSpPr>
        <p:spPr>
          <a:xfrm>
            <a:off x="989304" y="1880976"/>
            <a:ext cx="5173798" cy="3025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006" kern="0" dirty="0">
              <a:solidFill>
                <a:srgbClr val="12312B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sz="2006" kern="0" dirty="0">
                <a:solidFill>
                  <a:srgbClr val="12312B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Who generated this data?</a:t>
            </a: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006" kern="0" dirty="0">
              <a:solidFill>
                <a:srgbClr val="12312B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sz="2006" kern="0" dirty="0">
                <a:solidFill>
                  <a:srgbClr val="12312B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Do you trust it to be </a:t>
            </a:r>
          </a:p>
          <a:p>
            <a:pPr marL="866521" lvl="2" indent="-28884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⚬"/>
            </a:pPr>
            <a:r>
              <a:rPr lang="en-US" sz="2006" kern="0" dirty="0">
                <a:solidFill>
                  <a:srgbClr val="12312B"/>
                </a:solidFill>
                <a:latin typeface="Archivo Medium"/>
                <a:sym typeface="Archivo Medium"/>
              </a:rPr>
              <a:t>Accurate?</a:t>
            </a:r>
          </a:p>
          <a:p>
            <a:pPr marL="866521" lvl="2" indent="-28884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⚬"/>
            </a:pPr>
            <a:r>
              <a:rPr lang="en-US" sz="2006" kern="0" dirty="0">
                <a:solidFill>
                  <a:srgbClr val="12312B"/>
                </a:solidFill>
                <a:latin typeface="Archivo Medium"/>
                <a:sym typeface="Archivo Medium"/>
              </a:rPr>
              <a:t>Free of bias?</a:t>
            </a:r>
            <a:endParaRPr sz="2006" kern="0" dirty="0">
              <a:solidFill>
                <a:srgbClr val="12312B"/>
              </a:solidFill>
              <a:latin typeface="Archivo Medium"/>
              <a:sym typeface="Archivo Medium"/>
            </a:endParaRP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006" kern="0" dirty="0">
              <a:solidFill>
                <a:srgbClr val="12312B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</p:txBody>
      </p:sp>
      <p:sp>
        <p:nvSpPr>
          <p:cNvPr id="2" name="Google Shape;142;p26">
            <a:extLst>
              <a:ext uri="{FF2B5EF4-FFF2-40B4-BE49-F238E27FC236}">
                <a16:creationId xmlns:a16="http://schemas.microsoft.com/office/drawing/2014/main" id="{165E05FD-8B04-535A-604B-352D120CE37D}"/>
              </a:ext>
            </a:extLst>
          </p:cNvPr>
          <p:cNvSpPr txBox="1"/>
          <p:nvPr/>
        </p:nvSpPr>
        <p:spPr>
          <a:xfrm>
            <a:off x="7958085" y="2745316"/>
            <a:ext cx="2758812" cy="17286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 defTabSz="609630">
              <a:lnSpc>
                <a:spcPct val="140013"/>
              </a:lnSpc>
              <a:buClr>
                <a:srgbClr val="000000"/>
              </a:buClr>
            </a:pPr>
            <a:r>
              <a:rPr lang="en-US" sz="2006" kern="0" dirty="0">
                <a:solidFill>
                  <a:schemeClr val="bg2"/>
                </a:solidFill>
                <a:latin typeface="Arial"/>
                <a:ea typeface="Arial"/>
                <a:cs typeface="Arial"/>
                <a:sym typeface="Arial"/>
              </a:rPr>
              <a:t>These questions are best evaluated by someone with domain expertise</a:t>
            </a:r>
            <a:endParaRPr sz="2006" kern="0" dirty="0">
              <a:solidFill>
                <a:schemeClr val="bg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3348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8304541E-3253-3878-573B-BC7D6B2C2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E812F44-0532-90C3-5A37-820AB453B619}"/>
              </a:ext>
            </a:extLst>
          </p:cNvPr>
          <p:cNvSpPr/>
          <p:nvPr/>
        </p:nvSpPr>
        <p:spPr>
          <a:xfrm>
            <a:off x="7768167" y="2446867"/>
            <a:ext cx="3162300" cy="2429933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" name="Google Shape;141;p26">
            <a:extLst>
              <a:ext uri="{FF2B5EF4-FFF2-40B4-BE49-F238E27FC236}">
                <a16:creationId xmlns:a16="http://schemas.microsoft.com/office/drawing/2014/main" id="{4DB2788F-BE5C-713B-B0F3-B1F77F9A0C0C}"/>
              </a:ext>
            </a:extLst>
          </p:cNvPr>
          <p:cNvSpPr txBox="1"/>
          <p:nvPr/>
        </p:nvSpPr>
        <p:spPr>
          <a:xfrm>
            <a:off x="922202" y="1157695"/>
            <a:ext cx="9933152" cy="742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defTabSz="609630">
              <a:lnSpc>
                <a:spcPct val="140007"/>
              </a:lnSpc>
              <a:buClr>
                <a:srgbClr val="000000"/>
              </a:buClr>
            </a:pPr>
            <a:r>
              <a:rPr lang="en-US" sz="3446" kern="0" dirty="0">
                <a:solidFill>
                  <a:srgbClr val="00693D"/>
                </a:solidFill>
                <a:latin typeface="Anton"/>
                <a:ea typeface="Anton"/>
                <a:cs typeface="Anton"/>
                <a:sym typeface="Anton"/>
              </a:rPr>
              <a:t>What methods were used to generate it?</a:t>
            </a:r>
          </a:p>
        </p:txBody>
      </p:sp>
      <p:sp>
        <p:nvSpPr>
          <p:cNvPr id="142" name="Google Shape;142;p26">
            <a:extLst>
              <a:ext uri="{FF2B5EF4-FFF2-40B4-BE49-F238E27FC236}">
                <a16:creationId xmlns:a16="http://schemas.microsoft.com/office/drawing/2014/main" id="{BBA33E59-BA1E-451F-D158-75A32CB56A94}"/>
              </a:ext>
            </a:extLst>
          </p:cNvPr>
          <p:cNvSpPr txBox="1"/>
          <p:nvPr/>
        </p:nvSpPr>
        <p:spPr>
          <a:xfrm>
            <a:off x="989304" y="1880976"/>
            <a:ext cx="5679944" cy="3889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006" kern="0" dirty="0">
              <a:solidFill>
                <a:srgbClr val="12312B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sz="2006" kern="0" dirty="0">
                <a:solidFill>
                  <a:srgbClr val="12312B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Are they appropriate?</a:t>
            </a:r>
          </a:p>
          <a:p>
            <a:pPr marL="866521" lvl="2" indent="-28884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⚬"/>
            </a:pPr>
            <a:r>
              <a:rPr lang="en-US" sz="2006" kern="0" dirty="0">
                <a:solidFill>
                  <a:srgbClr val="12312B"/>
                </a:solidFill>
                <a:latin typeface="Archivo Medium"/>
                <a:sym typeface="Archivo Medium"/>
              </a:rPr>
              <a:t>Technically</a:t>
            </a:r>
          </a:p>
          <a:p>
            <a:pPr marL="866521" lvl="2" indent="-28884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⚬"/>
            </a:pPr>
            <a:r>
              <a:rPr lang="en-US" sz="2006" kern="0" dirty="0">
                <a:solidFill>
                  <a:srgbClr val="12312B"/>
                </a:solidFill>
                <a:latin typeface="Archivo Medium"/>
                <a:sym typeface="Archivo Medium"/>
              </a:rPr>
              <a:t>Ethically </a:t>
            </a:r>
          </a:p>
          <a:p>
            <a:pPr marL="866521" lvl="2" indent="-28884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⚬"/>
            </a:pPr>
            <a:r>
              <a:rPr lang="en-US" sz="2006" kern="0" dirty="0">
                <a:solidFill>
                  <a:srgbClr val="12312B"/>
                </a:solidFill>
                <a:latin typeface="Archivo Medium"/>
                <a:sym typeface="Archivo Medium"/>
              </a:rPr>
              <a:t>Culturally</a:t>
            </a: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006" kern="0" dirty="0">
              <a:solidFill>
                <a:srgbClr val="12312B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sz="2006" kern="0" dirty="0">
                <a:solidFill>
                  <a:srgbClr val="12312B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What are the caveats of these methods?</a:t>
            </a:r>
          </a:p>
          <a:p>
            <a:pPr marL="866521" lvl="2" indent="-28884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⚬"/>
            </a:pPr>
            <a:r>
              <a:rPr lang="en-US" sz="2006" kern="0" dirty="0">
                <a:solidFill>
                  <a:srgbClr val="12312B"/>
                </a:solidFill>
                <a:latin typeface="Archivo Medium"/>
                <a:sym typeface="Archivo Medium"/>
              </a:rPr>
              <a:t>Are those acceptable?</a:t>
            </a:r>
          </a:p>
          <a:p>
            <a:pPr marL="866521" lvl="2" indent="-28884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⚬"/>
            </a:pPr>
            <a:r>
              <a:rPr lang="en-US" sz="2006" kern="0" dirty="0">
                <a:solidFill>
                  <a:srgbClr val="12312B"/>
                </a:solidFill>
                <a:latin typeface="Archivo Medium"/>
                <a:sym typeface="Archivo Medium"/>
              </a:rPr>
              <a:t>If so, how do they impact your analysis?</a:t>
            </a:r>
            <a:endParaRPr sz="2006" kern="0" dirty="0">
              <a:solidFill>
                <a:srgbClr val="12312B"/>
              </a:solidFill>
              <a:latin typeface="Archivo Medium"/>
              <a:sym typeface="Arial"/>
            </a:endParaRPr>
          </a:p>
        </p:txBody>
      </p:sp>
      <p:sp>
        <p:nvSpPr>
          <p:cNvPr id="2" name="Google Shape;142;p26">
            <a:extLst>
              <a:ext uri="{FF2B5EF4-FFF2-40B4-BE49-F238E27FC236}">
                <a16:creationId xmlns:a16="http://schemas.microsoft.com/office/drawing/2014/main" id="{5167C188-A44C-0184-16C9-BEAB343065BD}"/>
              </a:ext>
            </a:extLst>
          </p:cNvPr>
          <p:cNvSpPr txBox="1"/>
          <p:nvPr/>
        </p:nvSpPr>
        <p:spPr>
          <a:xfrm>
            <a:off x="7958085" y="2745316"/>
            <a:ext cx="2758812" cy="17286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 defTabSz="609630">
              <a:lnSpc>
                <a:spcPct val="140013"/>
              </a:lnSpc>
              <a:buClr>
                <a:srgbClr val="000000"/>
              </a:buClr>
            </a:pPr>
            <a:r>
              <a:rPr lang="en-US" sz="2006" kern="0" dirty="0">
                <a:solidFill>
                  <a:schemeClr val="bg2"/>
                </a:solidFill>
                <a:latin typeface="Arial"/>
                <a:ea typeface="Arial"/>
                <a:cs typeface="Arial"/>
                <a:sym typeface="Arial"/>
              </a:rPr>
              <a:t>These questions are best evaluated by someone with domain expertise</a:t>
            </a:r>
            <a:endParaRPr sz="2006" kern="0" dirty="0">
              <a:solidFill>
                <a:schemeClr val="bg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64162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92D23E55-2C24-3C5C-7AB6-90584ECE4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6">
            <a:extLst>
              <a:ext uri="{FF2B5EF4-FFF2-40B4-BE49-F238E27FC236}">
                <a16:creationId xmlns:a16="http://schemas.microsoft.com/office/drawing/2014/main" id="{E985990F-9416-2FA5-FD5A-67E11CC8F3AC}"/>
              </a:ext>
            </a:extLst>
          </p:cNvPr>
          <p:cNvSpPr txBox="1"/>
          <p:nvPr/>
        </p:nvSpPr>
        <p:spPr>
          <a:xfrm>
            <a:off x="922202" y="1157695"/>
            <a:ext cx="11573200" cy="742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defTabSz="609630">
              <a:lnSpc>
                <a:spcPct val="140007"/>
              </a:lnSpc>
              <a:buClr>
                <a:srgbClr val="000000"/>
              </a:buClr>
            </a:pPr>
            <a:r>
              <a:rPr lang="en-US" sz="3446" kern="0" dirty="0">
                <a:solidFill>
                  <a:srgbClr val="00693D"/>
                </a:solidFill>
                <a:latin typeface="Anton"/>
                <a:ea typeface="Anton"/>
                <a:cs typeface="Anton"/>
                <a:sym typeface="Anton"/>
              </a:rPr>
              <a:t>Is there enough documentation to understand the data? 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05A22C9-AEEA-3000-46C6-37DE519C6F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3491057"/>
              </p:ext>
            </p:extLst>
          </p:nvPr>
        </p:nvGraphicFramePr>
        <p:xfrm>
          <a:off x="7376740" y="2591095"/>
          <a:ext cx="3829180" cy="1523570"/>
        </p:xfrm>
        <a:graphic>
          <a:graphicData uri="http://schemas.openxmlformats.org/drawingml/2006/table">
            <a:tbl>
              <a:tblPr/>
              <a:tblGrid>
                <a:gridCol w="654232">
                  <a:extLst>
                    <a:ext uri="{9D8B030D-6E8A-4147-A177-3AD203B41FA5}">
                      <a16:colId xmlns:a16="http://schemas.microsoft.com/office/drawing/2014/main" val="1733503779"/>
                    </a:ext>
                  </a:extLst>
                </a:gridCol>
                <a:gridCol w="1077558">
                  <a:extLst>
                    <a:ext uri="{9D8B030D-6E8A-4147-A177-3AD203B41FA5}">
                      <a16:colId xmlns:a16="http://schemas.microsoft.com/office/drawing/2014/main" val="1259338926"/>
                    </a:ext>
                  </a:extLst>
                </a:gridCol>
                <a:gridCol w="1077558">
                  <a:extLst>
                    <a:ext uri="{9D8B030D-6E8A-4147-A177-3AD203B41FA5}">
                      <a16:colId xmlns:a16="http://schemas.microsoft.com/office/drawing/2014/main" val="1191960394"/>
                    </a:ext>
                  </a:extLst>
                </a:gridCol>
                <a:gridCol w="1019832">
                  <a:extLst>
                    <a:ext uri="{9D8B030D-6E8A-4147-A177-3AD203B41FA5}">
                      <a16:colId xmlns:a16="http://schemas.microsoft.com/office/drawing/2014/main" val="3279598642"/>
                    </a:ext>
                  </a:extLst>
                </a:gridCol>
              </a:tblGrid>
              <a:tr h="30471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ID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Var1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Var2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Var3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1846329"/>
                  </a:ext>
                </a:extLst>
              </a:tr>
              <a:tr h="30471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5/1/1956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97.3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9559897"/>
                  </a:ext>
                </a:extLst>
              </a:tr>
              <a:tr h="30471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6/25/1967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98.5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996288"/>
                  </a:ext>
                </a:extLst>
              </a:tr>
              <a:tr h="30471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4/29/2003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69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97.4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3650838"/>
                  </a:ext>
                </a:extLst>
              </a:tr>
              <a:tr h="30471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…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…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…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…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8574535"/>
                  </a:ext>
                </a:extLst>
              </a:tr>
            </a:tbl>
          </a:graphicData>
        </a:graphic>
      </p:graphicFrame>
      <p:sp>
        <p:nvSpPr>
          <p:cNvPr id="5" name="Google Shape;142;p26">
            <a:extLst>
              <a:ext uri="{FF2B5EF4-FFF2-40B4-BE49-F238E27FC236}">
                <a16:creationId xmlns:a16="http://schemas.microsoft.com/office/drawing/2014/main" id="{29459929-6606-0BF7-61BA-39EA9862B939}"/>
              </a:ext>
            </a:extLst>
          </p:cNvPr>
          <p:cNvSpPr txBox="1"/>
          <p:nvPr/>
        </p:nvSpPr>
        <p:spPr>
          <a:xfrm>
            <a:off x="922202" y="1528886"/>
            <a:ext cx="5364867" cy="53076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006" kern="0" dirty="0">
              <a:solidFill>
                <a:srgbClr val="12312B"/>
              </a:solidFill>
              <a:highlight>
                <a:srgbClr val="FFFF00"/>
              </a:highlight>
              <a:latin typeface="Archivo Medium"/>
              <a:ea typeface="Archivo Medium"/>
              <a:cs typeface="Archivo Medium"/>
              <a:sym typeface="Archivo Medium"/>
            </a:endParaRP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sz="2006" kern="0" dirty="0">
                <a:solidFill>
                  <a:srgbClr val="12312B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“Documentation”: </a:t>
            </a:r>
            <a:r>
              <a:rPr lang="en-US" sz="2006" kern="0" dirty="0">
                <a:solidFill>
                  <a:srgbClr val="12312B"/>
                </a:solidFill>
                <a:latin typeface="Archivo Medium"/>
                <a:sym typeface="Archivo Medium"/>
              </a:rPr>
              <a:t>a description of the dataset</a:t>
            </a:r>
          </a:p>
          <a:p>
            <a:pPr marL="866521" lvl="2" indent="-28884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⚬"/>
            </a:pPr>
            <a:r>
              <a:rPr lang="en-US" kern="0" dirty="0">
                <a:solidFill>
                  <a:srgbClr val="12312B"/>
                </a:solidFill>
                <a:latin typeface="Archivo Medium"/>
                <a:sym typeface="Archivo Medium"/>
              </a:rPr>
              <a:t>Also known as metadata, codebook,…</a:t>
            </a:r>
          </a:p>
          <a:p>
            <a:pPr marL="866521" lvl="2" indent="-28884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⚬"/>
            </a:pPr>
            <a:r>
              <a:rPr lang="en-US" kern="0" dirty="0">
                <a:solidFill>
                  <a:srgbClr val="12312B"/>
                </a:solidFill>
                <a:latin typeface="Archivo Medium"/>
                <a:sym typeface="Archivo Medium"/>
              </a:rPr>
              <a:t>Range of format and formality</a:t>
            </a:r>
          </a:p>
          <a:p>
            <a:pPr marL="890460" lvl="2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006" kern="0" dirty="0">
              <a:solidFill>
                <a:srgbClr val="12312B"/>
              </a:solidFill>
              <a:latin typeface="Archivo Medium"/>
              <a:ea typeface="Arial"/>
              <a:cs typeface="Archivo Medium"/>
              <a:sym typeface="Archivo Medium"/>
            </a:endParaRP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sz="2006" kern="0" dirty="0">
                <a:solidFill>
                  <a:srgbClr val="12312B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Key information about the variables, such as</a:t>
            </a:r>
          </a:p>
          <a:p>
            <a:pPr marL="866521" lvl="2" indent="-28884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⚬"/>
            </a:pPr>
            <a:r>
              <a:rPr lang="en-US" kern="0" dirty="0">
                <a:solidFill>
                  <a:srgbClr val="12312B"/>
                </a:solidFill>
                <a:latin typeface="Archivo Medium"/>
                <a:sym typeface="Archivo Medium"/>
              </a:rPr>
              <a:t>Name</a:t>
            </a:r>
          </a:p>
          <a:p>
            <a:pPr marL="866521" lvl="2" indent="-28884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⚬"/>
            </a:pPr>
            <a:r>
              <a:rPr lang="en-US" kern="0" dirty="0">
                <a:solidFill>
                  <a:srgbClr val="12312B"/>
                </a:solidFill>
                <a:latin typeface="Archivo Medium"/>
                <a:sym typeface="Archivo Medium"/>
              </a:rPr>
              <a:t>Units </a:t>
            </a:r>
          </a:p>
          <a:p>
            <a:pPr marL="866521" lvl="2" indent="-28884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⚬"/>
            </a:pPr>
            <a:r>
              <a:rPr lang="en-US" kern="0" dirty="0">
                <a:solidFill>
                  <a:srgbClr val="12312B"/>
                </a:solidFill>
                <a:latin typeface="Archivo Medium"/>
                <a:sym typeface="Archivo Medium"/>
              </a:rPr>
              <a:t>Coding, e.g.</a:t>
            </a:r>
          </a:p>
          <a:p>
            <a:pPr marL="1323721" lvl="3" indent="-288840" defTabSz="609630">
              <a:lnSpc>
                <a:spcPct val="140013"/>
              </a:lnSpc>
              <a:buClr>
                <a:srgbClr val="12312B"/>
              </a:buClr>
              <a:buSzPts val="3009"/>
              <a:buFont typeface="Wingdings" panose="05000000000000000000" pitchFamily="2" charset="2"/>
              <a:buChar char="§"/>
            </a:pPr>
            <a:r>
              <a:rPr lang="en-US" kern="0" dirty="0">
                <a:solidFill>
                  <a:srgbClr val="12312B"/>
                </a:solidFill>
                <a:latin typeface="Archivo Medium"/>
                <a:sym typeface="Archivo Medium"/>
              </a:rPr>
              <a:t>1 = Yes</a:t>
            </a:r>
          </a:p>
          <a:p>
            <a:pPr marL="1323721" lvl="3" indent="-288840" defTabSz="609630">
              <a:lnSpc>
                <a:spcPct val="140013"/>
              </a:lnSpc>
              <a:buClr>
                <a:srgbClr val="12312B"/>
              </a:buClr>
              <a:buSzPts val="3009"/>
              <a:buFont typeface="Wingdings" panose="05000000000000000000" pitchFamily="2" charset="2"/>
              <a:buChar char="§"/>
            </a:pPr>
            <a:r>
              <a:rPr lang="en-US" kern="0" dirty="0">
                <a:solidFill>
                  <a:srgbClr val="12312B"/>
                </a:solidFill>
                <a:latin typeface="Archivo Medium"/>
                <a:sym typeface="Archivo Medium"/>
              </a:rPr>
              <a:t>2 = No</a:t>
            </a:r>
            <a:endParaRPr lang="en-US" kern="0" dirty="0">
              <a:solidFill>
                <a:srgbClr val="12312B"/>
              </a:solidFill>
              <a:latin typeface="Archivo Medium"/>
              <a:sym typeface="Arial"/>
            </a:endParaRP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006" kern="0" dirty="0">
              <a:solidFill>
                <a:srgbClr val="12312B"/>
              </a:solidFill>
              <a:latin typeface="Archivo Medium"/>
              <a:sym typeface="Archivo Medium"/>
            </a:endParaRP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sz="2006" kern="0" dirty="0">
                <a:solidFill>
                  <a:srgbClr val="12312B"/>
                </a:solidFill>
                <a:latin typeface="Archivo Medium"/>
                <a:sym typeface="Archivo Medium"/>
              </a:rPr>
              <a:t>Notes on other dataset features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A84982C-C747-B67F-A61F-78630BD0E8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2332869"/>
              </p:ext>
            </p:extLst>
          </p:nvPr>
        </p:nvGraphicFramePr>
        <p:xfrm>
          <a:off x="6829161" y="4805682"/>
          <a:ext cx="4924339" cy="1523570"/>
        </p:xfrm>
        <a:graphic>
          <a:graphicData uri="http://schemas.openxmlformats.org/drawingml/2006/table">
            <a:tbl>
              <a:tblPr/>
              <a:tblGrid>
                <a:gridCol w="577492">
                  <a:extLst>
                    <a:ext uri="{9D8B030D-6E8A-4147-A177-3AD203B41FA5}">
                      <a16:colId xmlns:a16="http://schemas.microsoft.com/office/drawing/2014/main" val="1733503779"/>
                    </a:ext>
                  </a:extLst>
                </a:gridCol>
                <a:gridCol w="1293252">
                  <a:extLst>
                    <a:ext uri="{9D8B030D-6E8A-4147-A177-3AD203B41FA5}">
                      <a16:colId xmlns:a16="http://schemas.microsoft.com/office/drawing/2014/main" val="1259338926"/>
                    </a:ext>
                  </a:extLst>
                </a:gridCol>
                <a:gridCol w="1564547">
                  <a:extLst>
                    <a:ext uri="{9D8B030D-6E8A-4147-A177-3AD203B41FA5}">
                      <a16:colId xmlns:a16="http://schemas.microsoft.com/office/drawing/2014/main" val="1191960394"/>
                    </a:ext>
                  </a:extLst>
                </a:gridCol>
                <a:gridCol w="1489048">
                  <a:extLst>
                    <a:ext uri="{9D8B030D-6E8A-4147-A177-3AD203B41FA5}">
                      <a16:colId xmlns:a16="http://schemas.microsoft.com/office/drawing/2014/main" val="3279598642"/>
                    </a:ext>
                  </a:extLst>
                </a:gridCol>
              </a:tblGrid>
              <a:tr h="30471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ID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Date of Birth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Height (inches)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Temperature (F)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1846329"/>
                  </a:ext>
                </a:extLst>
              </a:tr>
              <a:tr h="30471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5/1/1956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97.3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9559897"/>
                  </a:ext>
                </a:extLst>
              </a:tr>
              <a:tr h="30471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6/25/1967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98.5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996288"/>
                  </a:ext>
                </a:extLst>
              </a:tr>
              <a:tr h="30471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4/29/2003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69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97.4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3650838"/>
                  </a:ext>
                </a:extLst>
              </a:tr>
              <a:tr h="30471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…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…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…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…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85745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51434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37F7C48C-9086-22C6-0289-A0B8F81A50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6">
            <a:extLst>
              <a:ext uri="{FF2B5EF4-FFF2-40B4-BE49-F238E27FC236}">
                <a16:creationId xmlns:a16="http://schemas.microsoft.com/office/drawing/2014/main" id="{0632AB34-8DAF-2013-CF37-3C891336E16D}"/>
              </a:ext>
            </a:extLst>
          </p:cNvPr>
          <p:cNvSpPr txBox="1"/>
          <p:nvPr/>
        </p:nvSpPr>
        <p:spPr>
          <a:xfrm>
            <a:off x="922202" y="1157695"/>
            <a:ext cx="6097800" cy="742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defTabSz="609630">
              <a:lnSpc>
                <a:spcPct val="140007"/>
              </a:lnSpc>
              <a:buClr>
                <a:srgbClr val="000000"/>
              </a:buClr>
            </a:pPr>
            <a:r>
              <a:rPr lang="en-US" sz="3446" kern="0" dirty="0">
                <a:solidFill>
                  <a:srgbClr val="00693D"/>
                </a:solidFill>
                <a:latin typeface="Anton"/>
                <a:ea typeface="Anton"/>
                <a:cs typeface="Anton"/>
                <a:sym typeface="Anton"/>
              </a:rPr>
              <a:t>What is the dataset’s format?</a:t>
            </a:r>
            <a:endParaRPr sz="933" kern="0" dirty="0">
              <a:solidFill>
                <a:srgbClr val="000000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42" name="Google Shape;142;p26">
            <a:extLst>
              <a:ext uri="{FF2B5EF4-FFF2-40B4-BE49-F238E27FC236}">
                <a16:creationId xmlns:a16="http://schemas.microsoft.com/office/drawing/2014/main" id="{EEB762E8-5734-55C9-255A-396077CEBB04}"/>
              </a:ext>
            </a:extLst>
          </p:cNvPr>
          <p:cNvSpPr txBox="1"/>
          <p:nvPr/>
        </p:nvSpPr>
        <p:spPr>
          <a:xfrm>
            <a:off x="922202" y="1736904"/>
            <a:ext cx="5538034" cy="41442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006" kern="0" dirty="0">
              <a:solidFill>
                <a:srgbClr val="12312B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sz="2006" kern="0" dirty="0">
                <a:solidFill>
                  <a:srgbClr val="12312B"/>
                </a:solidFill>
                <a:latin typeface="Archivo Medium"/>
                <a:sym typeface="Archivo Medium"/>
              </a:rPr>
              <a:t>A single file of data? Multiple files? </a:t>
            </a: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006" kern="0" dirty="0">
              <a:solidFill>
                <a:srgbClr val="12312B"/>
              </a:solidFill>
              <a:latin typeface="Archivo Medium"/>
              <a:sym typeface="Archivo Medium"/>
            </a:endParaRP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sz="2006" kern="0" dirty="0">
                <a:solidFill>
                  <a:srgbClr val="12312B"/>
                </a:solidFill>
                <a:latin typeface="Archivo Medium"/>
                <a:sym typeface="Archivo Medium"/>
              </a:rPr>
              <a:t>A database? Something else?</a:t>
            </a: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006" kern="0" dirty="0">
              <a:solidFill>
                <a:srgbClr val="12312B"/>
              </a:solidFill>
              <a:latin typeface="Archivo Medium"/>
              <a:sym typeface="Archivo Medium"/>
            </a:endParaRP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sz="2006" kern="0" dirty="0">
                <a:solidFill>
                  <a:srgbClr val="12312B"/>
                </a:solidFill>
                <a:latin typeface="Archivo Medium"/>
                <a:sym typeface="Archivo Medium"/>
              </a:rPr>
              <a:t>What is the file format? </a:t>
            </a:r>
          </a:p>
          <a:p>
            <a:pPr marL="866521" lvl="2" indent="-28884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⚬"/>
            </a:pPr>
            <a:r>
              <a:rPr lang="en-US" dirty="0">
                <a:latin typeface="Archivo Medium"/>
                <a:sym typeface="Archivo Medium"/>
              </a:rPr>
              <a:t>Something common, like a CSV file?</a:t>
            </a:r>
          </a:p>
          <a:p>
            <a:pPr marL="866521" lvl="2" indent="-28884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⚬"/>
            </a:pPr>
            <a:r>
              <a:rPr lang="en-US" dirty="0">
                <a:latin typeface="Archivo Medium"/>
                <a:sym typeface="Archivo Medium"/>
              </a:rPr>
              <a:t>Something specific to a software?</a:t>
            </a:r>
          </a:p>
          <a:p>
            <a:pPr marL="1473930" lvl="3" indent="-342900" defTabSz="609630">
              <a:lnSpc>
                <a:spcPct val="140013"/>
              </a:lnSpc>
              <a:buClr>
                <a:srgbClr val="12312B"/>
              </a:buClr>
              <a:buSzPts val="3009"/>
              <a:buFont typeface="Wingdings" panose="05000000000000000000" pitchFamily="2" charset="2"/>
              <a:buChar char="§"/>
            </a:pPr>
            <a:r>
              <a:rPr lang="en-US" kern="0" dirty="0">
                <a:solidFill>
                  <a:srgbClr val="12312B"/>
                </a:solidFill>
                <a:latin typeface="Archivo Medium"/>
                <a:sym typeface="Archivo Medium"/>
              </a:rPr>
              <a:t>Free, e.g. </a:t>
            </a:r>
            <a:r>
              <a:rPr lang="en-US" kern="0" dirty="0" err="1">
                <a:solidFill>
                  <a:srgbClr val="12312B"/>
                </a:solidFill>
                <a:latin typeface="Archivo Medium"/>
                <a:sym typeface="Archivo Medium"/>
              </a:rPr>
              <a:t>Rdata</a:t>
            </a:r>
            <a:r>
              <a:rPr lang="en-US" kern="0" dirty="0">
                <a:solidFill>
                  <a:srgbClr val="12312B"/>
                </a:solidFill>
                <a:latin typeface="Archivo Medium"/>
                <a:sym typeface="Archivo Medium"/>
              </a:rPr>
              <a:t> files</a:t>
            </a:r>
          </a:p>
          <a:p>
            <a:pPr marL="1473930" lvl="3" indent="-342900" defTabSz="609630">
              <a:lnSpc>
                <a:spcPct val="140013"/>
              </a:lnSpc>
              <a:buClr>
                <a:srgbClr val="12312B"/>
              </a:buClr>
              <a:buSzPts val="3009"/>
              <a:buFont typeface="Wingdings" panose="05000000000000000000" pitchFamily="2" charset="2"/>
              <a:buChar char="§"/>
            </a:pPr>
            <a:r>
              <a:rPr lang="en-US" kern="0" dirty="0">
                <a:solidFill>
                  <a:srgbClr val="12312B"/>
                </a:solidFill>
                <a:latin typeface="Archivo Medium"/>
                <a:sym typeface="Archivo Medium"/>
              </a:rPr>
              <a:t>Paid, e.g. SAS files</a:t>
            </a:r>
            <a:endParaRPr sz="2006" kern="0" dirty="0">
              <a:solidFill>
                <a:srgbClr val="12312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184952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ABC54D8-F12F-CF9E-B7B1-82CFA6E4CB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34250" y="1830632"/>
            <a:ext cx="7425600" cy="45166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Suitability checkpoint:</a:t>
            </a:r>
          </a:p>
          <a:p>
            <a:pPr marL="0" indent="0">
              <a:buNone/>
            </a:pPr>
            <a:r>
              <a:rPr lang="en-US" sz="3200" dirty="0">
                <a:solidFill>
                  <a:schemeClr val="accent1">
                    <a:lumMod val="75000"/>
                  </a:schemeClr>
                </a:solidFill>
              </a:rPr>
              <a:t>Now that you’ve read about the dataset’s source, methods, and documentation, is it suitable for your analysis? </a:t>
            </a:r>
          </a:p>
          <a:p>
            <a:pPr marL="0" indent="0">
              <a:buNone/>
            </a:pPr>
            <a:endParaRPr lang="en-US" sz="32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US" sz="32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US" sz="32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 algn="r">
              <a:buNone/>
            </a:pPr>
            <a:r>
              <a:rPr lang="en-US" sz="3200" dirty="0">
                <a:solidFill>
                  <a:schemeClr val="bg2"/>
                </a:solidFill>
              </a:rPr>
              <a:t>If so, let’s start looking at the data!</a:t>
            </a:r>
          </a:p>
        </p:txBody>
      </p:sp>
    </p:spTree>
    <p:extLst>
      <p:ext uri="{BB962C8B-B14F-4D97-AF65-F5344CB8AC3E}">
        <p14:creationId xmlns:p14="http://schemas.microsoft.com/office/powerpoint/2010/main" val="858423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>
          <a:extLst>
            <a:ext uri="{FF2B5EF4-FFF2-40B4-BE49-F238E27FC236}">
              <a16:creationId xmlns:a16="http://schemas.microsoft.com/office/drawing/2014/main" id="{721334A6-4294-CA8F-3302-267F8611BB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5">
            <a:extLst>
              <a:ext uri="{FF2B5EF4-FFF2-40B4-BE49-F238E27FC236}">
                <a16:creationId xmlns:a16="http://schemas.microsoft.com/office/drawing/2014/main" id="{19236664-3761-1B69-A84E-E69F2146FE1A}"/>
              </a:ext>
            </a:extLst>
          </p:cNvPr>
          <p:cNvSpPr txBox="1"/>
          <p:nvPr/>
        </p:nvSpPr>
        <p:spPr>
          <a:xfrm>
            <a:off x="1785128" y="2286000"/>
            <a:ext cx="7305000" cy="1034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defTabSz="609630">
              <a:lnSpc>
                <a:spcPct val="139996"/>
              </a:lnSpc>
              <a:buClr>
                <a:srgbClr val="000000"/>
              </a:buClr>
            </a:pPr>
            <a:r>
              <a:rPr lang="en-US" sz="4800" kern="0" dirty="0">
                <a:solidFill>
                  <a:srgbClr val="A5D75F"/>
                </a:solidFill>
                <a:latin typeface="Anton"/>
                <a:ea typeface="Anton"/>
                <a:cs typeface="Anton"/>
                <a:sym typeface="Anton"/>
              </a:rPr>
              <a:t>How do we explore our data?</a:t>
            </a:r>
          </a:p>
        </p:txBody>
      </p:sp>
      <p:sp>
        <p:nvSpPr>
          <p:cNvPr id="135" name="Google Shape;135;p25">
            <a:extLst>
              <a:ext uri="{FF2B5EF4-FFF2-40B4-BE49-F238E27FC236}">
                <a16:creationId xmlns:a16="http://schemas.microsoft.com/office/drawing/2014/main" id="{77BA2C9C-76A5-4387-5425-D9520B1DE529}"/>
              </a:ext>
            </a:extLst>
          </p:cNvPr>
          <p:cNvSpPr/>
          <p:nvPr/>
        </p:nvSpPr>
        <p:spPr>
          <a:xfrm>
            <a:off x="1202207" y="3147675"/>
            <a:ext cx="8470842" cy="780393"/>
          </a:xfrm>
          <a:custGeom>
            <a:avLst/>
            <a:gdLst/>
            <a:ahLst/>
            <a:cxnLst/>
            <a:rect l="l" t="t" r="r" b="b"/>
            <a:pathLst>
              <a:path w="6287497" h="938348" extrusionOk="0">
                <a:moveTo>
                  <a:pt x="0" y="0"/>
                </a:moveTo>
                <a:lnTo>
                  <a:pt x="6287496" y="0"/>
                </a:lnTo>
                <a:lnTo>
                  <a:pt x="6287496" y="938349"/>
                </a:lnTo>
                <a:lnTo>
                  <a:pt x="0" y="9383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pPr defTabSz="609630">
              <a:buClr>
                <a:srgbClr val="000000"/>
              </a:buClr>
            </a:pPr>
            <a:endParaRPr lang="en-US" sz="933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2" name="Google Shape;134;p25">
            <a:extLst>
              <a:ext uri="{FF2B5EF4-FFF2-40B4-BE49-F238E27FC236}">
                <a16:creationId xmlns:a16="http://schemas.microsoft.com/office/drawing/2014/main" id="{BD94BFD0-E619-3B0C-D018-0A5FA5458004}"/>
              </a:ext>
            </a:extLst>
          </p:cNvPr>
          <p:cNvSpPr txBox="1"/>
          <p:nvPr/>
        </p:nvSpPr>
        <p:spPr>
          <a:xfrm>
            <a:off x="1853585" y="4633937"/>
            <a:ext cx="7305000" cy="1723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defTabSz="609630">
              <a:lnSpc>
                <a:spcPct val="139996"/>
              </a:lnSpc>
              <a:buClr>
                <a:srgbClr val="000000"/>
              </a:buClr>
            </a:pPr>
            <a:r>
              <a:rPr lang="en-US" sz="4000" kern="0" dirty="0">
                <a:solidFill>
                  <a:schemeClr val="accent5"/>
                </a:solidFill>
                <a:latin typeface="Anton"/>
                <a:ea typeface="Anton"/>
                <a:cs typeface="Anton"/>
                <a:sym typeface="Anton"/>
              </a:rPr>
              <a:t>Phase 2: Examine structure and contents</a:t>
            </a:r>
          </a:p>
        </p:txBody>
      </p:sp>
    </p:spTree>
    <p:extLst>
      <p:ext uri="{BB962C8B-B14F-4D97-AF65-F5344CB8AC3E}">
        <p14:creationId xmlns:p14="http://schemas.microsoft.com/office/powerpoint/2010/main" val="31489605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A5C8F9A5-3381-5DD1-4CD0-B4BD94EC65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6">
            <a:extLst>
              <a:ext uri="{FF2B5EF4-FFF2-40B4-BE49-F238E27FC236}">
                <a16:creationId xmlns:a16="http://schemas.microsoft.com/office/drawing/2014/main" id="{DE69AA15-72D4-5DA0-7DF1-435C50D7C869}"/>
              </a:ext>
            </a:extLst>
          </p:cNvPr>
          <p:cNvSpPr txBox="1"/>
          <p:nvPr/>
        </p:nvSpPr>
        <p:spPr>
          <a:xfrm>
            <a:off x="3802562" y="627343"/>
            <a:ext cx="6097800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defTabSz="609630">
              <a:lnSpc>
                <a:spcPct val="140007"/>
              </a:lnSpc>
              <a:buClr>
                <a:srgbClr val="000000"/>
              </a:buClr>
            </a:pPr>
            <a:r>
              <a:rPr lang="en-US" sz="4000" kern="0" dirty="0">
                <a:solidFill>
                  <a:srgbClr val="00693D"/>
                </a:solidFill>
                <a:latin typeface="Anton"/>
                <a:ea typeface="Anton"/>
                <a:cs typeface="Anton"/>
                <a:sym typeface="Anton"/>
              </a:rPr>
              <a:t>Our dataset</a:t>
            </a:r>
            <a:endParaRPr sz="1050" kern="0" dirty="0">
              <a:solidFill>
                <a:srgbClr val="000000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EEEC0FD-D4D8-7BB3-7338-1B5F31017D80}"/>
              </a:ext>
            </a:extLst>
          </p:cNvPr>
          <p:cNvSpPr txBox="1"/>
          <p:nvPr/>
        </p:nvSpPr>
        <p:spPr>
          <a:xfrm>
            <a:off x="7021810" y="6102519"/>
            <a:ext cx="49925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/>
              <a:t>*From the documentation: The number of servings of vegetables consumed, on average, each day. 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4D07D49-7910-C5DA-89D1-433D68B0F7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711288"/>
              </p:ext>
            </p:extLst>
          </p:nvPr>
        </p:nvGraphicFramePr>
        <p:xfrm>
          <a:off x="1277143" y="1667479"/>
          <a:ext cx="8890798" cy="4256677"/>
        </p:xfrm>
        <a:graphic>
          <a:graphicData uri="http://schemas.openxmlformats.org/drawingml/2006/table">
            <a:tbl>
              <a:tblPr/>
              <a:tblGrid>
                <a:gridCol w="533687">
                  <a:extLst>
                    <a:ext uri="{9D8B030D-6E8A-4147-A177-3AD203B41FA5}">
                      <a16:colId xmlns:a16="http://schemas.microsoft.com/office/drawing/2014/main" val="1733503779"/>
                    </a:ext>
                  </a:extLst>
                </a:gridCol>
                <a:gridCol w="1210921">
                  <a:extLst>
                    <a:ext uri="{9D8B030D-6E8A-4147-A177-3AD203B41FA5}">
                      <a16:colId xmlns:a16="http://schemas.microsoft.com/office/drawing/2014/main" val="1259338926"/>
                    </a:ext>
                  </a:extLst>
                </a:gridCol>
                <a:gridCol w="987974">
                  <a:extLst>
                    <a:ext uri="{9D8B030D-6E8A-4147-A177-3AD203B41FA5}">
                      <a16:colId xmlns:a16="http://schemas.microsoft.com/office/drawing/2014/main" val="1191960394"/>
                    </a:ext>
                  </a:extLst>
                </a:gridCol>
                <a:gridCol w="1734302">
                  <a:extLst>
                    <a:ext uri="{9D8B030D-6E8A-4147-A177-3AD203B41FA5}">
                      <a16:colId xmlns:a16="http://schemas.microsoft.com/office/drawing/2014/main" val="3279598642"/>
                    </a:ext>
                  </a:extLst>
                </a:gridCol>
                <a:gridCol w="1320446">
                  <a:extLst>
                    <a:ext uri="{9D8B030D-6E8A-4147-A177-3AD203B41FA5}">
                      <a16:colId xmlns:a16="http://schemas.microsoft.com/office/drawing/2014/main" val="2003107669"/>
                    </a:ext>
                  </a:extLst>
                </a:gridCol>
                <a:gridCol w="1551734">
                  <a:extLst>
                    <a:ext uri="{9D8B030D-6E8A-4147-A177-3AD203B41FA5}">
                      <a16:colId xmlns:a16="http://schemas.microsoft.com/office/drawing/2014/main" val="3159217175"/>
                    </a:ext>
                  </a:extLst>
                </a:gridCol>
                <a:gridCol w="1551734">
                  <a:extLst>
                    <a:ext uri="{9D8B030D-6E8A-4147-A177-3AD203B41FA5}">
                      <a16:colId xmlns:a16="http://schemas.microsoft.com/office/drawing/2014/main" val="1466618672"/>
                    </a:ext>
                  </a:extLst>
                </a:gridCol>
              </a:tblGrid>
              <a:tr h="34963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ID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Date of Birth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Age (years)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Body Temperature (F)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Height (inches)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8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 Veggies (servings)*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8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Consumes meat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1846329"/>
                  </a:ext>
                </a:extLst>
              </a:tr>
              <a:tr h="34963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5/1/1956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69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97.3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Yes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9559897"/>
                  </a:ext>
                </a:extLst>
              </a:tr>
              <a:tr h="34963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June 25, 1967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No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996288"/>
                  </a:ext>
                </a:extLst>
              </a:tr>
              <a:tr h="34963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04/29/03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97.4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69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yes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3650838"/>
                  </a:ext>
                </a:extLst>
              </a:tr>
              <a:tr h="34963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27170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97.0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1 or 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Y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306383"/>
                  </a:ext>
                </a:extLst>
              </a:tr>
              <a:tr h="34963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1/30/1998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99.3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Ys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0961974"/>
                  </a:ext>
                </a:extLst>
              </a:tr>
              <a:tr h="34963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6/21/1988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99.3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No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8574535"/>
                  </a:ext>
                </a:extLst>
              </a:tr>
              <a:tr h="34963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3/29/2002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37.0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Yes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4268281"/>
                  </a:ext>
                </a:extLst>
              </a:tr>
              <a:tr h="34963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11/16/2007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97.1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yes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6887652"/>
                  </a:ext>
                </a:extLst>
              </a:tr>
              <a:tr h="34963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4/24/1992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98.6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Unknown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YES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341734"/>
                  </a:ext>
                </a:extLst>
              </a:tr>
              <a:tr h="34963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11/26/2025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97.9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No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75454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856791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E7BCCA0D-15A4-2EF4-395B-6C225E389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6">
            <a:extLst>
              <a:ext uri="{FF2B5EF4-FFF2-40B4-BE49-F238E27FC236}">
                <a16:creationId xmlns:a16="http://schemas.microsoft.com/office/drawing/2014/main" id="{97DC48D6-3AFD-FBBF-5F22-B5AF890B2B14}"/>
              </a:ext>
            </a:extLst>
          </p:cNvPr>
          <p:cNvSpPr txBox="1"/>
          <p:nvPr/>
        </p:nvSpPr>
        <p:spPr>
          <a:xfrm>
            <a:off x="922202" y="1157695"/>
            <a:ext cx="6097800" cy="742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defTabSz="609630">
              <a:lnSpc>
                <a:spcPct val="140007"/>
              </a:lnSpc>
              <a:buClr>
                <a:srgbClr val="000000"/>
              </a:buClr>
            </a:pPr>
            <a:r>
              <a:rPr lang="en-US" sz="3446" kern="0" dirty="0">
                <a:solidFill>
                  <a:srgbClr val="00693D"/>
                </a:solidFill>
                <a:latin typeface="Anton"/>
                <a:ea typeface="Anton"/>
                <a:cs typeface="Anton"/>
                <a:sym typeface="Anton"/>
              </a:rPr>
              <a:t>Dataset size</a:t>
            </a:r>
            <a:endParaRPr sz="933" kern="0" dirty="0">
              <a:solidFill>
                <a:srgbClr val="000000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42" name="Google Shape;142;p26">
            <a:extLst>
              <a:ext uri="{FF2B5EF4-FFF2-40B4-BE49-F238E27FC236}">
                <a16:creationId xmlns:a16="http://schemas.microsoft.com/office/drawing/2014/main" id="{AD66EC61-C80E-8612-9DEE-BCDBC62ED003}"/>
              </a:ext>
            </a:extLst>
          </p:cNvPr>
          <p:cNvSpPr txBox="1"/>
          <p:nvPr/>
        </p:nvSpPr>
        <p:spPr>
          <a:xfrm>
            <a:off x="922202" y="1736904"/>
            <a:ext cx="4404807" cy="34522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006" kern="0" dirty="0">
              <a:solidFill>
                <a:srgbClr val="12312B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sz="2000" kern="0" dirty="0">
                <a:solidFill>
                  <a:srgbClr val="12312B"/>
                </a:solidFill>
                <a:latin typeface="Archivo Medium"/>
                <a:sym typeface="Archivo Medium"/>
              </a:rPr>
              <a:t>Number of r</a:t>
            </a:r>
            <a:r>
              <a:rPr lang="en-US" sz="2000" kern="0" dirty="0">
                <a:solidFill>
                  <a:srgbClr val="12312B"/>
                </a:solidFill>
                <a:latin typeface="Archivo Medium"/>
              </a:rPr>
              <a:t>ows – data points</a:t>
            </a: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000" kern="0" dirty="0">
              <a:solidFill>
                <a:srgbClr val="12312B"/>
              </a:solidFill>
              <a:latin typeface="Archivo Medium"/>
              <a:sym typeface="Archivo Medium"/>
            </a:endParaRP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000" kern="0" dirty="0">
              <a:solidFill>
                <a:srgbClr val="12312B"/>
              </a:solidFill>
              <a:latin typeface="Archivo Medium"/>
              <a:sym typeface="Archivo Medium"/>
            </a:endParaRP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sz="2000" kern="0" dirty="0">
                <a:solidFill>
                  <a:srgbClr val="12312B"/>
                </a:solidFill>
                <a:latin typeface="Archivo Medium"/>
                <a:sym typeface="Archivo Medium"/>
              </a:rPr>
              <a:t>Number of columns </a:t>
            </a:r>
            <a:r>
              <a:rPr lang="en-US" sz="2000" kern="0" dirty="0">
                <a:solidFill>
                  <a:srgbClr val="12312B"/>
                </a:solidFill>
                <a:latin typeface="Archivo Medium"/>
              </a:rPr>
              <a:t>– variables</a:t>
            </a: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006" kern="0" dirty="0">
              <a:solidFill>
                <a:srgbClr val="12312B"/>
              </a:solidFill>
              <a:latin typeface="Archivo Medium"/>
              <a:sym typeface="Archivo Medium"/>
            </a:endParaRP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006" kern="0" dirty="0">
              <a:solidFill>
                <a:srgbClr val="12312B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defTabSz="609630">
              <a:lnSpc>
                <a:spcPct val="140013"/>
              </a:lnSpc>
              <a:buClr>
                <a:srgbClr val="000000"/>
              </a:buClr>
            </a:pPr>
            <a:endParaRPr sz="2006" kern="0" dirty="0">
              <a:solidFill>
                <a:srgbClr val="12312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786BA11-0FBF-4B1D-E4C9-3CA495743D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8201959"/>
              </p:ext>
            </p:extLst>
          </p:nvPr>
        </p:nvGraphicFramePr>
        <p:xfrm>
          <a:off x="4838937" y="1528886"/>
          <a:ext cx="7159690" cy="4223855"/>
        </p:xfrm>
        <a:graphic>
          <a:graphicData uri="http://schemas.openxmlformats.org/drawingml/2006/table">
            <a:tbl>
              <a:tblPr/>
              <a:tblGrid>
                <a:gridCol w="429774">
                  <a:extLst>
                    <a:ext uri="{9D8B030D-6E8A-4147-A177-3AD203B41FA5}">
                      <a16:colId xmlns:a16="http://schemas.microsoft.com/office/drawing/2014/main" val="1733503779"/>
                    </a:ext>
                  </a:extLst>
                </a:gridCol>
                <a:gridCol w="975145">
                  <a:extLst>
                    <a:ext uri="{9D8B030D-6E8A-4147-A177-3AD203B41FA5}">
                      <a16:colId xmlns:a16="http://schemas.microsoft.com/office/drawing/2014/main" val="1259338926"/>
                    </a:ext>
                  </a:extLst>
                </a:gridCol>
                <a:gridCol w="795608">
                  <a:extLst>
                    <a:ext uri="{9D8B030D-6E8A-4147-A177-3AD203B41FA5}">
                      <a16:colId xmlns:a16="http://schemas.microsoft.com/office/drawing/2014/main" val="1191960394"/>
                    </a:ext>
                  </a:extLst>
                </a:gridCol>
                <a:gridCol w="1396620">
                  <a:extLst>
                    <a:ext uri="{9D8B030D-6E8A-4147-A177-3AD203B41FA5}">
                      <a16:colId xmlns:a16="http://schemas.microsoft.com/office/drawing/2014/main" val="3279598642"/>
                    </a:ext>
                  </a:extLst>
                </a:gridCol>
                <a:gridCol w="1063345">
                  <a:extLst>
                    <a:ext uri="{9D8B030D-6E8A-4147-A177-3AD203B41FA5}">
                      <a16:colId xmlns:a16="http://schemas.microsoft.com/office/drawing/2014/main" val="2003107669"/>
                    </a:ext>
                  </a:extLst>
                </a:gridCol>
                <a:gridCol w="1249599">
                  <a:extLst>
                    <a:ext uri="{9D8B030D-6E8A-4147-A177-3AD203B41FA5}">
                      <a16:colId xmlns:a16="http://schemas.microsoft.com/office/drawing/2014/main" val="3159217175"/>
                    </a:ext>
                  </a:extLst>
                </a:gridCol>
                <a:gridCol w="1249599">
                  <a:extLst>
                    <a:ext uri="{9D8B030D-6E8A-4147-A177-3AD203B41FA5}">
                      <a16:colId xmlns:a16="http://schemas.microsoft.com/office/drawing/2014/main" val="1466618672"/>
                    </a:ext>
                  </a:extLst>
                </a:gridCol>
              </a:tblGrid>
              <a:tr h="55071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ID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Date of Birth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Age (years)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Body Temperature (F)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Height (inches)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 Veggies (servings)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Consumes meat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1846329"/>
                  </a:ext>
                </a:extLst>
              </a:tr>
              <a:tr h="34693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5/1/1956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69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97.3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Yes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9559897"/>
                  </a:ext>
                </a:extLst>
              </a:tr>
              <a:tr h="55071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June 25, 1967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No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996288"/>
                  </a:ext>
                </a:extLst>
              </a:tr>
              <a:tr h="34693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04/29/03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97.4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69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yes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3650838"/>
                  </a:ext>
                </a:extLst>
              </a:tr>
              <a:tr h="34693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27170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97.0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1 or 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Y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306383"/>
                  </a:ext>
                </a:extLst>
              </a:tr>
              <a:tr h="34693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1/30/1998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99.3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Ys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0961974"/>
                  </a:ext>
                </a:extLst>
              </a:tr>
              <a:tr h="34693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6/21/1988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99.3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No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8574535"/>
                  </a:ext>
                </a:extLst>
              </a:tr>
              <a:tr h="34693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3/29/2002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37.0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Yes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4268281"/>
                  </a:ext>
                </a:extLst>
              </a:tr>
              <a:tr h="34693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11/16/2007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97.1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yes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6887652"/>
                  </a:ext>
                </a:extLst>
              </a:tr>
              <a:tr h="34693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4/24/1992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98.6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Unknown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YES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341734"/>
                  </a:ext>
                </a:extLst>
              </a:tr>
              <a:tr h="34693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11/26/2025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97.9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No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75454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4988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261EA4FA-A854-04B8-E4B0-C662C9B39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6">
            <a:extLst>
              <a:ext uri="{FF2B5EF4-FFF2-40B4-BE49-F238E27FC236}">
                <a16:creationId xmlns:a16="http://schemas.microsoft.com/office/drawing/2014/main" id="{FE22B854-8819-9A0B-D8F5-333C41E801F6}"/>
              </a:ext>
            </a:extLst>
          </p:cNvPr>
          <p:cNvSpPr txBox="1"/>
          <p:nvPr/>
        </p:nvSpPr>
        <p:spPr>
          <a:xfrm>
            <a:off x="922202" y="871265"/>
            <a:ext cx="6097800" cy="742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defTabSz="609630">
              <a:lnSpc>
                <a:spcPct val="140007"/>
              </a:lnSpc>
              <a:buClr>
                <a:srgbClr val="000000"/>
              </a:buClr>
            </a:pPr>
            <a:r>
              <a:rPr lang="en-US" sz="3446" kern="0" dirty="0">
                <a:solidFill>
                  <a:srgbClr val="00693D"/>
                </a:solidFill>
                <a:latin typeface="Anton"/>
                <a:ea typeface="Anton"/>
                <a:cs typeface="Anton"/>
                <a:sym typeface="Anton"/>
              </a:rPr>
              <a:t>Data arrangement: long or wide</a:t>
            </a:r>
            <a:endParaRPr sz="933" kern="0" dirty="0">
              <a:solidFill>
                <a:srgbClr val="000000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42" name="Google Shape;142;p26">
            <a:extLst>
              <a:ext uri="{FF2B5EF4-FFF2-40B4-BE49-F238E27FC236}">
                <a16:creationId xmlns:a16="http://schemas.microsoft.com/office/drawing/2014/main" id="{AC5577A7-13D2-7656-EB98-2CF364F4D8A2}"/>
              </a:ext>
            </a:extLst>
          </p:cNvPr>
          <p:cNvSpPr txBox="1"/>
          <p:nvPr/>
        </p:nvSpPr>
        <p:spPr>
          <a:xfrm>
            <a:off x="922202" y="1736904"/>
            <a:ext cx="4274778" cy="3889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006" kern="0" dirty="0">
              <a:solidFill>
                <a:srgbClr val="12312B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sz="2006" kern="0" dirty="0">
                <a:solidFill>
                  <a:srgbClr val="12312B"/>
                </a:solidFill>
                <a:latin typeface="Archivo Medium"/>
                <a:sym typeface="Archivo Medium"/>
              </a:rPr>
              <a:t>Wide: Default</a:t>
            </a:r>
          </a:p>
          <a:p>
            <a:pPr marL="866521" lvl="2" indent="-28884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⚬"/>
            </a:pPr>
            <a:r>
              <a:rPr lang="en-US" sz="2006" kern="0" dirty="0">
                <a:solidFill>
                  <a:srgbClr val="12312B"/>
                </a:solidFill>
                <a:latin typeface="Archivo Medium"/>
                <a:sym typeface="Archivo Medium"/>
              </a:rPr>
              <a:t>One row per subject</a:t>
            </a:r>
          </a:p>
          <a:p>
            <a:pPr marL="866521" lvl="2" indent="-28884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⚬"/>
            </a:pPr>
            <a:r>
              <a:rPr lang="en-US" sz="2006" kern="0" dirty="0">
                <a:solidFill>
                  <a:srgbClr val="12312B"/>
                </a:solidFill>
                <a:latin typeface="Archivo Medium"/>
                <a:sym typeface="Archivo Medium"/>
              </a:rPr>
              <a:t>Data in columns</a:t>
            </a: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006" kern="0" dirty="0">
              <a:solidFill>
                <a:srgbClr val="12312B"/>
              </a:solidFill>
              <a:latin typeface="Archivo Medium"/>
              <a:sym typeface="Archivo Medium"/>
            </a:endParaRP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sz="2006" kern="0" dirty="0">
                <a:solidFill>
                  <a:srgbClr val="12312B"/>
                </a:solidFill>
                <a:latin typeface="Archivo Medium"/>
                <a:sym typeface="Archivo Medium"/>
              </a:rPr>
              <a:t>Long: Often used for time series. </a:t>
            </a:r>
          </a:p>
          <a:p>
            <a:pPr marL="866521" lvl="2" indent="-28884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⚬"/>
            </a:pPr>
            <a:r>
              <a:rPr lang="en-US" sz="2006" kern="0" dirty="0">
                <a:solidFill>
                  <a:srgbClr val="12312B"/>
                </a:solidFill>
                <a:latin typeface="Archivo Medium"/>
                <a:sym typeface="Archivo Medium"/>
              </a:rPr>
              <a:t>Multiple rows per subject</a:t>
            </a:r>
          </a:p>
          <a:p>
            <a:pPr marL="866521" lvl="2" indent="-28884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⚬"/>
            </a:pPr>
            <a:r>
              <a:rPr lang="en-US" sz="2006" kern="0" dirty="0">
                <a:solidFill>
                  <a:srgbClr val="12312B"/>
                </a:solidFill>
                <a:latin typeface="Archivo Medium"/>
                <a:sym typeface="Archivo Medium"/>
              </a:rPr>
              <a:t>Data spread across columns and rows</a:t>
            </a:r>
            <a:endParaRPr sz="2006" kern="0" dirty="0">
              <a:solidFill>
                <a:srgbClr val="12312B"/>
              </a:solidFill>
              <a:latin typeface="Archivo Medium"/>
              <a:sym typeface="Arial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8B03144-3C3A-680A-DEC1-8D5C1B999B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7416481"/>
              </p:ext>
            </p:extLst>
          </p:nvPr>
        </p:nvGraphicFramePr>
        <p:xfrm>
          <a:off x="5735782" y="1613648"/>
          <a:ext cx="6263885" cy="2243605"/>
        </p:xfrm>
        <a:graphic>
          <a:graphicData uri="http://schemas.openxmlformats.org/drawingml/2006/table">
            <a:tbl>
              <a:tblPr/>
              <a:tblGrid>
                <a:gridCol w="386298">
                  <a:extLst>
                    <a:ext uri="{9D8B030D-6E8A-4147-A177-3AD203B41FA5}">
                      <a16:colId xmlns:a16="http://schemas.microsoft.com/office/drawing/2014/main" val="1733503779"/>
                    </a:ext>
                  </a:extLst>
                </a:gridCol>
                <a:gridCol w="1102724">
                  <a:extLst>
                    <a:ext uri="{9D8B030D-6E8A-4147-A177-3AD203B41FA5}">
                      <a16:colId xmlns:a16="http://schemas.microsoft.com/office/drawing/2014/main" val="1259338926"/>
                    </a:ext>
                  </a:extLst>
                </a:gridCol>
                <a:gridCol w="923278">
                  <a:extLst>
                    <a:ext uri="{9D8B030D-6E8A-4147-A177-3AD203B41FA5}">
                      <a16:colId xmlns:a16="http://schemas.microsoft.com/office/drawing/2014/main" val="1191960394"/>
                    </a:ext>
                  </a:extLst>
                </a:gridCol>
                <a:gridCol w="1400183">
                  <a:extLst>
                    <a:ext uri="{9D8B030D-6E8A-4147-A177-3AD203B41FA5}">
                      <a16:colId xmlns:a16="http://schemas.microsoft.com/office/drawing/2014/main" val="3279598642"/>
                    </a:ext>
                  </a:extLst>
                </a:gridCol>
                <a:gridCol w="1126999">
                  <a:extLst>
                    <a:ext uri="{9D8B030D-6E8A-4147-A177-3AD203B41FA5}">
                      <a16:colId xmlns:a16="http://schemas.microsoft.com/office/drawing/2014/main" val="2003107669"/>
                    </a:ext>
                  </a:extLst>
                </a:gridCol>
                <a:gridCol w="1324403">
                  <a:extLst>
                    <a:ext uri="{9D8B030D-6E8A-4147-A177-3AD203B41FA5}">
                      <a16:colId xmlns:a16="http://schemas.microsoft.com/office/drawing/2014/main" val="3159217175"/>
                    </a:ext>
                  </a:extLst>
                </a:gridCol>
              </a:tblGrid>
              <a:tr h="47475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ID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Date of Birth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Age (years)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Body Temperature (F)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Height (inches)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 Veggies (servings)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1846329"/>
                  </a:ext>
                </a:extLst>
              </a:tr>
              <a:tr h="3499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5/1/1956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69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97.3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9559897"/>
                  </a:ext>
                </a:extLst>
              </a:tr>
              <a:tr h="3499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6/25/1967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996288"/>
                  </a:ext>
                </a:extLst>
              </a:tr>
              <a:tr h="3499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4/29/2003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97.4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69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3650838"/>
                  </a:ext>
                </a:extLst>
              </a:tr>
              <a:tr h="3499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5/21/1974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97.0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1 or 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306383"/>
                  </a:ext>
                </a:extLst>
              </a:tr>
              <a:tr h="34991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1/30/1998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99.3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0961974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8608F7D-80E5-3D1B-D89E-49C9CB33D1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8560036"/>
              </p:ext>
            </p:extLst>
          </p:nvPr>
        </p:nvGraphicFramePr>
        <p:xfrm>
          <a:off x="7522634" y="4265878"/>
          <a:ext cx="2662766" cy="1501140"/>
        </p:xfrm>
        <a:graphic>
          <a:graphicData uri="http://schemas.openxmlformats.org/drawingml/2006/table">
            <a:tbl>
              <a:tblPr/>
              <a:tblGrid>
                <a:gridCol w="486833">
                  <a:extLst>
                    <a:ext uri="{9D8B030D-6E8A-4147-A177-3AD203B41FA5}">
                      <a16:colId xmlns:a16="http://schemas.microsoft.com/office/drawing/2014/main" val="2756001728"/>
                    </a:ext>
                  </a:extLst>
                </a:gridCol>
                <a:gridCol w="1133593">
                  <a:extLst>
                    <a:ext uri="{9D8B030D-6E8A-4147-A177-3AD203B41FA5}">
                      <a16:colId xmlns:a16="http://schemas.microsoft.com/office/drawing/2014/main" val="1553241688"/>
                    </a:ext>
                  </a:extLst>
                </a:gridCol>
                <a:gridCol w="1042340">
                  <a:extLst>
                    <a:ext uri="{9D8B030D-6E8A-4147-A177-3AD203B41FA5}">
                      <a16:colId xmlns:a16="http://schemas.microsoft.com/office/drawing/2014/main" val="3390095783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ID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Time Point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1" i="0" u="none" strike="noStrike" cap="non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Height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801128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63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19978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64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819202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59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352042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60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613237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60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32396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0669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A1546A99-1A48-9C86-51E7-B78B2ADD2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6">
            <a:extLst>
              <a:ext uri="{FF2B5EF4-FFF2-40B4-BE49-F238E27FC236}">
                <a16:creationId xmlns:a16="http://schemas.microsoft.com/office/drawing/2014/main" id="{9D694E76-7A4C-C1BB-6BB1-0548C067B5D9}"/>
              </a:ext>
            </a:extLst>
          </p:cNvPr>
          <p:cNvSpPr txBox="1"/>
          <p:nvPr/>
        </p:nvSpPr>
        <p:spPr>
          <a:xfrm>
            <a:off x="922202" y="1157695"/>
            <a:ext cx="6097800" cy="742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defTabSz="609630">
              <a:lnSpc>
                <a:spcPct val="140007"/>
              </a:lnSpc>
              <a:buClr>
                <a:srgbClr val="000000"/>
              </a:buClr>
            </a:pPr>
            <a:r>
              <a:rPr lang="en-US" sz="3446" kern="0" dirty="0">
                <a:solidFill>
                  <a:srgbClr val="00693D"/>
                </a:solidFill>
                <a:latin typeface="Anton"/>
                <a:ea typeface="Anton"/>
                <a:cs typeface="Anton"/>
                <a:sym typeface="Anton"/>
              </a:rPr>
              <a:t>Variables</a:t>
            </a:r>
            <a:endParaRPr sz="933" kern="0" dirty="0">
              <a:solidFill>
                <a:srgbClr val="000000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42" name="Google Shape;142;p26">
            <a:extLst>
              <a:ext uri="{FF2B5EF4-FFF2-40B4-BE49-F238E27FC236}">
                <a16:creationId xmlns:a16="http://schemas.microsoft.com/office/drawing/2014/main" id="{D3CD520D-C4DD-F6CF-0D24-F1697DCDCCDF}"/>
              </a:ext>
            </a:extLst>
          </p:cNvPr>
          <p:cNvSpPr txBox="1"/>
          <p:nvPr/>
        </p:nvSpPr>
        <p:spPr>
          <a:xfrm>
            <a:off x="922202" y="1736904"/>
            <a:ext cx="4274778" cy="4483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006" kern="0" dirty="0">
              <a:solidFill>
                <a:srgbClr val="12312B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sz="2400" dirty="0">
                <a:solidFill>
                  <a:srgbClr val="12312B"/>
                </a:solidFill>
                <a:latin typeface="Archivo Medium"/>
                <a:sym typeface="Archivo Medium"/>
              </a:rPr>
              <a:t>Name</a:t>
            </a: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400" dirty="0">
              <a:solidFill>
                <a:srgbClr val="12312B"/>
              </a:solidFill>
              <a:latin typeface="Archivo Medium"/>
              <a:sym typeface="Archivo Medium"/>
            </a:endParaRP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sz="2400" dirty="0">
                <a:solidFill>
                  <a:srgbClr val="12312B"/>
                </a:solidFill>
                <a:latin typeface="Archivo Medium"/>
                <a:sym typeface="Archivo Medium"/>
              </a:rPr>
              <a:t>What it measures</a:t>
            </a: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400" dirty="0">
              <a:solidFill>
                <a:srgbClr val="12312B"/>
              </a:solidFill>
              <a:latin typeface="Archivo Medium"/>
              <a:sym typeface="Archivo Medium"/>
            </a:endParaRP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sz="2400" dirty="0">
                <a:solidFill>
                  <a:srgbClr val="12312B"/>
                </a:solidFill>
                <a:latin typeface="Archivo Medium"/>
                <a:sym typeface="Archivo Medium"/>
              </a:rPr>
              <a:t>Units</a:t>
            </a: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400" dirty="0">
              <a:solidFill>
                <a:srgbClr val="12312B"/>
              </a:solidFill>
              <a:latin typeface="Archivo Medium"/>
              <a:sym typeface="Archivo Medium"/>
            </a:endParaRP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sz="2400" dirty="0">
                <a:solidFill>
                  <a:srgbClr val="12312B"/>
                </a:solidFill>
                <a:latin typeface="Archivo Medium"/>
                <a:sym typeface="Archivo Medium"/>
              </a:rPr>
              <a:t>Type of variable</a:t>
            </a:r>
          </a:p>
          <a:p>
            <a:pPr defTabSz="609630">
              <a:lnSpc>
                <a:spcPct val="140013"/>
              </a:lnSpc>
              <a:buClr>
                <a:srgbClr val="000000"/>
              </a:buClr>
            </a:pPr>
            <a:endParaRPr sz="2006" kern="0" dirty="0">
              <a:solidFill>
                <a:srgbClr val="12312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1D25A98-2A75-B5A9-E933-44F4907A09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7728814"/>
              </p:ext>
            </p:extLst>
          </p:nvPr>
        </p:nvGraphicFramePr>
        <p:xfrm>
          <a:off x="4838937" y="1528886"/>
          <a:ext cx="7159690" cy="4223855"/>
        </p:xfrm>
        <a:graphic>
          <a:graphicData uri="http://schemas.openxmlformats.org/drawingml/2006/table">
            <a:tbl>
              <a:tblPr/>
              <a:tblGrid>
                <a:gridCol w="429774">
                  <a:extLst>
                    <a:ext uri="{9D8B030D-6E8A-4147-A177-3AD203B41FA5}">
                      <a16:colId xmlns:a16="http://schemas.microsoft.com/office/drawing/2014/main" val="1733503779"/>
                    </a:ext>
                  </a:extLst>
                </a:gridCol>
                <a:gridCol w="975145">
                  <a:extLst>
                    <a:ext uri="{9D8B030D-6E8A-4147-A177-3AD203B41FA5}">
                      <a16:colId xmlns:a16="http://schemas.microsoft.com/office/drawing/2014/main" val="1259338926"/>
                    </a:ext>
                  </a:extLst>
                </a:gridCol>
                <a:gridCol w="795608">
                  <a:extLst>
                    <a:ext uri="{9D8B030D-6E8A-4147-A177-3AD203B41FA5}">
                      <a16:colId xmlns:a16="http://schemas.microsoft.com/office/drawing/2014/main" val="1191960394"/>
                    </a:ext>
                  </a:extLst>
                </a:gridCol>
                <a:gridCol w="1396620">
                  <a:extLst>
                    <a:ext uri="{9D8B030D-6E8A-4147-A177-3AD203B41FA5}">
                      <a16:colId xmlns:a16="http://schemas.microsoft.com/office/drawing/2014/main" val="3279598642"/>
                    </a:ext>
                  </a:extLst>
                </a:gridCol>
                <a:gridCol w="1063345">
                  <a:extLst>
                    <a:ext uri="{9D8B030D-6E8A-4147-A177-3AD203B41FA5}">
                      <a16:colId xmlns:a16="http://schemas.microsoft.com/office/drawing/2014/main" val="2003107669"/>
                    </a:ext>
                  </a:extLst>
                </a:gridCol>
                <a:gridCol w="1249599">
                  <a:extLst>
                    <a:ext uri="{9D8B030D-6E8A-4147-A177-3AD203B41FA5}">
                      <a16:colId xmlns:a16="http://schemas.microsoft.com/office/drawing/2014/main" val="3159217175"/>
                    </a:ext>
                  </a:extLst>
                </a:gridCol>
                <a:gridCol w="1249599">
                  <a:extLst>
                    <a:ext uri="{9D8B030D-6E8A-4147-A177-3AD203B41FA5}">
                      <a16:colId xmlns:a16="http://schemas.microsoft.com/office/drawing/2014/main" val="1466618672"/>
                    </a:ext>
                  </a:extLst>
                </a:gridCol>
              </a:tblGrid>
              <a:tr h="55071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ID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Date of Birth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Age (years)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Body Temperature (F)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Height (inches)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 Veggies (servings)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Consumes meat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1846329"/>
                  </a:ext>
                </a:extLst>
              </a:tr>
              <a:tr h="34693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5/1/1956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69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97.3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Yes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9559897"/>
                  </a:ext>
                </a:extLst>
              </a:tr>
              <a:tr h="55071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June 25, 1967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No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996288"/>
                  </a:ext>
                </a:extLst>
              </a:tr>
              <a:tr h="34693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04/29/03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97.4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69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yes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3650838"/>
                  </a:ext>
                </a:extLst>
              </a:tr>
              <a:tr h="34693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27170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97.0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1 or 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Y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306383"/>
                  </a:ext>
                </a:extLst>
              </a:tr>
              <a:tr h="34693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1/30/1998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99.3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Ys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0961974"/>
                  </a:ext>
                </a:extLst>
              </a:tr>
              <a:tr h="34693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6/21/1988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99.3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No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8574535"/>
                  </a:ext>
                </a:extLst>
              </a:tr>
              <a:tr h="34693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3/29/2002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37.0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Yes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4268281"/>
                  </a:ext>
                </a:extLst>
              </a:tr>
              <a:tr h="34693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11/16/2007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97.1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yes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6887652"/>
                  </a:ext>
                </a:extLst>
              </a:tr>
              <a:tr h="34693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4/24/1992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98.6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Unknown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YES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341734"/>
                  </a:ext>
                </a:extLst>
              </a:tr>
              <a:tr h="34693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11/26/2025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97.9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No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75454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9821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58C9A47A-5262-792E-1937-28F921674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6">
            <a:extLst>
              <a:ext uri="{FF2B5EF4-FFF2-40B4-BE49-F238E27FC236}">
                <a16:creationId xmlns:a16="http://schemas.microsoft.com/office/drawing/2014/main" id="{49005B33-3096-F1E7-EACC-A18D5F1EA88A}"/>
              </a:ext>
            </a:extLst>
          </p:cNvPr>
          <p:cNvSpPr txBox="1"/>
          <p:nvPr/>
        </p:nvSpPr>
        <p:spPr>
          <a:xfrm>
            <a:off x="922202" y="1157695"/>
            <a:ext cx="6097800" cy="742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defTabSz="609630">
              <a:lnSpc>
                <a:spcPct val="140007"/>
              </a:lnSpc>
              <a:buClr>
                <a:srgbClr val="000000"/>
              </a:buClr>
            </a:pPr>
            <a:r>
              <a:rPr lang="en-US" sz="3446" kern="0" dirty="0">
                <a:solidFill>
                  <a:srgbClr val="00693D"/>
                </a:solidFill>
                <a:latin typeface="Anton"/>
                <a:ea typeface="Anton"/>
                <a:cs typeface="Anton"/>
                <a:sym typeface="Anton"/>
              </a:rPr>
              <a:t>Variable types</a:t>
            </a:r>
            <a:endParaRPr sz="933" kern="0" dirty="0">
              <a:solidFill>
                <a:srgbClr val="000000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42" name="Google Shape;142;p26">
            <a:extLst>
              <a:ext uri="{FF2B5EF4-FFF2-40B4-BE49-F238E27FC236}">
                <a16:creationId xmlns:a16="http://schemas.microsoft.com/office/drawing/2014/main" id="{463536B4-221A-3886-4ED5-56320C971C03}"/>
              </a:ext>
            </a:extLst>
          </p:cNvPr>
          <p:cNvSpPr txBox="1"/>
          <p:nvPr/>
        </p:nvSpPr>
        <p:spPr>
          <a:xfrm>
            <a:off x="922202" y="1736904"/>
            <a:ext cx="4274778" cy="3889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006" kern="0" dirty="0">
              <a:solidFill>
                <a:srgbClr val="12312B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sz="2006" kern="0" dirty="0">
                <a:solidFill>
                  <a:srgbClr val="12312B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Numeric</a:t>
            </a: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006" kern="0" dirty="0">
              <a:solidFill>
                <a:srgbClr val="12312B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sz="2006" kern="0" dirty="0">
                <a:solidFill>
                  <a:srgbClr val="12312B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Date</a:t>
            </a: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006" kern="0" dirty="0">
              <a:solidFill>
                <a:srgbClr val="12312B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sz="2006" kern="0" dirty="0">
                <a:solidFill>
                  <a:srgbClr val="12312B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Categorical</a:t>
            </a: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006" kern="0" dirty="0">
              <a:solidFill>
                <a:srgbClr val="12312B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sz="2006" kern="0" dirty="0">
                <a:solidFill>
                  <a:srgbClr val="12312B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Text</a:t>
            </a:r>
          </a:p>
          <a:p>
            <a:pPr defTabSz="609630">
              <a:lnSpc>
                <a:spcPct val="140013"/>
              </a:lnSpc>
              <a:buClr>
                <a:srgbClr val="000000"/>
              </a:buClr>
            </a:pPr>
            <a:endParaRPr sz="2006" kern="0" dirty="0">
              <a:solidFill>
                <a:srgbClr val="12312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F6A5266-D893-CA36-B0C8-6FF66C9C0C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7728814"/>
              </p:ext>
            </p:extLst>
          </p:nvPr>
        </p:nvGraphicFramePr>
        <p:xfrm>
          <a:off x="4838937" y="1528886"/>
          <a:ext cx="7159690" cy="4223855"/>
        </p:xfrm>
        <a:graphic>
          <a:graphicData uri="http://schemas.openxmlformats.org/drawingml/2006/table">
            <a:tbl>
              <a:tblPr/>
              <a:tblGrid>
                <a:gridCol w="429774">
                  <a:extLst>
                    <a:ext uri="{9D8B030D-6E8A-4147-A177-3AD203B41FA5}">
                      <a16:colId xmlns:a16="http://schemas.microsoft.com/office/drawing/2014/main" val="1733503779"/>
                    </a:ext>
                  </a:extLst>
                </a:gridCol>
                <a:gridCol w="975145">
                  <a:extLst>
                    <a:ext uri="{9D8B030D-6E8A-4147-A177-3AD203B41FA5}">
                      <a16:colId xmlns:a16="http://schemas.microsoft.com/office/drawing/2014/main" val="1259338926"/>
                    </a:ext>
                  </a:extLst>
                </a:gridCol>
                <a:gridCol w="795608">
                  <a:extLst>
                    <a:ext uri="{9D8B030D-6E8A-4147-A177-3AD203B41FA5}">
                      <a16:colId xmlns:a16="http://schemas.microsoft.com/office/drawing/2014/main" val="1191960394"/>
                    </a:ext>
                  </a:extLst>
                </a:gridCol>
                <a:gridCol w="1396620">
                  <a:extLst>
                    <a:ext uri="{9D8B030D-6E8A-4147-A177-3AD203B41FA5}">
                      <a16:colId xmlns:a16="http://schemas.microsoft.com/office/drawing/2014/main" val="3279598642"/>
                    </a:ext>
                  </a:extLst>
                </a:gridCol>
                <a:gridCol w="1063345">
                  <a:extLst>
                    <a:ext uri="{9D8B030D-6E8A-4147-A177-3AD203B41FA5}">
                      <a16:colId xmlns:a16="http://schemas.microsoft.com/office/drawing/2014/main" val="2003107669"/>
                    </a:ext>
                  </a:extLst>
                </a:gridCol>
                <a:gridCol w="1249599">
                  <a:extLst>
                    <a:ext uri="{9D8B030D-6E8A-4147-A177-3AD203B41FA5}">
                      <a16:colId xmlns:a16="http://schemas.microsoft.com/office/drawing/2014/main" val="3159217175"/>
                    </a:ext>
                  </a:extLst>
                </a:gridCol>
                <a:gridCol w="1249599">
                  <a:extLst>
                    <a:ext uri="{9D8B030D-6E8A-4147-A177-3AD203B41FA5}">
                      <a16:colId xmlns:a16="http://schemas.microsoft.com/office/drawing/2014/main" val="1466618672"/>
                    </a:ext>
                  </a:extLst>
                </a:gridCol>
              </a:tblGrid>
              <a:tr h="55071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ID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Date of Birth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Age (years)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Body Temperature (F)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Height (inches)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 Veggies (servings)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Consumes meat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1846329"/>
                  </a:ext>
                </a:extLst>
              </a:tr>
              <a:tr h="34693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5/1/1956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69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97.3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Yes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9559897"/>
                  </a:ext>
                </a:extLst>
              </a:tr>
              <a:tr h="55071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June 25, 1967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No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996288"/>
                  </a:ext>
                </a:extLst>
              </a:tr>
              <a:tr h="34693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04/29/03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97.4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69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yes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3650838"/>
                  </a:ext>
                </a:extLst>
              </a:tr>
              <a:tr h="34693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27170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97.0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1 or 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Y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306383"/>
                  </a:ext>
                </a:extLst>
              </a:tr>
              <a:tr h="34693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1/30/1998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99.3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Ys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0961974"/>
                  </a:ext>
                </a:extLst>
              </a:tr>
              <a:tr h="34693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6/21/1988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99.3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No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8574535"/>
                  </a:ext>
                </a:extLst>
              </a:tr>
              <a:tr h="34693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3/29/2002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37.0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Yes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4268281"/>
                  </a:ext>
                </a:extLst>
              </a:tr>
              <a:tr h="34693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11/16/2007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97.1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yes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6887652"/>
                  </a:ext>
                </a:extLst>
              </a:tr>
              <a:tr h="34693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4/24/1992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98.6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Unknown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YES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341734"/>
                  </a:ext>
                </a:extLst>
              </a:tr>
              <a:tr h="34693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11/26/2025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97.9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No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75454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70644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3AEDB5-98DE-C9F7-F7B7-1494D0131F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8201E01-B9D8-2C01-FAAD-7BD4DA12B9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34250" y="1830632"/>
            <a:ext cx="7743974" cy="45166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Suitability checkpoint 2:</a:t>
            </a:r>
          </a:p>
          <a:p>
            <a:pPr marL="0" indent="0">
              <a:buNone/>
            </a:pPr>
            <a:r>
              <a:rPr lang="en-US" sz="3200" dirty="0">
                <a:solidFill>
                  <a:schemeClr val="accent1">
                    <a:lumMod val="75000"/>
                  </a:schemeClr>
                </a:solidFill>
              </a:rPr>
              <a:t>Given the dataset’s structure and contents, is it still suitable for your analysis? </a:t>
            </a:r>
          </a:p>
          <a:p>
            <a:pPr marL="0" indent="0">
              <a:buNone/>
            </a:pPr>
            <a:endParaRPr lang="en-US" sz="32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US" sz="32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US" sz="32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 algn="r">
              <a:buNone/>
            </a:pPr>
            <a:r>
              <a:rPr lang="en-US" sz="3200" dirty="0">
                <a:solidFill>
                  <a:schemeClr val="bg2"/>
                </a:solidFill>
              </a:rPr>
              <a:t>If so, let’s dig into the data!</a:t>
            </a:r>
          </a:p>
        </p:txBody>
      </p:sp>
    </p:spTree>
    <p:extLst>
      <p:ext uri="{BB962C8B-B14F-4D97-AF65-F5344CB8AC3E}">
        <p14:creationId xmlns:p14="http://schemas.microsoft.com/office/powerpoint/2010/main" val="1346132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>
          <a:extLst>
            <a:ext uri="{FF2B5EF4-FFF2-40B4-BE49-F238E27FC236}">
              <a16:creationId xmlns:a16="http://schemas.microsoft.com/office/drawing/2014/main" id="{BBEB2524-77D7-762E-B813-EE67AC77C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5">
            <a:extLst>
              <a:ext uri="{FF2B5EF4-FFF2-40B4-BE49-F238E27FC236}">
                <a16:creationId xmlns:a16="http://schemas.microsoft.com/office/drawing/2014/main" id="{D19B2A1C-C0D1-4BCC-71F0-E965F255F4CF}"/>
              </a:ext>
            </a:extLst>
          </p:cNvPr>
          <p:cNvSpPr txBox="1"/>
          <p:nvPr/>
        </p:nvSpPr>
        <p:spPr>
          <a:xfrm>
            <a:off x="1785128" y="2286000"/>
            <a:ext cx="7305000" cy="1034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defTabSz="609630">
              <a:lnSpc>
                <a:spcPct val="139996"/>
              </a:lnSpc>
              <a:buClr>
                <a:srgbClr val="000000"/>
              </a:buClr>
            </a:pPr>
            <a:r>
              <a:rPr lang="en-US" sz="4800" kern="0" dirty="0">
                <a:solidFill>
                  <a:srgbClr val="A5D75F"/>
                </a:solidFill>
                <a:latin typeface="Anton"/>
                <a:ea typeface="Anton"/>
                <a:cs typeface="Anton"/>
                <a:sym typeface="Anton"/>
              </a:rPr>
              <a:t>How do we explore our data?</a:t>
            </a:r>
          </a:p>
        </p:txBody>
      </p:sp>
      <p:sp>
        <p:nvSpPr>
          <p:cNvPr id="135" name="Google Shape;135;p25">
            <a:extLst>
              <a:ext uri="{FF2B5EF4-FFF2-40B4-BE49-F238E27FC236}">
                <a16:creationId xmlns:a16="http://schemas.microsoft.com/office/drawing/2014/main" id="{E5EA3EB3-1719-4902-A0DB-6E8AB9919C44}"/>
              </a:ext>
            </a:extLst>
          </p:cNvPr>
          <p:cNvSpPr/>
          <p:nvPr/>
        </p:nvSpPr>
        <p:spPr>
          <a:xfrm>
            <a:off x="1202207" y="3147675"/>
            <a:ext cx="8470842" cy="780393"/>
          </a:xfrm>
          <a:custGeom>
            <a:avLst/>
            <a:gdLst/>
            <a:ahLst/>
            <a:cxnLst/>
            <a:rect l="l" t="t" r="r" b="b"/>
            <a:pathLst>
              <a:path w="6287497" h="938348" extrusionOk="0">
                <a:moveTo>
                  <a:pt x="0" y="0"/>
                </a:moveTo>
                <a:lnTo>
                  <a:pt x="6287496" y="0"/>
                </a:lnTo>
                <a:lnTo>
                  <a:pt x="6287496" y="938349"/>
                </a:lnTo>
                <a:lnTo>
                  <a:pt x="0" y="9383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pPr defTabSz="609630">
              <a:buClr>
                <a:srgbClr val="000000"/>
              </a:buClr>
            </a:pPr>
            <a:endParaRPr lang="en-US" sz="933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2" name="Google Shape;134;p25">
            <a:extLst>
              <a:ext uri="{FF2B5EF4-FFF2-40B4-BE49-F238E27FC236}">
                <a16:creationId xmlns:a16="http://schemas.microsoft.com/office/drawing/2014/main" id="{6D07809E-8282-60CB-ACB6-D25A13780961}"/>
              </a:ext>
            </a:extLst>
          </p:cNvPr>
          <p:cNvSpPr txBox="1"/>
          <p:nvPr/>
        </p:nvSpPr>
        <p:spPr>
          <a:xfrm>
            <a:off x="1853585" y="4633937"/>
            <a:ext cx="7305000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defTabSz="609630">
              <a:lnSpc>
                <a:spcPct val="139996"/>
              </a:lnSpc>
              <a:buClr>
                <a:srgbClr val="000000"/>
              </a:buClr>
            </a:pPr>
            <a:r>
              <a:rPr lang="en-US" sz="4000" kern="0" dirty="0">
                <a:solidFill>
                  <a:schemeClr val="accent5"/>
                </a:solidFill>
                <a:latin typeface="Anton"/>
                <a:ea typeface="Anton"/>
                <a:cs typeface="Anton"/>
                <a:sym typeface="Anton"/>
              </a:rPr>
              <a:t>Phase 3: Dive into the data</a:t>
            </a:r>
          </a:p>
        </p:txBody>
      </p:sp>
    </p:spTree>
    <p:extLst>
      <p:ext uri="{BB962C8B-B14F-4D97-AF65-F5344CB8AC3E}">
        <p14:creationId xmlns:p14="http://schemas.microsoft.com/office/powerpoint/2010/main" val="41086768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C28087F3-D850-B6B0-07B0-27A31B515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6">
            <a:extLst>
              <a:ext uri="{FF2B5EF4-FFF2-40B4-BE49-F238E27FC236}">
                <a16:creationId xmlns:a16="http://schemas.microsoft.com/office/drawing/2014/main" id="{AC5C9185-C926-935D-3BC1-37A8AFF19C02}"/>
              </a:ext>
            </a:extLst>
          </p:cNvPr>
          <p:cNvSpPr txBox="1"/>
          <p:nvPr/>
        </p:nvSpPr>
        <p:spPr>
          <a:xfrm>
            <a:off x="922201" y="1157695"/>
            <a:ext cx="7043145" cy="742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defTabSz="609630">
              <a:lnSpc>
                <a:spcPct val="140007"/>
              </a:lnSpc>
              <a:buClr>
                <a:srgbClr val="000000"/>
              </a:buClr>
            </a:pPr>
            <a:r>
              <a:rPr lang="en-US" sz="3446" kern="0" dirty="0">
                <a:solidFill>
                  <a:srgbClr val="00693D"/>
                </a:solidFill>
                <a:latin typeface="Anton"/>
                <a:ea typeface="Anton"/>
                <a:cs typeface="Anton"/>
                <a:sym typeface="Anton"/>
              </a:rPr>
              <a:t>Summarize numeric &amp; date variables</a:t>
            </a:r>
            <a:endParaRPr sz="933" kern="0" dirty="0">
              <a:solidFill>
                <a:srgbClr val="000000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42" name="Google Shape;142;p26">
            <a:extLst>
              <a:ext uri="{FF2B5EF4-FFF2-40B4-BE49-F238E27FC236}">
                <a16:creationId xmlns:a16="http://schemas.microsoft.com/office/drawing/2014/main" id="{158A20BC-3369-F826-7624-1C86D43952E2}"/>
              </a:ext>
            </a:extLst>
          </p:cNvPr>
          <p:cNvSpPr txBox="1"/>
          <p:nvPr/>
        </p:nvSpPr>
        <p:spPr>
          <a:xfrm>
            <a:off x="922202" y="1736904"/>
            <a:ext cx="4274778" cy="4532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006" kern="0" dirty="0">
              <a:solidFill>
                <a:srgbClr val="12312B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sz="2006" kern="0" dirty="0">
                <a:latin typeface="Archivo Medium"/>
                <a:ea typeface="Archivo Medium"/>
                <a:cs typeface="Archivo Medium"/>
                <a:sym typeface="Archivo Medium"/>
              </a:rPr>
              <a:t>Characteristics of interest</a:t>
            </a:r>
          </a:p>
          <a:p>
            <a:pPr marL="866521" lvl="2" indent="-28884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⚬"/>
            </a:pPr>
            <a:r>
              <a:rPr lang="en-US" kern="0" dirty="0">
                <a:solidFill>
                  <a:srgbClr val="12312B"/>
                </a:solidFill>
                <a:latin typeface="Archivo Medium"/>
                <a:sym typeface="Archivo Medium"/>
              </a:rPr>
              <a:t>Central tendency</a:t>
            </a:r>
          </a:p>
          <a:p>
            <a:pPr marL="1377781" lvl="3" indent="-342900" defTabSz="609630">
              <a:lnSpc>
                <a:spcPct val="140013"/>
              </a:lnSpc>
              <a:buClr>
                <a:srgbClr val="12312B"/>
              </a:buClr>
              <a:buSzPts val="3009"/>
              <a:buFont typeface="Wingdings" panose="05000000000000000000" pitchFamily="2" charset="2"/>
              <a:buChar char="§"/>
            </a:pPr>
            <a:r>
              <a:rPr lang="en-US" kern="0" dirty="0">
                <a:solidFill>
                  <a:srgbClr val="12312B"/>
                </a:solidFill>
                <a:latin typeface="Archivo Medium"/>
                <a:sym typeface="Archivo Medium"/>
              </a:rPr>
              <a:t>Mean</a:t>
            </a:r>
          </a:p>
          <a:p>
            <a:pPr marL="1377781" lvl="3" indent="-342900" defTabSz="609630">
              <a:lnSpc>
                <a:spcPct val="140013"/>
              </a:lnSpc>
              <a:buClr>
                <a:srgbClr val="12312B"/>
              </a:buClr>
              <a:buSzPts val="3009"/>
              <a:buFont typeface="Wingdings" panose="05000000000000000000" pitchFamily="2" charset="2"/>
              <a:buChar char="§"/>
            </a:pPr>
            <a:r>
              <a:rPr lang="en-US" kern="0" dirty="0">
                <a:solidFill>
                  <a:srgbClr val="12312B"/>
                </a:solidFill>
                <a:latin typeface="Archivo Medium"/>
                <a:sym typeface="Archivo Medium"/>
              </a:rPr>
              <a:t>Median</a:t>
            </a:r>
          </a:p>
          <a:p>
            <a:pPr marL="866521" lvl="2" indent="-28884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⚬"/>
            </a:pPr>
            <a:r>
              <a:rPr lang="en-US" kern="0" dirty="0">
                <a:solidFill>
                  <a:srgbClr val="12312B"/>
                </a:solidFill>
                <a:latin typeface="Archivo Medium"/>
                <a:sym typeface="Archivo Medium"/>
              </a:rPr>
              <a:t>Range</a:t>
            </a:r>
          </a:p>
          <a:p>
            <a:pPr marL="866521" lvl="2" indent="-28884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⚬"/>
            </a:pPr>
            <a:r>
              <a:rPr lang="en-US" kern="0" dirty="0">
                <a:solidFill>
                  <a:srgbClr val="12312B"/>
                </a:solidFill>
                <a:latin typeface="Archivo Medium"/>
                <a:sym typeface="Archivo Medium"/>
              </a:rPr>
              <a:t>Distribution</a:t>
            </a: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006" kern="0" dirty="0">
              <a:solidFill>
                <a:srgbClr val="FF0000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sz="2006" kern="0" dirty="0">
                <a:latin typeface="Archivo Medium"/>
                <a:ea typeface="Archivo Medium"/>
                <a:cs typeface="Archivo Medium"/>
                <a:sym typeface="Archivo Medium"/>
              </a:rPr>
              <a:t>Methods</a:t>
            </a:r>
          </a:p>
          <a:p>
            <a:pPr marL="866521" lvl="2" indent="-28884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⚬"/>
            </a:pPr>
            <a:r>
              <a:rPr lang="en-US" kern="0" dirty="0">
                <a:solidFill>
                  <a:srgbClr val="12312B"/>
                </a:solidFill>
                <a:latin typeface="Archivo Medium"/>
                <a:sym typeface="Archivo Medium"/>
              </a:rPr>
              <a:t>Numeric</a:t>
            </a:r>
          </a:p>
          <a:p>
            <a:pPr marL="866521" lvl="2" indent="-28884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⚬"/>
            </a:pPr>
            <a:r>
              <a:rPr lang="en-US" kern="0" dirty="0">
                <a:solidFill>
                  <a:srgbClr val="12312B"/>
                </a:solidFill>
                <a:latin typeface="Archivo Medium"/>
                <a:sym typeface="Archivo Medium"/>
              </a:rPr>
              <a:t>Visual</a:t>
            </a:r>
            <a:endParaRPr kern="0" dirty="0">
              <a:solidFill>
                <a:srgbClr val="12312B"/>
              </a:solidFill>
              <a:latin typeface="Archivo Medium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37EAA58-4B61-671C-172E-F61CC15DE034}"/>
              </a:ext>
            </a:extLst>
          </p:cNvPr>
          <p:cNvGraphicFramePr>
            <a:graphicFrameLocks noGrp="1"/>
          </p:cNvGraphicFramePr>
          <p:nvPr/>
        </p:nvGraphicFramePr>
        <p:xfrm>
          <a:off x="4743975" y="1954623"/>
          <a:ext cx="7159690" cy="4223855"/>
        </p:xfrm>
        <a:graphic>
          <a:graphicData uri="http://schemas.openxmlformats.org/drawingml/2006/table">
            <a:tbl>
              <a:tblPr/>
              <a:tblGrid>
                <a:gridCol w="429774">
                  <a:extLst>
                    <a:ext uri="{9D8B030D-6E8A-4147-A177-3AD203B41FA5}">
                      <a16:colId xmlns:a16="http://schemas.microsoft.com/office/drawing/2014/main" val="1733503779"/>
                    </a:ext>
                  </a:extLst>
                </a:gridCol>
                <a:gridCol w="975145">
                  <a:extLst>
                    <a:ext uri="{9D8B030D-6E8A-4147-A177-3AD203B41FA5}">
                      <a16:colId xmlns:a16="http://schemas.microsoft.com/office/drawing/2014/main" val="1259338926"/>
                    </a:ext>
                  </a:extLst>
                </a:gridCol>
                <a:gridCol w="795608">
                  <a:extLst>
                    <a:ext uri="{9D8B030D-6E8A-4147-A177-3AD203B41FA5}">
                      <a16:colId xmlns:a16="http://schemas.microsoft.com/office/drawing/2014/main" val="1191960394"/>
                    </a:ext>
                  </a:extLst>
                </a:gridCol>
                <a:gridCol w="1396620">
                  <a:extLst>
                    <a:ext uri="{9D8B030D-6E8A-4147-A177-3AD203B41FA5}">
                      <a16:colId xmlns:a16="http://schemas.microsoft.com/office/drawing/2014/main" val="3279598642"/>
                    </a:ext>
                  </a:extLst>
                </a:gridCol>
                <a:gridCol w="1063345">
                  <a:extLst>
                    <a:ext uri="{9D8B030D-6E8A-4147-A177-3AD203B41FA5}">
                      <a16:colId xmlns:a16="http://schemas.microsoft.com/office/drawing/2014/main" val="2003107669"/>
                    </a:ext>
                  </a:extLst>
                </a:gridCol>
                <a:gridCol w="1249599">
                  <a:extLst>
                    <a:ext uri="{9D8B030D-6E8A-4147-A177-3AD203B41FA5}">
                      <a16:colId xmlns:a16="http://schemas.microsoft.com/office/drawing/2014/main" val="3159217175"/>
                    </a:ext>
                  </a:extLst>
                </a:gridCol>
                <a:gridCol w="1249599">
                  <a:extLst>
                    <a:ext uri="{9D8B030D-6E8A-4147-A177-3AD203B41FA5}">
                      <a16:colId xmlns:a16="http://schemas.microsoft.com/office/drawing/2014/main" val="1466618672"/>
                    </a:ext>
                  </a:extLst>
                </a:gridCol>
              </a:tblGrid>
              <a:tr h="55071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ID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Date of Birth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Age (years)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Body Temperature (F)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Height (inches)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 Veggies (servings)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Consumes meat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1846329"/>
                  </a:ext>
                </a:extLst>
              </a:tr>
              <a:tr h="34693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5/1/1956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69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97.3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Yes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9559897"/>
                  </a:ext>
                </a:extLst>
              </a:tr>
              <a:tr h="55071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June 25, 1967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No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996288"/>
                  </a:ext>
                </a:extLst>
              </a:tr>
              <a:tr h="34693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04/29/03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97.4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69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yes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3650838"/>
                  </a:ext>
                </a:extLst>
              </a:tr>
              <a:tr h="34693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27170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97.0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1 or 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Y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306383"/>
                  </a:ext>
                </a:extLst>
              </a:tr>
              <a:tr h="34693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1/30/1998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99.3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Ys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0961974"/>
                  </a:ext>
                </a:extLst>
              </a:tr>
              <a:tr h="34693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6/21/1988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99.3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No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8574535"/>
                  </a:ext>
                </a:extLst>
              </a:tr>
              <a:tr h="34693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3/29/2002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37.0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Yes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4268281"/>
                  </a:ext>
                </a:extLst>
              </a:tr>
              <a:tr h="34693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11/16/2007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97.1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yes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6887652"/>
                  </a:ext>
                </a:extLst>
              </a:tr>
              <a:tr h="34693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4/24/1992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98.6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Unknown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YES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341734"/>
                  </a:ext>
                </a:extLst>
              </a:tr>
              <a:tr h="34693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11/26/2025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97.9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No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75454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816643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499F919A-B195-3B3E-8906-B68E39B268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6">
            <a:extLst>
              <a:ext uri="{FF2B5EF4-FFF2-40B4-BE49-F238E27FC236}">
                <a16:creationId xmlns:a16="http://schemas.microsoft.com/office/drawing/2014/main" id="{6AAC4323-6C10-CAD2-0BC2-9B6E3C50C880}"/>
              </a:ext>
            </a:extLst>
          </p:cNvPr>
          <p:cNvSpPr txBox="1"/>
          <p:nvPr/>
        </p:nvSpPr>
        <p:spPr>
          <a:xfrm>
            <a:off x="922202" y="1736904"/>
            <a:ext cx="4274778" cy="3457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6630" lvl="1" defTabSz="609630">
              <a:lnSpc>
                <a:spcPct val="140013"/>
              </a:lnSpc>
              <a:buClr>
                <a:srgbClr val="12312B"/>
              </a:buClr>
              <a:buSzPts val="3009"/>
            </a:pPr>
            <a:endParaRPr lang="en-US" sz="2006" kern="0" dirty="0">
              <a:solidFill>
                <a:srgbClr val="12312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16630" lvl="1" defTabSz="609630">
              <a:lnSpc>
                <a:spcPct val="140013"/>
              </a:lnSpc>
              <a:buClr>
                <a:srgbClr val="12312B"/>
              </a:buClr>
              <a:buSzPts val="3009"/>
            </a:pPr>
            <a:r>
              <a:rPr lang="en-US" sz="2006" kern="0" dirty="0">
                <a:solidFill>
                  <a:srgbClr val="12312B"/>
                </a:solidFill>
                <a:latin typeface="Arial"/>
                <a:ea typeface="Arial"/>
                <a:cs typeface="Arial"/>
                <a:sym typeface="Arial"/>
              </a:rPr>
              <a:t>Summary statistics for Age:</a:t>
            </a:r>
          </a:p>
          <a:p>
            <a:pPr marL="890460" lvl="2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sz="2006" kern="0" dirty="0">
                <a:latin typeface="Archivo Medium"/>
                <a:sym typeface="Arial"/>
              </a:rPr>
              <a:t>Minimum = 12</a:t>
            </a:r>
          </a:p>
          <a:p>
            <a:pPr marL="890460" lvl="2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sz="2006" kern="0" dirty="0">
                <a:latin typeface="Archivo Medium"/>
                <a:sym typeface="Arial"/>
              </a:rPr>
              <a:t>25th percentile = 22.25</a:t>
            </a:r>
          </a:p>
          <a:p>
            <a:pPr marL="890460" lvl="2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sz="2006" kern="0" dirty="0">
                <a:latin typeface="Archivo Medium"/>
                <a:sym typeface="Arial"/>
              </a:rPr>
              <a:t>Median = 30</a:t>
            </a:r>
          </a:p>
          <a:p>
            <a:pPr marL="890460" lvl="2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sz="2006" kern="0" dirty="0">
                <a:latin typeface="Archivo Medium"/>
                <a:sym typeface="Arial"/>
              </a:rPr>
              <a:t>Mean = 34.9</a:t>
            </a:r>
          </a:p>
          <a:p>
            <a:pPr marL="890460" lvl="2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sz="2006" kern="0" dirty="0">
                <a:latin typeface="Archivo Medium"/>
                <a:sym typeface="Arial"/>
              </a:rPr>
              <a:t>75th percentile = 47.5</a:t>
            </a:r>
          </a:p>
          <a:p>
            <a:pPr marL="890460" lvl="2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sz="2006" kern="0" dirty="0">
                <a:latin typeface="Archivo Medium"/>
                <a:sym typeface="Arial"/>
              </a:rPr>
              <a:t>Maximum = 69</a:t>
            </a:r>
          </a:p>
        </p:txBody>
      </p:sp>
      <p:sp>
        <p:nvSpPr>
          <p:cNvPr id="141" name="Google Shape;141;p26">
            <a:extLst>
              <a:ext uri="{FF2B5EF4-FFF2-40B4-BE49-F238E27FC236}">
                <a16:creationId xmlns:a16="http://schemas.microsoft.com/office/drawing/2014/main" id="{2608B783-1F95-9EE4-7398-BCDFCE8887BD}"/>
              </a:ext>
            </a:extLst>
          </p:cNvPr>
          <p:cNvSpPr txBox="1"/>
          <p:nvPr/>
        </p:nvSpPr>
        <p:spPr>
          <a:xfrm>
            <a:off x="922201" y="1157695"/>
            <a:ext cx="7043145" cy="742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defTabSz="609630">
              <a:lnSpc>
                <a:spcPct val="140007"/>
              </a:lnSpc>
              <a:buClr>
                <a:srgbClr val="000000"/>
              </a:buClr>
            </a:pPr>
            <a:r>
              <a:rPr lang="en-US" sz="3446" kern="0" dirty="0">
                <a:solidFill>
                  <a:srgbClr val="00693D"/>
                </a:solidFill>
                <a:latin typeface="Anton"/>
                <a:ea typeface="Anton"/>
                <a:cs typeface="Anton"/>
                <a:sym typeface="Anton"/>
              </a:rPr>
              <a:t>Numeric summaries</a:t>
            </a:r>
            <a:endParaRPr sz="933" kern="0" dirty="0">
              <a:solidFill>
                <a:srgbClr val="000000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9E1BDB1-BC91-CDA5-0BBC-FD53117239BA}"/>
              </a:ext>
            </a:extLst>
          </p:cNvPr>
          <p:cNvGraphicFramePr>
            <a:graphicFrameLocks noGrp="1"/>
          </p:cNvGraphicFramePr>
          <p:nvPr/>
        </p:nvGraphicFramePr>
        <p:xfrm>
          <a:off x="4743975" y="1954623"/>
          <a:ext cx="7159690" cy="4223855"/>
        </p:xfrm>
        <a:graphic>
          <a:graphicData uri="http://schemas.openxmlformats.org/drawingml/2006/table">
            <a:tbl>
              <a:tblPr/>
              <a:tblGrid>
                <a:gridCol w="429774">
                  <a:extLst>
                    <a:ext uri="{9D8B030D-6E8A-4147-A177-3AD203B41FA5}">
                      <a16:colId xmlns:a16="http://schemas.microsoft.com/office/drawing/2014/main" val="1733503779"/>
                    </a:ext>
                  </a:extLst>
                </a:gridCol>
                <a:gridCol w="975145">
                  <a:extLst>
                    <a:ext uri="{9D8B030D-6E8A-4147-A177-3AD203B41FA5}">
                      <a16:colId xmlns:a16="http://schemas.microsoft.com/office/drawing/2014/main" val="1259338926"/>
                    </a:ext>
                  </a:extLst>
                </a:gridCol>
                <a:gridCol w="795608">
                  <a:extLst>
                    <a:ext uri="{9D8B030D-6E8A-4147-A177-3AD203B41FA5}">
                      <a16:colId xmlns:a16="http://schemas.microsoft.com/office/drawing/2014/main" val="1191960394"/>
                    </a:ext>
                  </a:extLst>
                </a:gridCol>
                <a:gridCol w="1396620">
                  <a:extLst>
                    <a:ext uri="{9D8B030D-6E8A-4147-A177-3AD203B41FA5}">
                      <a16:colId xmlns:a16="http://schemas.microsoft.com/office/drawing/2014/main" val="3279598642"/>
                    </a:ext>
                  </a:extLst>
                </a:gridCol>
                <a:gridCol w="1063345">
                  <a:extLst>
                    <a:ext uri="{9D8B030D-6E8A-4147-A177-3AD203B41FA5}">
                      <a16:colId xmlns:a16="http://schemas.microsoft.com/office/drawing/2014/main" val="2003107669"/>
                    </a:ext>
                  </a:extLst>
                </a:gridCol>
                <a:gridCol w="1249599">
                  <a:extLst>
                    <a:ext uri="{9D8B030D-6E8A-4147-A177-3AD203B41FA5}">
                      <a16:colId xmlns:a16="http://schemas.microsoft.com/office/drawing/2014/main" val="3159217175"/>
                    </a:ext>
                  </a:extLst>
                </a:gridCol>
                <a:gridCol w="1249599">
                  <a:extLst>
                    <a:ext uri="{9D8B030D-6E8A-4147-A177-3AD203B41FA5}">
                      <a16:colId xmlns:a16="http://schemas.microsoft.com/office/drawing/2014/main" val="1466618672"/>
                    </a:ext>
                  </a:extLst>
                </a:gridCol>
              </a:tblGrid>
              <a:tr h="55071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ID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Date of Birth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Age (years)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Body Temperature (F)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Height (inches)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 Veggies (servings)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Consumes meat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1846329"/>
                  </a:ext>
                </a:extLst>
              </a:tr>
              <a:tr h="34693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5/1/1956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69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97.3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Yes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9559897"/>
                  </a:ext>
                </a:extLst>
              </a:tr>
              <a:tr h="55071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June 25, 1967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No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996288"/>
                  </a:ext>
                </a:extLst>
              </a:tr>
              <a:tr h="34693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04/29/03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97.4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69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yes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3650838"/>
                  </a:ext>
                </a:extLst>
              </a:tr>
              <a:tr h="34693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27170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97.0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1 or 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Y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306383"/>
                  </a:ext>
                </a:extLst>
              </a:tr>
              <a:tr h="34693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1/30/1998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99.3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Ys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0961974"/>
                  </a:ext>
                </a:extLst>
              </a:tr>
              <a:tr h="34693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6/21/1988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99.3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No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8574535"/>
                  </a:ext>
                </a:extLst>
              </a:tr>
              <a:tr h="34693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3/29/2002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37.0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Yes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4268281"/>
                  </a:ext>
                </a:extLst>
              </a:tr>
              <a:tr h="34693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11/16/2007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97.1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yes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6887652"/>
                  </a:ext>
                </a:extLst>
              </a:tr>
              <a:tr h="34693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4/24/1992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98.6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Unknown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YES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341734"/>
                  </a:ext>
                </a:extLst>
              </a:tr>
              <a:tr h="34693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11/26/2025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97.9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No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75454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587552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3D066004-CC1B-FD3B-C7A5-22909104B1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6">
            <a:extLst>
              <a:ext uri="{FF2B5EF4-FFF2-40B4-BE49-F238E27FC236}">
                <a16:creationId xmlns:a16="http://schemas.microsoft.com/office/drawing/2014/main" id="{49BF7456-BE05-079A-AA11-21055D373BC2}"/>
              </a:ext>
            </a:extLst>
          </p:cNvPr>
          <p:cNvSpPr txBox="1"/>
          <p:nvPr/>
        </p:nvSpPr>
        <p:spPr>
          <a:xfrm>
            <a:off x="922202" y="1157695"/>
            <a:ext cx="6097800" cy="742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defTabSz="609630">
              <a:lnSpc>
                <a:spcPct val="140007"/>
              </a:lnSpc>
              <a:buClr>
                <a:srgbClr val="000000"/>
              </a:buClr>
            </a:pPr>
            <a:r>
              <a:rPr lang="en-US" sz="3446" kern="0" dirty="0">
                <a:solidFill>
                  <a:srgbClr val="00693D"/>
                </a:solidFill>
                <a:latin typeface="Anton"/>
                <a:ea typeface="Anton"/>
                <a:cs typeface="Anton"/>
                <a:sym typeface="Anton"/>
              </a:rPr>
              <a:t>Visual summaries: Histograms</a:t>
            </a:r>
            <a:endParaRPr sz="933" kern="0" dirty="0">
              <a:solidFill>
                <a:srgbClr val="000000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E2735C3-0267-A9A7-454D-C8DD6D3A17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051" y="2319855"/>
            <a:ext cx="5219627" cy="4257413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556901A-0312-FE75-A466-E8D8671331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7874609"/>
              </p:ext>
            </p:extLst>
          </p:nvPr>
        </p:nvGraphicFramePr>
        <p:xfrm>
          <a:off x="6294814" y="2319855"/>
          <a:ext cx="5612851" cy="3670173"/>
        </p:xfrm>
        <a:graphic>
          <a:graphicData uri="http://schemas.openxmlformats.org/drawingml/2006/table">
            <a:tbl>
              <a:tblPr/>
              <a:tblGrid>
                <a:gridCol w="336922">
                  <a:extLst>
                    <a:ext uri="{9D8B030D-6E8A-4147-A177-3AD203B41FA5}">
                      <a16:colId xmlns:a16="http://schemas.microsoft.com/office/drawing/2014/main" val="1733503779"/>
                    </a:ext>
                  </a:extLst>
                </a:gridCol>
                <a:gridCol w="764467">
                  <a:extLst>
                    <a:ext uri="{9D8B030D-6E8A-4147-A177-3AD203B41FA5}">
                      <a16:colId xmlns:a16="http://schemas.microsoft.com/office/drawing/2014/main" val="1259338926"/>
                    </a:ext>
                  </a:extLst>
                </a:gridCol>
                <a:gridCol w="623718">
                  <a:extLst>
                    <a:ext uri="{9D8B030D-6E8A-4147-A177-3AD203B41FA5}">
                      <a16:colId xmlns:a16="http://schemas.microsoft.com/office/drawing/2014/main" val="1191960394"/>
                    </a:ext>
                  </a:extLst>
                </a:gridCol>
                <a:gridCol w="1094883">
                  <a:extLst>
                    <a:ext uri="{9D8B030D-6E8A-4147-A177-3AD203B41FA5}">
                      <a16:colId xmlns:a16="http://schemas.microsoft.com/office/drawing/2014/main" val="3279598642"/>
                    </a:ext>
                  </a:extLst>
                </a:gridCol>
                <a:gridCol w="833611">
                  <a:extLst>
                    <a:ext uri="{9D8B030D-6E8A-4147-A177-3AD203B41FA5}">
                      <a16:colId xmlns:a16="http://schemas.microsoft.com/office/drawing/2014/main" val="2003107669"/>
                    </a:ext>
                  </a:extLst>
                </a:gridCol>
                <a:gridCol w="979625">
                  <a:extLst>
                    <a:ext uri="{9D8B030D-6E8A-4147-A177-3AD203B41FA5}">
                      <a16:colId xmlns:a16="http://schemas.microsoft.com/office/drawing/2014/main" val="3159217175"/>
                    </a:ext>
                  </a:extLst>
                </a:gridCol>
                <a:gridCol w="979625">
                  <a:extLst>
                    <a:ext uri="{9D8B030D-6E8A-4147-A177-3AD203B41FA5}">
                      <a16:colId xmlns:a16="http://schemas.microsoft.com/office/drawing/2014/main" val="1466618672"/>
                    </a:ext>
                  </a:extLst>
                </a:gridCol>
              </a:tblGrid>
              <a:tr h="4785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ID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Date of Birth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Age (years)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Body Temperature (F)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Height (inches)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 Veggies (servings)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Consumes meat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1846329"/>
                  </a:ext>
                </a:extLst>
              </a:tr>
              <a:tr h="30145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5/1/1956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69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97.3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Yes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9559897"/>
                  </a:ext>
                </a:extLst>
              </a:tr>
              <a:tr h="4785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June 25, 1967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No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996288"/>
                  </a:ext>
                </a:extLst>
              </a:tr>
              <a:tr h="30145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04/29/03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97.4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69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yes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3650838"/>
                  </a:ext>
                </a:extLst>
              </a:tr>
              <a:tr h="30145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27170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97.0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1 or 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Y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306383"/>
                  </a:ext>
                </a:extLst>
              </a:tr>
              <a:tr h="30145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1/30/1998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99.3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Ys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0961974"/>
                  </a:ext>
                </a:extLst>
              </a:tr>
              <a:tr h="30145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6/21/1988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99.3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No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8574535"/>
                  </a:ext>
                </a:extLst>
              </a:tr>
              <a:tr h="30145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3/29/2002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37.0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Yes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4268281"/>
                  </a:ext>
                </a:extLst>
              </a:tr>
              <a:tr h="30145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11/16/2007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97.1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yes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6887652"/>
                  </a:ext>
                </a:extLst>
              </a:tr>
              <a:tr h="30145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4/24/1992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98.6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Unknown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YES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341734"/>
                  </a:ext>
                </a:extLst>
              </a:tr>
              <a:tr h="30145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11/26/2025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97.9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No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75454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6716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680C1EB2-9A6B-76DE-8D0D-B3A35C087A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6">
            <a:extLst>
              <a:ext uri="{FF2B5EF4-FFF2-40B4-BE49-F238E27FC236}">
                <a16:creationId xmlns:a16="http://schemas.microsoft.com/office/drawing/2014/main" id="{E778B0EA-681E-282B-CD24-33214EBE7755}"/>
              </a:ext>
            </a:extLst>
          </p:cNvPr>
          <p:cNvSpPr txBox="1"/>
          <p:nvPr/>
        </p:nvSpPr>
        <p:spPr>
          <a:xfrm>
            <a:off x="922202" y="1157695"/>
            <a:ext cx="6097800" cy="742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defTabSz="609630">
              <a:lnSpc>
                <a:spcPct val="140007"/>
              </a:lnSpc>
              <a:buClr>
                <a:srgbClr val="000000"/>
              </a:buClr>
            </a:pPr>
            <a:r>
              <a:rPr lang="en-US" sz="3446" kern="0" dirty="0">
                <a:solidFill>
                  <a:srgbClr val="00693D"/>
                </a:solidFill>
                <a:latin typeface="Anton"/>
                <a:ea typeface="Anton"/>
                <a:cs typeface="Anton"/>
                <a:sym typeface="Anton"/>
              </a:rPr>
              <a:t>Visual summaries: Histograms</a:t>
            </a:r>
            <a:endParaRPr sz="933" kern="0" dirty="0">
              <a:solidFill>
                <a:srgbClr val="000000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0A815E1-73F4-5001-5AF5-E86EDEA617D9}"/>
              </a:ext>
            </a:extLst>
          </p:cNvPr>
          <p:cNvGraphicFramePr>
            <a:graphicFrameLocks noGrp="1"/>
          </p:cNvGraphicFramePr>
          <p:nvPr/>
        </p:nvGraphicFramePr>
        <p:xfrm>
          <a:off x="6294814" y="2319855"/>
          <a:ext cx="5612851" cy="3670173"/>
        </p:xfrm>
        <a:graphic>
          <a:graphicData uri="http://schemas.openxmlformats.org/drawingml/2006/table">
            <a:tbl>
              <a:tblPr/>
              <a:tblGrid>
                <a:gridCol w="336922">
                  <a:extLst>
                    <a:ext uri="{9D8B030D-6E8A-4147-A177-3AD203B41FA5}">
                      <a16:colId xmlns:a16="http://schemas.microsoft.com/office/drawing/2014/main" val="1733503779"/>
                    </a:ext>
                  </a:extLst>
                </a:gridCol>
                <a:gridCol w="764467">
                  <a:extLst>
                    <a:ext uri="{9D8B030D-6E8A-4147-A177-3AD203B41FA5}">
                      <a16:colId xmlns:a16="http://schemas.microsoft.com/office/drawing/2014/main" val="1259338926"/>
                    </a:ext>
                  </a:extLst>
                </a:gridCol>
                <a:gridCol w="623718">
                  <a:extLst>
                    <a:ext uri="{9D8B030D-6E8A-4147-A177-3AD203B41FA5}">
                      <a16:colId xmlns:a16="http://schemas.microsoft.com/office/drawing/2014/main" val="1191960394"/>
                    </a:ext>
                  </a:extLst>
                </a:gridCol>
                <a:gridCol w="1094883">
                  <a:extLst>
                    <a:ext uri="{9D8B030D-6E8A-4147-A177-3AD203B41FA5}">
                      <a16:colId xmlns:a16="http://schemas.microsoft.com/office/drawing/2014/main" val="3279598642"/>
                    </a:ext>
                  </a:extLst>
                </a:gridCol>
                <a:gridCol w="833611">
                  <a:extLst>
                    <a:ext uri="{9D8B030D-6E8A-4147-A177-3AD203B41FA5}">
                      <a16:colId xmlns:a16="http://schemas.microsoft.com/office/drawing/2014/main" val="2003107669"/>
                    </a:ext>
                  </a:extLst>
                </a:gridCol>
                <a:gridCol w="979625">
                  <a:extLst>
                    <a:ext uri="{9D8B030D-6E8A-4147-A177-3AD203B41FA5}">
                      <a16:colId xmlns:a16="http://schemas.microsoft.com/office/drawing/2014/main" val="3159217175"/>
                    </a:ext>
                  </a:extLst>
                </a:gridCol>
                <a:gridCol w="979625">
                  <a:extLst>
                    <a:ext uri="{9D8B030D-6E8A-4147-A177-3AD203B41FA5}">
                      <a16:colId xmlns:a16="http://schemas.microsoft.com/office/drawing/2014/main" val="1466618672"/>
                    </a:ext>
                  </a:extLst>
                </a:gridCol>
              </a:tblGrid>
              <a:tr h="4785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ID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Date of Birth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Age (years)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Body Temperature (F)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Height (inches)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 Veggies (servings)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Consumes meat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1846329"/>
                  </a:ext>
                </a:extLst>
              </a:tr>
              <a:tr h="30145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5/1/1956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69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97.3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Yes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9559897"/>
                  </a:ext>
                </a:extLst>
              </a:tr>
              <a:tr h="4785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June 25, 1967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No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996288"/>
                  </a:ext>
                </a:extLst>
              </a:tr>
              <a:tr h="30145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04/29/03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97.4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69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yes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3650838"/>
                  </a:ext>
                </a:extLst>
              </a:tr>
              <a:tr h="30145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27170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97.0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1 or 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Y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306383"/>
                  </a:ext>
                </a:extLst>
              </a:tr>
              <a:tr h="30145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1/30/1998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99.3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Ys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0961974"/>
                  </a:ext>
                </a:extLst>
              </a:tr>
              <a:tr h="30145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6/21/1988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99.3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No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8574535"/>
                  </a:ext>
                </a:extLst>
              </a:tr>
              <a:tr h="30145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3/29/2002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37.0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Yes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4268281"/>
                  </a:ext>
                </a:extLst>
              </a:tr>
              <a:tr h="30145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11/16/2007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97.1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yes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6887652"/>
                  </a:ext>
                </a:extLst>
              </a:tr>
              <a:tr h="30145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4/24/1992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98.6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Unknown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YES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341734"/>
                  </a:ext>
                </a:extLst>
              </a:tr>
              <a:tr h="30145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11/26/2025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97.9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No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7545442"/>
                  </a:ext>
                </a:extLst>
              </a:tr>
            </a:tbl>
          </a:graphicData>
        </a:graphic>
      </p:graphicFrame>
      <p:grpSp>
        <p:nvGrpSpPr>
          <p:cNvPr id="2" name="Group 1">
            <a:extLst>
              <a:ext uri="{FF2B5EF4-FFF2-40B4-BE49-F238E27FC236}">
                <a16:creationId xmlns:a16="http://schemas.microsoft.com/office/drawing/2014/main" id="{A9297570-2DBC-A68F-442D-5DCBA671E292}"/>
              </a:ext>
            </a:extLst>
          </p:cNvPr>
          <p:cNvGrpSpPr/>
          <p:nvPr/>
        </p:nvGrpSpPr>
        <p:grpSpPr>
          <a:xfrm>
            <a:off x="333756" y="2140024"/>
            <a:ext cx="5500852" cy="4416224"/>
            <a:chOff x="6459522" y="1445080"/>
            <a:chExt cx="5144950" cy="419650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6D3500F7-EF11-23AC-15AB-E175D1E446A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59522" y="1445080"/>
              <a:ext cx="5144950" cy="4196502"/>
            </a:xfrm>
            <a:prstGeom prst="rect">
              <a:avLst/>
            </a:prstGeom>
          </p:spPr>
        </p:pic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2959FB0C-760C-C4DD-C642-132504C04AFA}"/>
                </a:ext>
              </a:extLst>
            </p:cNvPr>
            <p:cNvCxnSpPr/>
            <p:nvPr/>
          </p:nvCxnSpPr>
          <p:spPr>
            <a:xfrm flipH="1">
              <a:off x="7822734" y="3800213"/>
              <a:ext cx="310393" cy="45720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8991FEF-B0EF-6633-D19C-BB5995F3C743}"/>
                </a:ext>
              </a:extLst>
            </p:cNvPr>
            <p:cNvSpPr txBox="1"/>
            <p:nvPr/>
          </p:nvSpPr>
          <p:spPr>
            <a:xfrm>
              <a:off x="7822734" y="3465582"/>
              <a:ext cx="11702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Outlier!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6360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1DD6EDEA-0905-8C5A-3A54-B68780FF8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6">
            <a:extLst>
              <a:ext uri="{FF2B5EF4-FFF2-40B4-BE49-F238E27FC236}">
                <a16:creationId xmlns:a16="http://schemas.microsoft.com/office/drawing/2014/main" id="{77DAF02D-F514-42B1-51E1-1D1D9B865C03}"/>
              </a:ext>
            </a:extLst>
          </p:cNvPr>
          <p:cNvSpPr txBox="1"/>
          <p:nvPr/>
        </p:nvSpPr>
        <p:spPr>
          <a:xfrm>
            <a:off x="922202" y="1157695"/>
            <a:ext cx="6097800" cy="742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defTabSz="609630">
              <a:lnSpc>
                <a:spcPct val="140007"/>
              </a:lnSpc>
              <a:buClr>
                <a:srgbClr val="000000"/>
              </a:buClr>
            </a:pPr>
            <a:r>
              <a:rPr lang="en-US" sz="3446" kern="0" dirty="0">
                <a:solidFill>
                  <a:srgbClr val="00693D"/>
                </a:solidFill>
                <a:latin typeface="Anton"/>
                <a:ea typeface="Anton"/>
                <a:cs typeface="Anton"/>
                <a:sym typeface="Anton"/>
              </a:rPr>
              <a:t>Visual summaries: Scatterplots</a:t>
            </a:r>
            <a:endParaRPr sz="933" kern="0" dirty="0">
              <a:solidFill>
                <a:srgbClr val="000000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BDE4AF5-3FF4-2626-8CEE-999FD41F6C1A}"/>
              </a:ext>
            </a:extLst>
          </p:cNvPr>
          <p:cNvGraphicFramePr>
            <a:graphicFrameLocks noGrp="1"/>
          </p:cNvGraphicFramePr>
          <p:nvPr/>
        </p:nvGraphicFramePr>
        <p:xfrm>
          <a:off x="6294814" y="2319855"/>
          <a:ext cx="5612851" cy="3670173"/>
        </p:xfrm>
        <a:graphic>
          <a:graphicData uri="http://schemas.openxmlformats.org/drawingml/2006/table">
            <a:tbl>
              <a:tblPr/>
              <a:tblGrid>
                <a:gridCol w="336922">
                  <a:extLst>
                    <a:ext uri="{9D8B030D-6E8A-4147-A177-3AD203B41FA5}">
                      <a16:colId xmlns:a16="http://schemas.microsoft.com/office/drawing/2014/main" val="1733503779"/>
                    </a:ext>
                  </a:extLst>
                </a:gridCol>
                <a:gridCol w="764467">
                  <a:extLst>
                    <a:ext uri="{9D8B030D-6E8A-4147-A177-3AD203B41FA5}">
                      <a16:colId xmlns:a16="http://schemas.microsoft.com/office/drawing/2014/main" val="1259338926"/>
                    </a:ext>
                  </a:extLst>
                </a:gridCol>
                <a:gridCol w="623718">
                  <a:extLst>
                    <a:ext uri="{9D8B030D-6E8A-4147-A177-3AD203B41FA5}">
                      <a16:colId xmlns:a16="http://schemas.microsoft.com/office/drawing/2014/main" val="1191960394"/>
                    </a:ext>
                  </a:extLst>
                </a:gridCol>
                <a:gridCol w="1094883">
                  <a:extLst>
                    <a:ext uri="{9D8B030D-6E8A-4147-A177-3AD203B41FA5}">
                      <a16:colId xmlns:a16="http://schemas.microsoft.com/office/drawing/2014/main" val="3279598642"/>
                    </a:ext>
                  </a:extLst>
                </a:gridCol>
                <a:gridCol w="833611">
                  <a:extLst>
                    <a:ext uri="{9D8B030D-6E8A-4147-A177-3AD203B41FA5}">
                      <a16:colId xmlns:a16="http://schemas.microsoft.com/office/drawing/2014/main" val="2003107669"/>
                    </a:ext>
                  </a:extLst>
                </a:gridCol>
                <a:gridCol w="979625">
                  <a:extLst>
                    <a:ext uri="{9D8B030D-6E8A-4147-A177-3AD203B41FA5}">
                      <a16:colId xmlns:a16="http://schemas.microsoft.com/office/drawing/2014/main" val="3159217175"/>
                    </a:ext>
                  </a:extLst>
                </a:gridCol>
                <a:gridCol w="979625">
                  <a:extLst>
                    <a:ext uri="{9D8B030D-6E8A-4147-A177-3AD203B41FA5}">
                      <a16:colId xmlns:a16="http://schemas.microsoft.com/office/drawing/2014/main" val="1466618672"/>
                    </a:ext>
                  </a:extLst>
                </a:gridCol>
              </a:tblGrid>
              <a:tr h="4785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ID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Date of Birth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Age (years)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Body Temperature (F)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Height (inches)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 Veggies (servings)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Consumes meat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1846329"/>
                  </a:ext>
                </a:extLst>
              </a:tr>
              <a:tr h="30145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5/1/1956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69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97.3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Yes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9559897"/>
                  </a:ext>
                </a:extLst>
              </a:tr>
              <a:tr h="47852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June 25, 1967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No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996288"/>
                  </a:ext>
                </a:extLst>
              </a:tr>
              <a:tr h="30145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04/29/03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97.4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69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yes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3650838"/>
                  </a:ext>
                </a:extLst>
              </a:tr>
              <a:tr h="30145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27170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97.0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1 or 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Y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306383"/>
                  </a:ext>
                </a:extLst>
              </a:tr>
              <a:tr h="30145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1/30/1998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99.3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Ys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0961974"/>
                  </a:ext>
                </a:extLst>
              </a:tr>
              <a:tr h="30145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6/21/1988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99.3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No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8574535"/>
                  </a:ext>
                </a:extLst>
              </a:tr>
              <a:tr h="30145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3/29/2002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37.0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Yes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4268281"/>
                  </a:ext>
                </a:extLst>
              </a:tr>
              <a:tr h="30145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11/16/2007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97.1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yes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6887652"/>
                  </a:ext>
                </a:extLst>
              </a:tr>
              <a:tr h="30145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4/24/1992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98.6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Unknown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YES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341734"/>
                  </a:ext>
                </a:extLst>
              </a:tr>
              <a:tr h="30145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11/26/2025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97.9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No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7545442"/>
                  </a:ext>
                </a:extLst>
              </a:tr>
            </a:tbl>
          </a:graphicData>
        </a:graphic>
      </p:graphicFrame>
      <p:grpSp>
        <p:nvGrpSpPr>
          <p:cNvPr id="3" name="Group 2">
            <a:extLst>
              <a:ext uri="{FF2B5EF4-FFF2-40B4-BE49-F238E27FC236}">
                <a16:creationId xmlns:a16="http://schemas.microsoft.com/office/drawing/2014/main" id="{45F0CFD4-8854-7ED2-18C1-DB8B56C87B2E}"/>
              </a:ext>
            </a:extLst>
          </p:cNvPr>
          <p:cNvGrpSpPr/>
          <p:nvPr/>
        </p:nvGrpSpPr>
        <p:grpSpPr>
          <a:xfrm>
            <a:off x="812480" y="2052649"/>
            <a:ext cx="4980243" cy="4160699"/>
            <a:chOff x="6481761" y="1608327"/>
            <a:chExt cx="4827262" cy="3937379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C20C138B-CA89-89D9-FDE8-7CBCC4C03C0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81761" y="1608327"/>
              <a:ext cx="4827262" cy="3937379"/>
            </a:xfrm>
            <a:prstGeom prst="rect">
              <a:avLst/>
            </a:prstGeom>
          </p:spPr>
        </p:pic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A1C6F4F0-48F8-9704-4D3B-D536A9958669}"/>
                </a:ext>
              </a:extLst>
            </p:cNvPr>
            <p:cNvCxnSpPr/>
            <p:nvPr/>
          </p:nvCxnSpPr>
          <p:spPr>
            <a:xfrm flipH="1">
              <a:off x="9718646" y="4144162"/>
              <a:ext cx="310393" cy="45720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2B0365A-0969-7AFE-F098-6D6A6F0B68FF}"/>
                </a:ext>
              </a:extLst>
            </p:cNvPr>
            <p:cNvSpPr txBox="1"/>
            <p:nvPr/>
          </p:nvSpPr>
          <p:spPr>
            <a:xfrm>
              <a:off x="9718646" y="3809531"/>
              <a:ext cx="11702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Outlier!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93948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4E0043AD-1C66-246B-670A-A81D9F8D9E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6">
            <a:extLst>
              <a:ext uri="{FF2B5EF4-FFF2-40B4-BE49-F238E27FC236}">
                <a16:creationId xmlns:a16="http://schemas.microsoft.com/office/drawing/2014/main" id="{F2CDBEB6-0365-5558-208D-209D7EFD29DF}"/>
              </a:ext>
            </a:extLst>
          </p:cNvPr>
          <p:cNvSpPr txBox="1"/>
          <p:nvPr/>
        </p:nvSpPr>
        <p:spPr>
          <a:xfrm>
            <a:off x="922202" y="1157695"/>
            <a:ext cx="6097800" cy="742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defTabSz="609630">
              <a:lnSpc>
                <a:spcPct val="140007"/>
              </a:lnSpc>
              <a:buClr>
                <a:srgbClr val="000000"/>
              </a:buClr>
            </a:pPr>
            <a:r>
              <a:rPr lang="en-US" sz="3446" kern="0" dirty="0">
                <a:solidFill>
                  <a:srgbClr val="00693D"/>
                </a:solidFill>
                <a:latin typeface="Anton"/>
                <a:ea typeface="Anton"/>
                <a:cs typeface="Anton"/>
                <a:sym typeface="Anton"/>
              </a:rPr>
              <a:t>Summarize categorical variables</a:t>
            </a:r>
            <a:endParaRPr sz="933" kern="0" dirty="0">
              <a:solidFill>
                <a:srgbClr val="000000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42" name="Google Shape;142;p26">
            <a:extLst>
              <a:ext uri="{FF2B5EF4-FFF2-40B4-BE49-F238E27FC236}">
                <a16:creationId xmlns:a16="http://schemas.microsoft.com/office/drawing/2014/main" id="{B39DA448-8DA5-C522-7B28-65DC4BDAE759}"/>
              </a:ext>
            </a:extLst>
          </p:cNvPr>
          <p:cNvSpPr txBox="1"/>
          <p:nvPr/>
        </p:nvSpPr>
        <p:spPr>
          <a:xfrm>
            <a:off x="922202" y="1736904"/>
            <a:ext cx="4274778" cy="864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006" kern="0" dirty="0">
              <a:solidFill>
                <a:srgbClr val="12312B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sz="2006" kern="0" dirty="0">
                <a:solidFill>
                  <a:srgbClr val="12312B"/>
                </a:solidFill>
                <a:latin typeface="Archivo Medium"/>
                <a:ea typeface="Arial"/>
                <a:cs typeface="Arial"/>
                <a:sym typeface="Archivo Medium"/>
              </a:rPr>
              <a:t>Frequency tables</a:t>
            </a:r>
            <a:endParaRPr sz="2006" kern="0" dirty="0">
              <a:solidFill>
                <a:srgbClr val="12312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42114E5-9D49-DA7C-751E-B1FD3569B6BB}"/>
              </a:ext>
            </a:extLst>
          </p:cNvPr>
          <p:cNvGraphicFramePr>
            <a:graphicFrameLocks noGrp="1"/>
          </p:cNvGraphicFramePr>
          <p:nvPr/>
        </p:nvGraphicFramePr>
        <p:xfrm>
          <a:off x="4743975" y="1954623"/>
          <a:ext cx="7159690" cy="4223855"/>
        </p:xfrm>
        <a:graphic>
          <a:graphicData uri="http://schemas.openxmlformats.org/drawingml/2006/table">
            <a:tbl>
              <a:tblPr/>
              <a:tblGrid>
                <a:gridCol w="429774">
                  <a:extLst>
                    <a:ext uri="{9D8B030D-6E8A-4147-A177-3AD203B41FA5}">
                      <a16:colId xmlns:a16="http://schemas.microsoft.com/office/drawing/2014/main" val="1733503779"/>
                    </a:ext>
                  </a:extLst>
                </a:gridCol>
                <a:gridCol w="975145">
                  <a:extLst>
                    <a:ext uri="{9D8B030D-6E8A-4147-A177-3AD203B41FA5}">
                      <a16:colId xmlns:a16="http://schemas.microsoft.com/office/drawing/2014/main" val="1259338926"/>
                    </a:ext>
                  </a:extLst>
                </a:gridCol>
                <a:gridCol w="795608">
                  <a:extLst>
                    <a:ext uri="{9D8B030D-6E8A-4147-A177-3AD203B41FA5}">
                      <a16:colId xmlns:a16="http://schemas.microsoft.com/office/drawing/2014/main" val="1191960394"/>
                    </a:ext>
                  </a:extLst>
                </a:gridCol>
                <a:gridCol w="1396620">
                  <a:extLst>
                    <a:ext uri="{9D8B030D-6E8A-4147-A177-3AD203B41FA5}">
                      <a16:colId xmlns:a16="http://schemas.microsoft.com/office/drawing/2014/main" val="3279598642"/>
                    </a:ext>
                  </a:extLst>
                </a:gridCol>
                <a:gridCol w="1063345">
                  <a:extLst>
                    <a:ext uri="{9D8B030D-6E8A-4147-A177-3AD203B41FA5}">
                      <a16:colId xmlns:a16="http://schemas.microsoft.com/office/drawing/2014/main" val="2003107669"/>
                    </a:ext>
                  </a:extLst>
                </a:gridCol>
                <a:gridCol w="1249599">
                  <a:extLst>
                    <a:ext uri="{9D8B030D-6E8A-4147-A177-3AD203B41FA5}">
                      <a16:colId xmlns:a16="http://schemas.microsoft.com/office/drawing/2014/main" val="3159217175"/>
                    </a:ext>
                  </a:extLst>
                </a:gridCol>
                <a:gridCol w="1249599">
                  <a:extLst>
                    <a:ext uri="{9D8B030D-6E8A-4147-A177-3AD203B41FA5}">
                      <a16:colId xmlns:a16="http://schemas.microsoft.com/office/drawing/2014/main" val="1466618672"/>
                    </a:ext>
                  </a:extLst>
                </a:gridCol>
              </a:tblGrid>
              <a:tr h="55071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ID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Date of Birth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Age (years)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Body Temperature (F)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Height (inches)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 Veggies (servings)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Consumes meat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1846329"/>
                  </a:ext>
                </a:extLst>
              </a:tr>
              <a:tr h="34693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5/1/1956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69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97.3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Yes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9559897"/>
                  </a:ext>
                </a:extLst>
              </a:tr>
              <a:tr h="55071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June 25, 1967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No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996288"/>
                  </a:ext>
                </a:extLst>
              </a:tr>
              <a:tr h="34693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04/29/03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97.4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69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yes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3650838"/>
                  </a:ext>
                </a:extLst>
              </a:tr>
              <a:tr h="34693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27170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97.0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1 or 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Y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306383"/>
                  </a:ext>
                </a:extLst>
              </a:tr>
              <a:tr h="34693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1/30/1998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99.3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Ys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0961974"/>
                  </a:ext>
                </a:extLst>
              </a:tr>
              <a:tr h="34693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6/21/1988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99.3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No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8574535"/>
                  </a:ext>
                </a:extLst>
              </a:tr>
              <a:tr h="34693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3/29/2002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37.0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Yes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4268281"/>
                  </a:ext>
                </a:extLst>
              </a:tr>
              <a:tr h="34693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11/16/2007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97.1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yes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6887652"/>
                  </a:ext>
                </a:extLst>
              </a:tr>
              <a:tr h="34693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4/24/1992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98.6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Unknown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YES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341734"/>
                  </a:ext>
                </a:extLst>
              </a:tr>
              <a:tr h="34693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11/26/2025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97.9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No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7545442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AA33768-0555-2A7F-4C8B-A406ECD8D8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5419182"/>
              </p:ext>
            </p:extLst>
          </p:nvPr>
        </p:nvGraphicFramePr>
        <p:xfrm>
          <a:off x="1019262" y="3587088"/>
          <a:ext cx="2898942" cy="1995170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1807121">
                  <a:extLst>
                    <a:ext uri="{9D8B030D-6E8A-4147-A177-3AD203B41FA5}">
                      <a16:colId xmlns:a16="http://schemas.microsoft.com/office/drawing/2014/main" val="4071645588"/>
                    </a:ext>
                  </a:extLst>
                </a:gridCol>
                <a:gridCol w="1091821">
                  <a:extLst>
                    <a:ext uri="{9D8B030D-6E8A-4147-A177-3AD203B41FA5}">
                      <a16:colId xmlns:a16="http://schemas.microsoft.com/office/drawing/2014/main" val="1324171596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Response to “Consumes meat” 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u="none" strike="noStrike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Count</a:t>
                      </a:r>
                      <a:endParaRPr lang="en-US" sz="1600" b="1" i="0" u="none" strike="noStrike" dirty="0"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734078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 dirty="0">
                          <a:effectLst/>
                          <a:latin typeface="+mn-lt"/>
                        </a:rPr>
                        <a:t>No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 dirty="0">
                          <a:effectLst/>
                          <a:latin typeface="+mn-lt"/>
                        </a:rPr>
                        <a:t>3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673884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  <a:latin typeface="+mn-lt"/>
                        </a:rPr>
                        <a:t>Y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>
                          <a:effectLst/>
                          <a:latin typeface="+mn-lt"/>
                        </a:rPr>
                        <a:t>1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043815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 dirty="0">
                          <a:effectLst/>
                          <a:latin typeface="+mn-lt"/>
                        </a:rPr>
                        <a:t>Yes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 dirty="0">
                          <a:effectLst/>
                          <a:latin typeface="+mn-lt"/>
                        </a:rPr>
                        <a:t>2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183941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yes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561594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YES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06531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 dirty="0">
                          <a:effectLst/>
                          <a:latin typeface="+mn-lt"/>
                        </a:rPr>
                        <a:t>Ys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u="none" strike="noStrike" dirty="0">
                          <a:effectLst/>
                          <a:latin typeface="+mn-lt"/>
                        </a:rPr>
                        <a:t>1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63964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9140438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7B0C854B-45E5-602C-6FE5-D2D11C6EE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6">
            <a:extLst>
              <a:ext uri="{FF2B5EF4-FFF2-40B4-BE49-F238E27FC236}">
                <a16:creationId xmlns:a16="http://schemas.microsoft.com/office/drawing/2014/main" id="{76577199-3D37-FFA3-690B-42B7D12338D0}"/>
              </a:ext>
            </a:extLst>
          </p:cNvPr>
          <p:cNvSpPr txBox="1"/>
          <p:nvPr/>
        </p:nvSpPr>
        <p:spPr>
          <a:xfrm>
            <a:off x="922201" y="1157695"/>
            <a:ext cx="8200435" cy="742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defTabSz="609630">
              <a:lnSpc>
                <a:spcPct val="140007"/>
              </a:lnSpc>
              <a:buClr>
                <a:srgbClr val="000000"/>
              </a:buClr>
            </a:pPr>
            <a:r>
              <a:rPr lang="en-US" sz="3446" kern="0" dirty="0">
                <a:solidFill>
                  <a:srgbClr val="00693D"/>
                </a:solidFill>
                <a:latin typeface="Anton"/>
                <a:ea typeface="Anton"/>
                <a:cs typeface="Anton"/>
                <a:sym typeface="Anton"/>
              </a:rPr>
              <a:t>Variables &amp; the relationships between them</a:t>
            </a:r>
            <a:endParaRPr sz="933" kern="0" dirty="0">
              <a:solidFill>
                <a:srgbClr val="000000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42" name="Google Shape;142;p26">
            <a:extLst>
              <a:ext uri="{FF2B5EF4-FFF2-40B4-BE49-F238E27FC236}">
                <a16:creationId xmlns:a16="http://schemas.microsoft.com/office/drawing/2014/main" id="{27622303-389D-ABBE-7C5C-93C326E9D9F8}"/>
              </a:ext>
            </a:extLst>
          </p:cNvPr>
          <p:cNvSpPr txBox="1"/>
          <p:nvPr/>
        </p:nvSpPr>
        <p:spPr>
          <a:xfrm>
            <a:off x="922202" y="1736904"/>
            <a:ext cx="9755768" cy="3889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006" kern="0" dirty="0">
              <a:solidFill>
                <a:srgbClr val="12312B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sz="2006" kern="0" dirty="0">
                <a:solidFill>
                  <a:srgbClr val="12312B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Up until now we’ve been examining one variable at a time, which is called univariate analysis.</a:t>
            </a: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006" kern="0" dirty="0">
              <a:solidFill>
                <a:srgbClr val="12312B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sz="2006" kern="0" dirty="0">
                <a:solidFill>
                  <a:srgbClr val="12312B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It’s also important to look at the relationships between variables, which is called multivariate analysis.</a:t>
            </a:r>
          </a:p>
          <a:p>
            <a:pPr marL="866521" lvl="2" indent="-28884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⚬"/>
            </a:pPr>
            <a:r>
              <a:rPr lang="en-US" dirty="0">
                <a:solidFill>
                  <a:srgbClr val="12312B"/>
                </a:solidFill>
                <a:latin typeface="Archivo Medium"/>
                <a:sym typeface="Archivo Medium"/>
              </a:rPr>
              <a:t>Input and output variables</a:t>
            </a:r>
          </a:p>
          <a:p>
            <a:pPr marL="866521" lvl="2" indent="-28884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⚬"/>
            </a:pPr>
            <a:r>
              <a:rPr lang="en-US" dirty="0">
                <a:solidFill>
                  <a:srgbClr val="12312B"/>
                </a:solidFill>
                <a:latin typeface="Archivo Medium"/>
                <a:sym typeface="Archivo Medium"/>
              </a:rPr>
              <a:t>Multiple input variables</a:t>
            </a:r>
          </a:p>
          <a:p>
            <a:pPr marL="216630" lvl="1" defTabSz="609630">
              <a:lnSpc>
                <a:spcPct val="140013"/>
              </a:lnSpc>
              <a:buClr>
                <a:srgbClr val="12312B"/>
              </a:buClr>
              <a:buSzPts val="3009"/>
            </a:pPr>
            <a:endParaRPr lang="en-US" sz="2006" kern="0" dirty="0">
              <a:solidFill>
                <a:srgbClr val="12312B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</p:txBody>
      </p:sp>
    </p:spTree>
    <p:extLst>
      <p:ext uri="{BB962C8B-B14F-4D97-AF65-F5344CB8AC3E}">
        <p14:creationId xmlns:p14="http://schemas.microsoft.com/office/powerpoint/2010/main" val="3953128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>
    <p:ext uri="{6950BFC3-D8DA-4A85-94F7-54DA5524770B}">
      <p188:commentRel xmlns:p188="http://schemas.microsoft.com/office/powerpoint/2018/8/main" r:id="rId3"/>
    </p:ext>
  </p:extLs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79841565-C24B-CDC6-81AA-0BDE48175A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6">
            <a:extLst>
              <a:ext uri="{FF2B5EF4-FFF2-40B4-BE49-F238E27FC236}">
                <a16:creationId xmlns:a16="http://schemas.microsoft.com/office/drawing/2014/main" id="{7933D4D8-ECA0-8DCA-2F62-FF2992C12F28}"/>
              </a:ext>
            </a:extLst>
          </p:cNvPr>
          <p:cNvSpPr txBox="1"/>
          <p:nvPr/>
        </p:nvSpPr>
        <p:spPr>
          <a:xfrm>
            <a:off x="922201" y="1157695"/>
            <a:ext cx="7403411" cy="742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defTabSz="609630">
              <a:lnSpc>
                <a:spcPct val="140007"/>
              </a:lnSpc>
              <a:buClr>
                <a:srgbClr val="000000"/>
              </a:buClr>
            </a:pPr>
            <a:r>
              <a:rPr lang="en-US" sz="3446" kern="0" dirty="0">
                <a:solidFill>
                  <a:srgbClr val="00693D"/>
                </a:solidFill>
                <a:latin typeface="Anton"/>
                <a:ea typeface="Anton"/>
                <a:cs typeface="Anton"/>
                <a:sym typeface="Anton"/>
              </a:rPr>
              <a:t>Ways to examine correlation</a:t>
            </a:r>
            <a:endParaRPr sz="933" kern="0" dirty="0">
              <a:solidFill>
                <a:srgbClr val="000000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42" name="Google Shape;142;p26">
            <a:extLst>
              <a:ext uri="{FF2B5EF4-FFF2-40B4-BE49-F238E27FC236}">
                <a16:creationId xmlns:a16="http://schemas.microsoft.com/office/drawing/2014/main" id="{C5699C41-1F6A-7D2F-8E98-F3B1C79D53BD}"/>
              </a:ext>
            </a:extLst>
          </p:cNvPr>
          <p:cNvSpPr txBox="1"/>
          <p:nvPr/>
        </p:nvSpPr>
        <p:spPr>
          <a:xfrm>
            <a:off x="841017" y="2508919"/>
            <a:ext cx="4274778" cy="25930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006" kern="0" dirty="0">
              <a:solidFill>
                <a:srgbClr val="12312B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sz="2006" kern="0" dirty="0">
                <a:solidFill>
                  <a:srgbClr val="12312B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Numeric values, e.g. r</a:t>
            </a:r>
            <a:r>
              <a:rPr lang="en-US" sz="2006" kern="0" baseline="30000" dirty="0">
                <a:solidFill>
                  <a:srgbClr val="12312B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 </a:t>
            </a:r>
            <a:r>
              <a:rPr lang="en-US" sz="2006" kern="0" dirty="0">
                <a:solidFill>
                  <a:srgbClr val="12312B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= 0.4</a:t>
            </a: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006" kern="0" dirty="0">
              <a:solidFill>
                <a:srgbClr val="12312B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sz="2006" kern="0" dirty="0">
                <a:solidFill>
                  <a:srgbClr val="12312B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Visual, e.g. scatterplot</a:t>
            </a: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006" kern="0" dirty="0">
              <a:solidFill>
                <a:srgbClr val="12312B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sz="2006" kern="0" dirty="0">
                <a:solidFill>
                  <a:srgbClr val="12312B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Correlation matrix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D03613D-8258-A3FF-4B45-607F79A3BD9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899"/>
          <a:stretch>
            <a:fillRect/>
          </a:stretch>
        </p:blipFill>
        <p:spPr>
          <a:xfrm>
            <a:off x="6368549" y="45577"/>
            <a:ext cx="4540158" cy="3252703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32D6E122-83CC-3AED-9945-CD5C5CFFBD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0081" y="3306198"/>
            <a:ext cx="4311709" cy="3506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02E6BC6-0ED0-000C-D9DA-F901E5D9E44A}"/>
              </a:ext>
            </a:extLst>
          </p:cNvPr>
          <p:cNvSpPr txBox="1"/>
          <p:nvPr/>
        </p:nvSpPr>
        <p:spPr>
          <a:xfrm>
            <a:off x="11032621" y="6076060"/>
            <a:ext cx="14955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Image from </a:t>
            </a:r>
            <a:r>
              <a:rPr lang="en-US" sz="1200" dirty="0">
                <a:hlinkClick r:id="rId5"/>
              </a:rPr>
              <a:t>Towards Data Science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063955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F8B7C53E-F0D8-01D4-D142-BA1721A679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6">
            <a:extLst>
              <a:ext uri="{FF2B5EF4-FFF2-40B4-BE49-F238E27FC236}">
                <a16:creationId xmlns:a16="http://schemas.microsoft.com/office/drawing/2014/main" id="{2CF2B886-CEEB-A718-FD9B-6EBDBCB91912}"/>
              </a:ext>
            </a:extLst>
          </p:cNvPr>
          <p:cNvSpPr txBox="1"/>
          <p:nvPr/>
        </p:nvSpPr>
        <p:spPr>
          <a:xfrm>
            <a:off x="922202" y="1157695"/>
            <a:ext cx="6097800" cy="742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defTabSz="609630">
              <a:lnSpc>
                <a:spcPct val="140007"/>
              </a:lnSpc>
              <a:buClr>
                <a:srgbClr val="000000"/>
              </a:buClr>
            </a:pPr>
            <a:r>
              <a:rPr lang="en-US" sz="3446" kern="0" dirty="0">
                <a:solidFill>
                  <a:srgbClr val="00693D"/>
                </a:solidFill>
                <a:latin typeface="Anton"/>
                <a:ea typeface="Anton"/>
                <a:cs typeface="Anton"/>
                <a:sym typeface="Anton"/>
              </a:rPr>
              <a:t>Non-linear relationships</a:t>
            </a:r>
            <a:endParaRPr sz="933" kern="0" dirty="0">
              <a:solidFill>
                <a:srgbClr val="000000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437B61C2-9EAA-DEC2-0BA9-78A351BAB7B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93518794"/>
              </p:ext>
            </p:extLst>
          </p:nvPr>
        </p:nvGraphicFramePr>
        <p:xfrm>
          <a:off x="6096000" y="2676970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Google Shape;142;p26">
            <a:extLst>
              <a:ext uri="{FF2B5EF4-FFF2-40B4-BE49-F238E27FC236}">
                <a16:creationId xmlns:a16="http://schemas.microsoft.com/office/drawing/2014/main" id="{F1B90168-C1A7-5731-8ACC-5345D7D8F4A5}"/>
              </a:ext>
            </a:extLst>
          </p:cNvPr>
          <p:cNvSpPr txBox="1"/>
          <p:nvPr/>
        </p:nvSpPr>
        <p:spPr>
          <a:xfrm>
            <a:off x="836743" y="1833801"/>
            <a:ext cx="4615473" cy="3457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006" kern="0" dirty="0">
              <a:solidFill>
                <a:srgbClr val="12312B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sz="2006" kern="0" dirty="0">
                <a:solidFill>
                  <a:srgbClr val="12312B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Consider the figure on the right. Would you say these variables are correlated?</a:t>
            </a: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006" kern="0" dirty="0">
              <a:solidFill>
                <a:srgbClr val="12312B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sz="2006" kern="0" dirty="0">
                <a:solidFill>
                  <a:srgbClr val="12312B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A traditional numeric measure of this correlation would be very low, but there is clearly a strong relationship between the variables. </a:t>
            </a:r>
          </a:p>
        </p:txBody>
      </p:sp>
    </p:spTree>
    <p:extLst>
      <p:ext uri="{BB962C8B-B14F-4D97-AF65-F5344CB8AC3E}">
        <p14:creationId xmlns:p14="http://schemas.microsoft.com/office/powerpoint/2010/main" val="376388757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A196A905-512E-8B76-D207-7695E6AA8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6">
            <a:extLst>
              <a:ext uri="{FF2B5EF4-FFF2-40B4-BE49-F238E27FC236}">
                <a16:creationId xmlns:a16="http://schemas.microsoft.com/office/drawing/2014/main" id="{E9288FDF-1F87-E885-758A-005D476FF9C1}"/>
              </a:ext>
            </a:extLst>
          </p:cNvPr>
          <p:cNvSpPr txBox="1"/>
          <p:nvPr/>
        </p:nvSpPr>
        <p:spPr>
          <a:xfrm>
            <a:off x="922201" y="1157695"/>
            <a:ext cx="7845783" cy="14847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defTabSz="609630">
              <a:lnSpc>
                <a:spcPct val="140007"/>
              </a:lnSpc>
              <a:buClr>
                <a:srgbClr val="000000"/>
              </a:buClr>
            </a:pPr>
            <a:r>
              <a:rPr lang="en-US" sz="3446" kern="0" dirty="0">
                <a:solidFill>
                  <a:srgbClr val="00693D"/>
                </a:solidFill>
                <a:latin typeface="Anton"/>
                <a:ea typeface="Anton"/>
                <a:cs typeface="Anton"/>
                <a:sym typeface="Anton"/>
              </a:rPr>
              <a:t>Variable distributions and relationships affect analysis plans!</a:t>
            </a:r>
            <a:endParaRPr sz="933" kern="0" dirty="0">
              <a:solidFill>
                <a:srgbClr val="000000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3" name="Google Shape;142;p26">
            <a:extLst>
              <a:ext uri="{FF2B5EF4-FFF2-40B4-BE49-F238E27FC236}">
                <a16:creationId xmlns:a16="http://schemas.microsoft.com/office/drawing/2014/main" id="{807CB3B0-0406-3EA0-3EBE-3D17A6ED719E}"/>
              </a:ext>
            </a:extLst>
          </p:cNvPr>
          <p:cNvSpPr txBox="1"/>
          <p:nvPr/>
        </p:nvSpPr>
        <p:spPr>
          <a:xfrm>
            <a:off x="845288" y="2560193"/>
            <a:ext cx="8773003" cy="3889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6630" lvl="1" defTabSz="609630">
              <a:lnSpc>
                <a:spcPct val="140013"/>
              </a:lnSpc>
              <a:buClr>
                <a:srgbClr val="12312B"/>
              </a:buClr>
              <a:buSzPts val="3009"/>
            </a:pPr>
            <a:endParaRPr lang="en-US" sz="2006" kern="0" dirty="0">
              <a:solidFill>
                <a:srgbClr val="12312B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marL="216630" lvl="1" defTabSz="609630">
              <a:lnSpc>
                <a:spcPct val="140013"/>
              </a:lnSpc>
              <a:buClr>
                <a:srgbClr val="12312B"/>
              </a:buClr>
              <a:buSzPts val="3009"/>
            </a:pPr>
            <a:r>
              <a:rPr lang="en-US" sz="2006" kern="0" dirty="0">
                <a:solidFill>
                  <a:srgbClr val="12312B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Statistical analyses often have specific requirements around variable distributions and relationships</a:t>
            </a: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006" kern="0" dirty="0">
              <a:solidFill>
                <a:srgbClr val="12312B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sz="2006" kern="0" dirty="0">
                <a:solidFill>
                  <a:srgbClr val="12312B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Linear relationships</a:t>
            </a: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006" kern="0" dirty="0">
              <a:solidFill>
                <a:srgbClr val="12312B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sz="2006" kern="0" dirty="0">
                <a:solidFill>
                  <a:srgbClr val="12312B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Normal distributions</a:t>
            </a: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006" kern="0" dirty="0">
              <a:solidFill>
                <a:srgbClr val="12312B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sz="2006" kern="0" dirty="0">
                <a:solidFill>
                  <a:srgbClr val="12312B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Independent explanatory variables</a:t>
            </a:r>
          </a:p>
        </p:txBody>
      </p:sp>
    </p:spTree>
    <p:extLst>
      <p:ext uri="{BB962C8B-B14F-4D97-AF65-F5344CB8AC3E}">
        <p14:creationId xmlns:p14="http://schemas.microsoft.com/office/powerpoint/2010/main" val="243199264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968243BC-C544-62D2-7FE8-59EE29F7B1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8247F70-A23B-A561-BD0E-659A45223DA1}"/>
              </a:ext>
            </a:extLst>
          </p:cNvPr>
          <p:cNvGraphicFramePr>
            <a:graphicFrameLocks noGrp="1"/>
          </p:cNvGraphicFramePr>
          <p:nvPr/>
        </p:nvGraphicFramePr>
        <p:xfrm>
          <a:off x="4878151" y="1991520"/>
          <a:ext cx="7159690" cy="4223855"/>
        </p:xfrm>
        <a:graphic>
          <a:graphicData uri="http://schemas.openxmlformats.org/drawingml/2006/table">
            <a:tbl>
              <a:tblPr/>
              <a:tblGrid>
                <a:gridCol w="429774">
                  <a:extLst>
                    <a:ext uri="{9D8B030D-6E8A-4147-A177-3AD203B41FA5}">
                      <a16:colId xmlns:a16="http://schemas.microsoft.com/office/drawing/2014/main" val="1733503779"/>
                    </a:ext>
                  </a:extLst>
                </a:gridCol>
                <a:gridCol w="975145">
                  <a:extLst>
                    <a:ext uri="{9D8B030D-6E8A-4147-A177-3AD203B41FA5}">
                      <a16:colId xmlns:a16="http://schemas.microsoft.com/office/drawing/2014/main" val="1259338926"/>
                    </a:ext>
                  </a:extLst>
                </a:gridCol>
                <a:gridCol w="795608">
                  <a:extLst>
                    <a:ext uri="{9D8B030D-6E8A-4147-A177-3AD203B41FA5}">
                      <a16:colId xmlns:a16="http://schemas.microsoft.com/office/drawing/2014/main" val="1191960394"/>
                    </a:ext>
                  </a:extLst>
                </a:gridCol>
                <a:gridCol w="1396620">
                  <a:extLst>
                    <a:ext uri="{9D8B030D-6E8A-4147-A177-3AD203B41FA5}">
                      <a16:colId xmlns:a16="http://schemas.microsoft.com/office/drawing/2014/main" val="3279598642"/>
                    </a:ext>
                  </a:extLst>
                </a:gridCol>
                <a:gridCol w="1063345">
                  <a:extLst>
                    <a:ext uri="{9D8B030D-6E8A-4147-A177-3AD203B41FA5}">
                      <a16:colId xmlns:a16="http://schemas.microsoft.com/office/drawing/2014/main" val="2003107669"/>
                    </a:ext>
                  </a:extLst>
                </a:gridCol>
                <a:gridCol w="1249599">
                  <a:extLst>
                    <a:ext uri="{9D8B030D-6E8A-4147-A177-3AD203B41FA5}">
                      <a16:colId xmlns:a16="http://schemas.microsoft.com/office/drawing/2014/main" val="3159217175"/>
                    </a:ext>
                  </a:extLst>
                </a:gridCol>
                <a:gridCol w="1249599">
                  <a:extLst>
                    <a:ext uri="{9D8B030D-6E8A-4147-A177-3AD203B41FA5}">
                      <a16:colId xmlns:a16="http://schemas.microsoft.com/office/drawing/2014/main" val="1466618672"/>
                    </a:ext>
                  </a:extLst>
                </a:gridCol>
              </a:tblGrid>
              <a:tr h="55071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ID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Date of Birth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Age (years)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Body Temperature (F)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Height (inches)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 Veggies (servings)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Consumes meat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1846329"/>
                  </a:ext>
                </a:extLst>
              </a:tr>
              <a:tr h="34693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5/1/1956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69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97.3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Yes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9559897"/>
                  </a:ext>
                </a:extLst>
              </a:tr>
              <a:tr h="55071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June 25, 1967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No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996288"/>
                  </a:ext>
                </a:extLst>
              </a:tr>
              <a:tr h="34693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04/29/03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97.4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69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yes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3650838"/>
                  </a:ext>
                </a:extLst>
              </a:tr>
              <a:tr h="34693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27170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97.0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1 or 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Y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306383"/>
                  </a:ext>
                </a:extLst>
              </a:tr>
              <a:tr h="34693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1/30/1998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99.3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Ys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0961974"/>
                  </a:ext>
                </a:extLst>
              </a:tr>
              <a:tr h="34693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6/21/1988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99.3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No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8574535"/>
                  </a:ext>
                </a:extLst>
              </a:tr>
              <a:tr h="34693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3/29/2002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37.0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Yes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4268281"/>
                  </a:ext>
                </a:extLst>
              </a:tr>
              <a:tr h="34693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11/16/2007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97.1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yes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6887652"/>
                  </a:ext>
                </a:extLst>
              </a:tr>
              <a:tr h="34693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4/24/1992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98.6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Unknown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YES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341734"/>
                  </a:ext>
                </a:extLst>
              </a:tr>
              <a:tr h="34693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11/26/2025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97.9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No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7545442"/>
                  </a:ext>
                </a:extLst>
              </a:tr>
            </a:tbl>
          </a:graphicData>
        </a:graphic>
      </p:graphicFrame>
      <p:sp>
        <p:nvSpPr>
          <p:cNvPr id="141" name="Google Shape;141;p26">
            <a:extLst>
              <a:ext uri="{FF2B5EF4-FFF2-40B4-BE49-F238E27FC236}">
                <a16:creationId xmlns:a16="http://schemas.microsoft.com/office/drawing/2014/main" id="{99EBF7D4-5706-67D3-3526-40D66B4E1DC4}"/>
              </a:ext>
            </a:extLst>
          </p:cNvPr>
          <p:cNvSpPr txBox="1"/>
          <p:nvPr/>
        </p:nvSpPr>
        <p:spPr>
          <a:xfrm>
            <a:off x="922202" y="957212"/>
            <a:ext cx="6097800" cy="742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defTabSz="609630">
              <a:lnSpc>
                <a:spcPct val="140007"/>
              </a:lnSpc>
              <a:buClr>
                <a:srgbClr val="000000"/>
              </a:buClr>
            </a:pPr>
            <a:r>
              <a:rPr lang="en-US" sz="3446" kern="0" dirty="0">
                <a:solidFill>
                  <a:srgbClr val="00693D"/>
                </a:solidFill>
                <a:latin typeface="Anton"/>
                <a:ea typeface="Anton"/>
                <a:cs typeface="Anton"/>
                <a:sym typeface="Anton"/>
              </a:rPr>
              <a:t>Common issues: Missing data</a:t>
            </a:r>
            <a:endParaRPr sz="933" kern="0" dirty="0">
              <a:solidFill>
                <a:srgbClr val="000000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42" name="Google Shape;142;p26">
            <a:extLst>
              <a:ext uri="{FF2B5EF4-FFF2-40B4-BE49-F238E27FC236}">
                <a16:creationId xmlns:a16="http://schemas.microsoft.com/office/drawing/2014/main" id="{F000C0D7-BDF9-6DB2-90F1-242EE5218F1E}"/>
              </a:ext>
            </a:extLst>
          </p:cNvPr>
          <p:cNvSpPr txBox="1"/>
          <p:nvPr/>
        </p:nvSpPr>
        <p:spPr>
          <a:xfrm>
            <a:off x="922203" y="1736904"/>
            <a:ext cx="3484698" cy="6260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006" kern="0" dirty="0">
              <a:solidFill>
                <a:srgbClr val="12312B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sz="2006" kern="0" dirty="0">
                <a:solidFill>
                  <a:srgbClr val="12312B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Labels</a:t>
            </a:r>
          </a:p>
          <a:p>
            <a:pPr marL="866521" lvl="2" indent="-28884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⚬"/>
            </a:pPr>
            <a:r>
              <a:rPr lang="en-US" dirty="0">
                <a:solidFill>
                  <a:srgbClr val="12312B"/>
                </a:solidFill>
                <a:latin typeface="Archivo Medium"/>
                <a:sym typeface="Archivo Medium"/>
              </a:rPr>
              <a:t>Blank</a:t>
            </a:r>
          </a:p>
          <a:p>
            <a:pPr marL="866521" lvl="2" indent="-28884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⚬"/>
            </a:pPr>
            <a:r>
              <a:rPr lang="en-US" dirty="0">
                <a:solidFill>
                  <a:srgbClr val="12312B"/>
                </a:solidFill>
                <a:latin typeface="Archivo Medium"/>
                <a:sym typeface="Archivo Medium"/>
              </a:rPr>
              <a:t>“Unknown”</a:t>
            </a:r>
          </a:p>
          <a:p>
            <a:pPr marL="866521" lvl="2" indent="-28884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⚬"/>
            </a:pPr>
            <a:r>
              <a:rPr lang="en-US" dirty="0">
                <a:solidFill>
                  <a:srgbClr val="12312B"/>
                </a:solidFill>
                <a:latin typeface="Archivo Medium"/>
                <a:sym typeface="Archivo Medium"/>
              </a:rPr>
              <a:t>NA/Null</a:t>
            </a:r>
          </a:p>
          <a:p>
            <a:pPr marL="866521" lvl="2" indent="-28884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⚬"/>
            </a:pPr>
            <a:r>
              <a:rPr lang="en-US" dirty="0">
                <a:solidFill>
                  <a:srgbClr val="12312B"/>
                </a:solidFill>
                <a:latin typeface="Archivo Medium"/>
                <a:sym typeface="Archivo Medium"/>
              </a:rPr>
              <a:t>A specific number like 999 or -1</a:t>
            </a: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006" kern="0" dirty="0">
              <a:solidFill>
                <a:srgbClr val="12312B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sz="2006" kern="0" dirty="0">
                <a:solidFill>
                  <a:srgbClr val="12312B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Quantity</a:t>
            </a: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006" kern="0" dirty="0">
              <a:solidFill>
                <a:srgbClr val="12312B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006" kern="0" dirty="0">
              <a:solidFill>
                <a:srgbClr val="12312B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006" kern="0" dirty="0">
              <a:solidFill>
                <a:srgbClr val="12312B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006" kern="0" dirty="0">
              <a:solidFill>
                <a:srgbClr val="12312B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006" kern="0" dirty="0">
              <a:solidFill>
                <a:srgbClr val="12312B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defTabSz="609630">
              <a:lnSpc>
                <a:spcPct val="140013"/>
              </a:lnSpc>
              <a:buClr>
                <a:srgbClr val="000000"/>
              </a:buClr>
            </a:pPr>
            <a:endParaRPr sz="2006" kern="0" dirty="0">
              <a:solidFill>
                <a:srgbClr val="12312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08B0258-36D0-F43F-EF45-4D396CAA50B3}"/>
              </a:ext>
            </a:extLst>
          </p:cNvPr>
          <p:cNvGrpSpPr/>
          <p:nvPr/>
        </p:nvGrpSpPr>
        <p:grpSpPr>
          <a:xfrm>
            <a:off x="6986446" y="2904753"/>
            <a:ext cx="3938047" cy="3047339"/>
            <a:chOff x="6995022" y="2530174"/>
            <a:chExt cx="3938047" cy="3047339"/>
          </a:xfrm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03AE3A1F-35B1-23FA-E33F-FC47C06A6015}"/>
                </a:ext>
              </a:extLst>
            </p:cNvPr>
            <p:cNvSpPr/>
            <p:nvPr/>
          </p:nvSpPr>
          <p:spPr>
            <a:xfrm>
              <a:off x="6995022" y="2530174"/>
              <a:ext cx="1621366" cy="499533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B361303D-0DD1-BABD-9569-DBB61CE42F47}"/>
                </a:ext>
              </a:extLst>
            </p:cNvPr>
            <p:cNvSpPr/>
            <p:nvPr/>
          </p:nvSpPr>
          <p:spPr>
            <a:xfrm>
              <a:off x="9311703" y="5077980"/>
              <a:ext cx="1621366" cy="499533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5302595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3E023C31-A6BC-FAC8-1FA5-341E9C180C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6">
            <a:extLst>
              <a:ext uri="{FF2B5EF4-FFF2-40B4-BE49-F238E27FC236}">
                <a16:creationId xmlns:a16="http://schemas.microsoft.com/office/drawing/2014/main" id="{35989233-BD48-9AB5-903A-9F69295EDC3C}"/>
              </a:ext>
            </a:extLst>
          </p:cNvPr>
          <p:cNvSpPr txBox="1"/>
          <p:nvPr/>
        </p:nvSpPr>
        <p:spPr>
          <a:xfrm>
            <a:off x="922202" y="1157695"/>
            <a:ext cx="6850198" cy="742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defTabSz="609630">
              <a:lnSpc>
                <a:spcPct val="140007"/>
              </a:lnSpc>
              <a:buClr>
                <a:srgbClr val="000000"/>
              </a:buClr>
            </a:pPr>
            <a:r>
              <a:rPr lang="en-US" sz="3446" kern="0" dirty="0">
                <a:solidFill>
                  <a:srgbClr val="00693D"/>
                </a:solidFill>
                <a:latin typeface="Anton"/>
                <a:ea typeface="Anton"/>
                <a:cs typeface="Anton"/>
                <a:sym typeface="Anton"/>
              </a:rPr>
              <a:t>Common issues: Missing data, cont.</a:t>
            </a:r>
            <a:endParaRPr lang="en-US" sz="933" kern="0" dirty="0">
              <a:solidFill>
                <a:srgbClr val="000000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42" name="Google Shape;142;p26">
            <a:extLst>
              <a:ext uri="{FF2B5EF4-FFF2-40B4-BE49-F238E27FC236}">
                <a16:creationId xmlns:a16="http://schemas.microsoft.com/office/drawing/2014/main" id="{9D06098E-D50B-0E65-5420-D62DC960226D}"/>
              </a:ext>
            </a:extLst>
          </p:cNvPr>
          <p:cNvSpPr txBox="1"/>
          <p:nvPr/>
        </p:nvSpPr>
        <p:spPr>
          <a:xfrm>
            <a:off x="922202" y="2466086"/>
            <a:ext cx="7904298" cy="3666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6630" lvl="1">
              <a:lnSpc>
                <a:spcPct val="140013"/>
              </a:lnSpc>
              <a:buClr>
                <a:srgbClr val="12312B"/>
              </a:buClr>
              <a:buSzPts val="3009"/>
            </a:pPr>
            <a:r>
              <a:rPr lang="en-US" sz="2006" dirty="0">
                <a:solidFill>
                  <a:srgbClr val="12312B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An important characteristic of missing data is the pattern of missingness</a:t>
            </a:r>
          </a:p>
          <a:p>
            <a:pPr marL="216630" lvl="1">
              <a:lnSpc>
                <a:spcPct val="140013"/>
              </a:lnSpc>
              <a:buClr>
                <a:srgbClr val="12312B"/>
              </a:buClr>
              <a:buSzPts val="3009"/>
            </a:pPr>
            <a:endParaRPr lang="en-US" sz="2006" dirty="0">
              <a:solidFill>
                <a:srgbClr val="12312B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marL="433260" lvl="1" indent="-216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sz="2006" dirty="0">
                <a:solidFill>
                  <a:srgbClr val="12312B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Random: all values have an equal chance of being missing</a:t>
            </a:r>
          </a:p>
          <a:p>
            <a:pPr marL="866521" lvl="2" indent="-28884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⚬"/>
            </a:pPr>
            <a:r>
              <a:rPr lang="en-US" dirty="0">
                <a:solidFill>
                  <a:srgbClr val="12312B"/>
                </a:solidFill>
                <a:latin typeface="Archivo Medium"/>
                <a:sym typeface="Archivo Medium"/>
              </a:rPr>
              <a:t>Lost samples</a:t>
            </a:r>
          </a:p>
          <a:p>
            <a:pPr marL="866521" lvl="2" indent="-28884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⚬"/>
            </a:pPr>
            <a:r>
              <a:rPr lang="en-US" dirty="0">
                <a:solidFill>
                  <a:srgbClr val="12312B"/>
                </a:solidFill>
                <a:latin typeface="Archivo Medium"/>
                <a:sym typeface="Archivo Medium"/>
              </a:rPr>
              <a:t>Instrument error</a:t>
            </a:r>
          </a:p>
          <a:p>
            <a:pPr marL="890460" lvl="2" indent="-216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kern="0" dirty="0">
              <a:solidFill>
                <a:srgbClr val="12312B"/>
              </a:solidFill>
              <a:latin typeface="Archivo Medium"/>
              <a:ea typeface="Arial"/>
              <a:cs typeface="Arial"/>
              <a:sym typeface="Archivo Medium"/>
            </a:endParaRPr>
          </a:p>
          <a:p>
            <a:pPr marL="433260" lvl="1" indent="-216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sz="2000" kern="0" dirty="0">
                <a:solidFill>
                  <a:srgbClr val="12312B"/>
                </a:solidFill>
                <a:latin typeface="Archivo Medium"/>
                <a:ea typeface="Arial"/>
                <a:cs typeface="Arial"/>
                <a:sym typeface="Archivo Medium"/>
              </a:rPr>
              <a:t>Non-random: certain values are more likely to be missing</a:t>
            </a:r>
          </a:p>
          <a:p>
            <a:pPr marL="866521" lvl="2" indent="-28884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⚬"/>
            </a:pPr>
            <a:r>
              <a:rPr lang="en-US" dirty="0">
                <a:solidFill>
                  <a:srgbClr val="12312B"/>
                </a:solidFill>
                <a:latin typeface="Archivo Medium"/>
                <a:sym typeface="Archivo Medium"/>
              </a:rPr>
              <a:t>Physical</a:t>
            </a:r>
          </a:p>
          <a:p>
            <a:pPr marL="866521" lvl="2" indent="-28884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⚬"/>
            </a:pPr>
            <a:r>
              <a:rPr lang="en-US" dirty="0">
                <a:solidFill>
                  <a:srgbClr val="12312B"/>
                </a:solidFill>
                <a:latin typeface="Archivo Medium"/>
                <a:sym typeface="Archivo Medium"/>
              </a:rPr>
              <a:t>Social</a:t>
            </a:r>
            <a:endParaRPr dirty="0">
              <a:solidFill>
                <a:srgbClr val="12312B"/>
              </a:solidFill>
              <a:latin typeface="Archivo Medium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9801141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D80C179D-BDA2-2C8A-F582-65C9775F7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C319934-4682-7C00-22D0-DA7D9DA8A624}"/>
              </a:ext>
            </a:extLst>
          </p:cNvPr>
          <p:cNvGraphicFramePr>
            <a:graphicFrameLocks noGrp="1"/>
          </p:cNvGraphicFramePr>
          <p:nvPr/>
        </p:nvGraphicFramePr>
        <p:xfrm>
          <a:off x="4878151" y="1991520"/>
          <a:ext cx="7159690" cy="4223855"/>
        </p:xfrm>
        <a:graphic>
          <a:graphicData uri="http://schemas.openxmlformats.org/drawingml/2006/table">
            <a:tbl>
              <a:tblPr/>
              <a:tblGrid>
                <a:gridCol w="429774">
                  <a:extLst>
                    <a:ext uri="{9D8B030D-6E8A-4147-A177-3AD203B41FA5}">
                      <a16:colId xmlns:a16="http://schemas.microsoft.com/office/drawing/2014/main" val="1733503779"/>
                    </a:ext>
                  </a:extLst>
                </a:gridCol>
                <a:gridCol w="975145">
                  <a:extLst>
                    <a:ext uri="{9D8B030D-6E8A-4147-A177-3AD203B41FA5}">
                      <a16:colId xmlns:a16="http://schemas.microsoft.com/office/drawing/2014/main" val="1259338926"/>
                    </a:ext>
                  </a:extLst>
                </a:gridCol>
                <a:gridCol w="795608">
                  <a:extLst>
                    <a:ext uri="{9D8B030D-6E8A-4147-A177-3AD203B41FA5}">
                      <a16:colId xmlns:a16="http://schemas.microsoft.com/office/drawing/2014/main" val="1191960394"/>
                    </a:ext>
                  </a:extLst>
                </a:gridCol>
                <a:gridCol w="1396620">
                  <a:extLst>
                    <a:ext uri="{9D8B030D-6E8A-4147-A177-3AD203B41FA5}">
                      <a16:colId xmlns:a16="http://schemas.microsoft.com/office/drawing/2014/main" val="3279598642"/>
                    </a:ext>
                  </a:extLst>
                </a:gridCol>
                <a:gridCol w="1063345">
                  <a:extLst>
                    <a:ext uri="{9D8B030D-6E8A-4147-A177-3AD203B41FA5}">
                      <a16:colId xmlns:a16="http://schemas.microsoft.com/office/drawing/2014/main" val="2003107669"/>
                    </a:ext>
                  </a:extLst>
                </a:gridCol>
                <a:gridCol w="1249599">
                  <a:extLst>
                    <a:ext uri="{9D8B030D-6E8A-4147-A177-3AD203B41FA5}">
                      <a16:colId xmlns:a16="http://schemas.microsoft.com/office/drawing/2014/main" val="3159217175"/>
                    </a:ext>
                  </a:extLst>
                </a:gridCol>
                <a:gridCol w="1249599">
                  <a:extLst>
                    <a:ext uri="{9D8B030D-6E8A-4147-A177-3AD203B41FA5}">
                      <a16:colId xmlns:a16="http://schemas.microsoft.com/office/drawing/2014/main" val="1466618672"/>
                    </a:ext>
                  </a:extLst>
                </a:gridCol>
              </a:tblGrid>
              <a:tr h="55071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ID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Date of Birth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Age (years)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Body Temperature (F)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Height (inches)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 Veggies (servings)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Consumes meat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1846329"/>
                  </a:ext>
                </a:extLst>
              </a:tr>
              <a:tr h="34693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5/1/1956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69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97.3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Yes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9559897"/>
                  </a:ext>
                </a:extLst>
              </a:tr>
              <a:tr h="55071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June 25, 1967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No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996288"/>
                  </a:ext>
                </a:extLst>
              </a:tr>
              <a:tr h="34693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04/29/03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97.4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69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yes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3650838"/>
                  </a:ext>
                </a:extLst>
              </a:tr>
              <a:tr h="34693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27170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97.0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1 or 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Y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306383"/>
                  </a:ext>
                </a:extLst>
              </a:tr>
              <a:tr h="34693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1/30/1998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99.3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Ys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0961974"/>
                  </a:ext>
                </a:extLst>
              </a:tr>
              <a:tr h="34693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6/21/1988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99.3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No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8574535"/>
                  </a:ext>
                </a:extLst>
              </a:tr>
              <a:tr h="34693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3/29/2002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37.0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Yes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4268281"/>
                  </a:ext>
                </a:extLst>
              </a:tr>
              <a:tr h="34693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11/16/2007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97.1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yes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6887652"/>
                  </a:ext>
                </a:extLst>
              </a:tr>
              <a:tr h="34693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4/24/1992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98.6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Unknown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YES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341734"/>
                  </a:ext>
                </a:extLst>
              </a:tr>
              <a:tr h="34693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11/26/2025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97.9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No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7545442"/>
                  </a:ext>
                </a:extLst>
              </a:tr>
            </a:tbl>
          </a:graphicData>
        </a:graphic>
      </p:graphicFrame>
      <p:sp>
        <p:nvSpPr>
          <p:cNvPr id="141" name="Google Shape;141;p26">
            <a:extLst>
              <a:ext uri="{FF2B5EF4-FFF2-40B4-BE49-F238E27FC236}">
                <a16:creationId xmlns:a16="http://schemas.microsoft.com/office/drawing/2014/main" id="{19DA1ED9-0EC8-781C-5BB0-3CA7F8219F0F}"/>
              </a:ext>
            </a:extLst>
          </p:cNvPr>
          <p:cNvSpPr txBox="1"/>
          <p:nvPr/>
        </p:nvSpPr>
        <p:spPr>
          <a:xfrm>
            <a:off x="922202" y="957212"/>
            <a:ext cx="8424998" cy="742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defTabSz="609630">
              <a:lnSpc>
                <a:spcPct val="140007"/>
              </a:lnSpc>
              <a:buClr>
                <a:srgbClr val="000000"/>
              </a:buClr>
            </a:pPr>
            <a:r>
              <a:rPr lang="en-US" sz="3446" kern="0" dirty="0">
                <a:solidFill>
                  <a:srgbClr val="00693D"/>
                </a:solidFill>
                <a:latin typeface="Anton"/>
                <a:ea typeface="Anton"/>
                <a:cs typeface="Anton"/>
                <a:sym typeface="Anton"/>
              </a:rPr>
              <a:t>Common issues: Formatting &amp; typos</a:t>
            </a:r>
            <a:endParaRPr sz="933" kern="0" dirty="0">
              <a:solidFill>
                <a:srgbClr val="000000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42" name="Google Shape;142;p26">
            <a:extLst>
              <a:ext uri="{FF2B5EF4-FFF2-40B4-BE49-F238E27FC236}">
                <a16:creationId xmlns:a16="http://schemas.microsoft.com/office/drawing/2014/main" id="{2D20BA2E-333D-8417-FC2C-29694D928119}"/>
              </a:ext>
            </a:extLst>
          </p:cNvPr>
          <p:cNvSpPr txBox="1"/>
          <p:nvPr/>
        </p:nvSpPr>
        <p:spPr>
          <a:xfrm>
            <a:off x="922202" y="1736904"/>
            <a:ext cx="3603231" cy="3457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006" kern="0" dirty="0">
              <a:solidFill>
                <a:srgbClr val="12312B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sz="2006" kern="0" dirty="0">
                <a:solidFill>
                  <a:srgbClr val="12312B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Typos –e.g., “</a:t>
            </a:r>
            <a:r>
              <a:rPr lang="en-US" sz="2006" kern="0" dirty="0" err="1">
                <a:solidFill>
                  <a:srgbClr val="12312B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ys</a:t>
            </a:r>
            <a:r>
              <a:rPr lang="en-US" sz="2006" kern="0" dirty="0">
                <a:solidFill>
                  <a:srgbClr val="12312B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” instead of “yes”</a:t>
            </a: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006" kern="0" dirty="0">
              <a:solidFill>
                <a:srgbClr val="12312B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sz="2006" kern="0" dirty="0">
                <a:solidFill>
                  <a:srgbClr val="12312B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Text formatting – e.g.,  “Yes”, “YES”,  and “yes”</a:t>
            </a: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006" kern="0" dirty="0">
              <a:solidFill>
                <a:srgbClr val="12312B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sz="2006" kern="0" dirty="0">
                <a:solidFill>
                  <a:srgbClr val="12312B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Dates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40C38BC-112A-3460-B5DD-9B0B3CA07841}"/>
              </a:ext>
            </a:extLst>
          </p:cNvPr>
          <p:cNvSpPr/>
          <p:nvPr/>
        </p:nvSpPr>
        <p:spPr>
          <a:xfrm>
            <a:off x="10884716" y="2579615"/>
            <a:ext cx="1111541" cy="3670183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93E3B01-272B-ACF4-BA0B-F0DEE94711A4}"/>
              </a:ext>
            </a:extLst>
          </p:cNvPr>
          <p:cNvSpPr/>
          <p:nvPr/>
        </p:nvSpPr>
        <p:spPr>
          <a:xfrm>
            <a:off x="5185136" y="2579615"/>
            <a:ext cx="1195431" cy="1690382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303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93D83A84-03D0-22A9-874C-10674B9EF5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6">
            <a:extLst>
              <a:ext uri="{FF2B5EF4-FFF2-40B4-BE49-F238E27FC236}">
                <a16:creationId xmlns:a16="http://schemas.microsoft.com/office/drawing/2014/main" id="{25AE5807-0CC6-760E-C21C-D9B5BAC4FDF0}"/>
              </a:ext>
            </a:extLst>
          </p:cNvPr>
          <p:cNvSpPr txBox="1"/>
          <p:nvPr/>
        </p:nvSpPr>
        <p:spPr>
          <a:xfrm>
            <a:off x="922202" y="918093"/>
            <a:ext cx="6097800" cy="742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defTabSz="609630">
              <a:lnSpc>
                <a:spcPct val="140007"/>
              </a:lnSpc>
              <a:buClr>
                <a:srgbClr val="000000"/>
              </a:buClr>
            </a:pPr>
            <a:r>
              <a:rPr lang="en-US" sz="3446" kern="0" dirty="0">
                <a:solidFill>
                  <a:srgbClr val="00693D"/>
                </a:solidFill>
                <a:latin typeface="Anton"/>
                <a:ea typeface="Anton"/>
                <a:cs typeface="Anton"/>
                <a:sym typeface="Anton"/>
              </a:rPr>
              <a:t>Common issues: Variable type</a:t>
            </a:r>
            <a:endParaRPr sz="933" kern="0" dirty="0">
              <a:solidFill>
                <a:srgbClr val="000000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42" name="Google Shape;142;p26">
            <a:extLst>
              <a:ext uri="{FF2B5EF4-FFF2-40B4-BE49-F238E27FC236}">
                <a16:creationId xmlns:a16="http://schemas.microsoft.com/office/drawing/2014/main" id="{2F3A051B-5F40-BFD7-8FF7-3E32B6606D1E}"/>
              </a:ext>
            </a:extLst>
          </p:cNvPr>
          <p:cNvSpPr txBox="1"/>
          <p:nvPr/>
        </p:nvSpPr>
        <p:spPr>
          <a:xfrm>
            <a:off x="922202" y="1736904"/>
            <a:ext cx="3738698" cy="43216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006" kern="0" dirty="0">
              <a:solidFill>
                <a:srgbClr val="12312B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sz="2006" kern="0" dirty="0">
                <a:solidFill>
                  <a:srgbClr val="12312B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That’s not a date! Or is it…?</a:t>
            </a: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006" kern="0" dirty="0">
              <a:solidFill>
                <a:srgbClr val="12312B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sz="2006" kern="0" dirty="0">
                <a:solidFill>
                  <a:srgbClr val="12312B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Mix of text and numbers</a:t>
            </a: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006" kern="0" dirty="0">
              <a:solidFill>
                <a:srgbClr val="12312B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sz="2006" kern="0" dirty="0">
                <a:solidFill>
                  <a:srgbClr val="12312B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Numbers stored as text</a:t>
            </a: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006" kern="0" dirty="0">
              <a:solidFill>
                <a:srgbClr val="12312B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006" kern="0" dirty="0">
              <a:solidFill>
                <a:srgbClr val="12312B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006" kern="0" dirty="0">
              <a:solidFill>
                <a:srgbClr val="12312B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defTabSz="609630">
              <a:lnSpc>
                <a:spcPct val="140013"/>
              </a:lnSpc>
              <a:buClr>
                <a:srgbClr val="000000"/>
              </a:buClr>
            </a:pPr>
            <a:endParaRPr sz="2006" kern="0" dirty="0">
              <a:solidFill>
                <a:srgbClr val="12312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950B423-B96E-CCCC-564A-76064D7E0D44}"/>
              </a:ext>
            </a:extLst>
          </p:cNvPr>
          <p:cNvGraphicFramePr>
            <a:graphicFrameLocks noGrp="1"/>
          </p:cNvGraphicFramePr>
          <p:nvPr/>
        </p:nvGraphicFramePr>
        <p:xfrm>
          <a:off x="4794261" y="1966353"/>
          <a:ext cx="7159690" cy="4223855"/>
        </p:xfrm>
        <a:graphic>
          <a:graphicData uri="http://schemas.openxmlformats.org/drawingml/2006/table">
            <a:tbl>
              <a:tblPr/>
              <a:tblGrid>
                <a:gridCol w="429774">
                  <a:extLst>
                    <a:ext uri="{9D8B030D-6E8A-4147-A177-3AD203B41FA5}">
                      <a16:colId xmlns:a16="http://schemas.microsoft.com/office/drawing/2014/main" val="1733503779"/>
                    </a:ext>
                  </a:extLst>
                </a:gridCol>
                <a:gridCol w="975145">
                  <a:extLst>
                    <a:ext uri="{9D8B030D-6E8A-4147-A177-3AD203B41FA5}">
                      <a16:colId xmlns:a16="http://schemas.microsoft.com/office/drawing/2014/main" val="1259338926"/>
                    </a:ext>
                  </a:extLst>
                </a:gridCol>
                <a:gridCol w="795608">
                  <a:extLst>
                    <a:ext uri="{9D8B030D-6E8A-4147-A177-3AD203B41FA5}">
                      <a16:colId xmlns:a16="http://schemas.microsoft.com/office/drawing/2014/main" val="1191960394"/>
                    </a:ext>
                  </a:extLst>
                </a:gridCol>
                <a:gridCol w="1396620">
                  <a:extLst>
                    <a:ext uri="{9D8B030D-6E8A-4147-A177-3AD203B41FA5}">
                      <a16:colId xmlns:a16="http://schemas.microsoft.com/office/drawing/2014/main" val="3279598642"/>
                    </a:ext>
                  </a:extLst>
                </a:gridCol>
                <a:gridCol w="1063345">
                  <a:extLst>
                    <a:ext uri="{9D8B030D-6E8A-4147-A177-3AD203B41FA5}">
                      <a16:colId xmlns:a16="http://schemas.microsoft.com/office/drawing/2014/main" val="2003107669"/>
                    </a:ext>
                  </a:extLst>
                </a:gridCol>
                <a:gridCol w="1249599">
                  <a:extLst>
                    <a:ext uri="{9D8B030D-6E8A-4147-A177-3AD203B41FA5}">
                      <a16:colId xmlns:a16="http://schemas.microsoft.com/office/drawing/2014/main" val="3159217175"/>
                    </a:ext>
                  </a:extLst>
                </a:gridCol>
                <a:gridCol w="1249599">
                  <a:extLst>
                    <a:ext uri="{9D8B030D-6E8A-4147-A177-3AD203B41FA5}">
                      <a16:colId xmlns:a16="http://schemas.microsoft.com/office/drawing/2014/main" val="1466618672"/>
                    </a:ext>
                  </a:extLst>
                </a:gridCol>
              </a:tblGrid>
              <a:tr h="55071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ID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Date of Birth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Age (years)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Body Temperature (F)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Height (inches)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 Veggies (servings)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Consumes meat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1846329"/>
                  </a:ext>
                </a:extLst>
              </a:tr>
              <a:tr h="34693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5/1/1956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69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97.3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Yes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9559897"/>
                  </a:ext>
                </a:extLst>
              </a:tr>
              <a:tr h="55071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June 25, 1967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No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996288"/>
                  </a:ext>
                </a:extLst>
              </a:tr>
              <a:tr h="34693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04/29/03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97.4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69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yes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3650838"/>
                  </a:ext>
                </a:extLst>
              </a:tr>
              <a:tr h="34693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27170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97.0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1 or 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Y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306383"/>
                  </a:ext>
                </a:extLst>
              </a:tr>
              <a:tr h="34693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1/30/1998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99.3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Ys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0961974"/>
                  </a:ext>
                </a:extLst>
              </a:tr>
              <a:tr h="34693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6/21/1988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99.3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No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8574535"/>
                  </a:ext>
                </a:extLst>
              </a:tr>
              <a:tr h="34693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3/29/2002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37.0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Yes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4268281"/>
                  </a:ext>
                </a:extLst>
              </a:tr>
              <a:tr h="34693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11/16/2007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97.1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yes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6887652"/>
                  </a:ext>
                </a:extLst>
              </a:tr>
              <a:tr h="34693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4/24/1992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98.6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Unknown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YES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341734"/>
                  </a:ext>
                </a:extLst>
              </a:tr>
              <a:tr h="34693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11/26/2025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97.9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No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7545442"/>
                  </a:ext>
                </a:extLst>
              </a:tr>
            </a:tbl>
          </a:graphicData>
        </a:graphic>
      </p:graphicFrame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3A7F664-0B77-EEF0-E888-655EA8A37BA8}"/>
              </a:ext>
            </a:extLst>
          </p:cNvPr>
          <p:cNvSpPr/>
          <p:nvPr/>
        </p:nvSpPr>
        <p:spPr>
          <a:xfrm>
            <a:off x="5104702" y="2483141"/>
            <a:ext cx="1195431" cy="1690382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784DC76-4B73-A465-F797-8F7339CA691D}"/>
              </a:ext>
            </a:extLst>
          </p:cNvPr>
          <p:cNvSpPr/>
          <p:nvPr/>
        </p:nvSpPr>
        <p:spPr>
          <a:xfrm>
            <a:off x="9477735" y="2542407"/>
            <a:ext cx="1195431" cy="3765259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536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FA0FEBCC-0151-2C8A-F831-F60ED17DC2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9027F2C-64D6-B5C7-8D16-A7C8F92F4D5D}"/>
              </a:ext>
            </a:extLst>
          </p:cNvPr>
          <p:cNvSpPr/>
          <p:nvPr/>
        </p:nvSpPr>
        <p:spPr>
          <a:xfrm>
            <a:off x="6290733" y="3894667"/>
            <a:ext cx="4296834" cy="111336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9426A8F-52E2-2EB7-6F14-8D39032B76C8}"/>
              </a:ext>
            </a:extLst>
          </p:cNvPr>
          <p:cNvSpPr/>
          <p:nvPr/>
        </p:nvSpPr>
        <p:spPr>
          <a:xfrm>
            <a:off x="8271933" y="2497667"/>
            <a:ext cx="2468034" cy="24384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208FC21-A815-8CB6-DADF-94CF4118A77B}"/>
              </a:ext>
            </a:extLst>
          </p:cNvPr>
          <p:cNvGraphicFramePr>
            <a:graphicFrameLocks noGrp="1"/>
          </p:cNvGraphicFramePr>
          <p:nvPr/>
        </p:nvGraphicFramePr>
        <p:xfrm>
          <a:off x="6415088" y="2620963"/>
          <a:ext cx="4066644" cy="2297581"/>
        </p:xfrm>
        <a:graphic>
          <a:graphicData uri="http://schemas.openxmlformats.org/drawingml/2006/table">
            <a:tbl>
              <a:tblPr/>
              <a:tblGrid>
                <a:gridCol w="485868">
                  <a:extLst>
                    <a:ext uri="{9D8B030D-6E8A-4147-A177-3AD203B41FA5}">
                      <a16:colId xmlns:a16="http://schemas.microsoft.com/office/drawing/2014/main" val="931674383"/>
                    </a:ext>
                  </a:extLst>
                </a:gridCol>
                <a:gridCol w="1349811">
                  <a:extLst>
                    <a:ext uri="{9D8B030D-6E8A-4147-A177-3AD203B41FA5}">
                      <a16:colId xmlns:a16="http://schemas.microsoft.com/office/drawing/2014/main" val="2205553950"/>
                    </a:ext>
                  </a:extLst>
                </a:gridCol>
                <a:gridCol w="1248833">
                  <a:extLst>
                    <a:ext uri="{9D8B030D-6E8A-4147-A177-3AD203B41FA5}">
                      <a16:colId xmlns:a16="http://schemas.microsoft.com/office/drawing/2014/main" val="2642280183"/>
                    </a:ext>
                  </a:extLst>
                </a:gridCol>
                <a:gridCol w="982132">
                  <a:extLst>
                    <a:ext uri="{9D8B030D-6E8A-4147-A177-3AD203B41FA5}">
                      <a16:colId xmlns:a16="http://schemas.microsoft.com/office/drawing/2014/main" val="83217320"/>
                    </a:ext>
                  </a:extLst>
                </a:gridCol>
              </a:tblGrid>
              <a:tr h="55071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ID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Name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DOB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Zip code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6948755"/>
                  </a:ext>
                </a:extLst>
              </a:tr>
              <a:tr h="34693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John Smith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04/29/03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03755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9609139"/>
                  </a:ext>
                </a:extLst>
              </a:tr>
              <a:tr h="35912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John Smiths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04/29/03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03755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922448"/>
                  </a:ext>
                </a:extLst>
              </a:tr>
              <a:tr h="34693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John Smith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04/30/03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03755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615580"/>
                  </a:ext>
                </a:extLst>
              </a:tr>
              <a:tr h="34693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John Smith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04/29/03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03756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4098502"/>
                  </a:ext>
                </a:extLst>
              </a:tr>
              <a:tr h="34693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  <a:sym typeface="Arial"/>
                        </a:rPr>
                        <a:t>John Smith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lang="en-US" sz="1600" b="0" i="0" u="none" strike="noStrike" cap="non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03756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010107"/>
                  </a:ext>
                </a:extLst>
              </a:tr>
            </a:tbl>
          </a:graphicData>
        </a:graphic>
      </p:graphicFrame>
      <p:sp>
        <p:nvSpPr>
          <p:cNvPr id="141" name="Google Shape;141;p26">
            <a:extLst>
              <a:ext uri="{FF2B5EF4-FFF2-40B4-BE49-F238E27FC236}">
                <a16:creationId xmlns:a16="http://schemas.microsoft.com/office/drawing/2014/main" id="{C06A3873-F0C7-A23A-2421-C62C22260868}"/>
              </a:ext>
            </a:extLst>
          </p:cNvPr>
          <p:cNvSpPr txBox="1"/>
          <p:nvPr/>
        </p:nvSpPr>
        <p:spPr>
          <a:xfrm>
            <a:off x="957886" y="934671"/>
            <a:ext cx="6097800" cy="742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defTabSz="609630">
              <a:lnSpc>
                <a:spcPct val="140007"/>
              </a:lnSpc>
              <a:buClr>
                <a:srgbClr val="000000"/>
              </a:buClr>
            </a:pPr>
            <a:r>
              <a:rPr lang="en-US" sz="3446" kern="0" dirty="0">
                <a:solidFill>
                  <a:srgbClr val="00693D"/>
                </a:solidFill>
                <a:latin typeface="Anton"/>
                <a:ea typeface="Anton"/>
                <a:cs typeface="Anton"/>
                <a:sym typeface="Anton"/>
              </a:rPr>
              <a:t>Common Issues: Duplicates</a:t>
            </a:r>
            <a:endParaRPr sz="933" kern="0" dirty="0">
              <a:solidFill>
                <a:srgbClr val="000000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42" name="Google Shape;142;p26">
            <a:extLst>
              <a:ext uri="{FF2B5EF4-FFF2-40B4-BE49-F238E27FC236}">
                <a16:creationId xmlns:a16="http://schemas.microsoft.com/office/drawing/2014/main" id="{7DA6CD43-607E-06AE-3920-A5188C07A4D4}"/>
              </a:ext>
            </a:extLst>
          </p:cNvPr>
          <p:cNvSpPr txBox="1"/>
          <p:nvPr/>
        </p:nvSpPr>
        <p:spPr>
          <a:xfrm>
            <a:off x="922202" y="1736904"/>
            <a:ext cx="4543031" cy="3889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33260" lvl="1" indent="-216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006" dirty="0">
              <a:solidFill>
                <a:srgbClr val="12312B"/>
              </a:solidFill>
              <a:highlight>
                <a:srgbClr val="FFFF00"/>
              </a:highlight>
              <a:latin typeface="Archivo Medium"/>
              <a:ea typeface="Archivo Medium"/>
              <a:cs typeface="Archivo Medium"/>
              <a:sym typeface="Archivo Medium"/>
            </a:endParaRPr>
          </a:p>
          <a:p>
            <a:pPr marL="433260" lvl="1" indent="-216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sz="2006" dirty="0">
                <a:solidFill>
                  <a:srgbClr val="12312B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How are you defining duplicates?</a:t>
            </a:r>
          </a:p>
          <a:p>
            <a:pPr marL="866521" lvl="2" indent="-28884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⚬"/>
            </a:pPr>
            <a:r>
              <a:rPr lang="en-US" sz="2006" dirty="0">
                <a:solidFill>
                  <a:srgbClr val="12312B"/>
                </a:solidFill>
                <a:latin typeface="Archivo Medium"/>
                <a:sym typeface="Archivo Medium"/>
              </a:rPr>
              <a:t>Single variable – beware of typos</a:t>
            </a:r>
          </a:p>
          <a:p>
            <a:pPr marL="866521" lvl="2" indent="-28884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⚬"/>
            </a:pPr>
            <a:r>
              <a:rPr lang="en-US" sz="2006" dirty="0">
                <a:solidFill>
                  <a:srgbClr val="12312B"/>
                </a:solidFill>
                <a:latin typeface="Archivo Medium"/>
                <a:sym typeface="Archivo Medium"/>
              </a:rPr>
              <a:t>Combinations of variables</a:t>
            </a:r>
          </a:p>
          <a:p>
            <a:pPr marL="890460" lvl="2" indent="-216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006" dirty="0">
              <a:solidFill>
                <a:srgbClr val="12312B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marL="433260" lvl="1" indent="-216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sz="2006" dirty="0">
                <a:solidFill>
                  <a:srgbClr val="12312B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Duplicates may not be exact.</a:t>
            </a:r>
          </a:p>
          <a:p>
            <a:pPr marL="866521" lvl="2" indent="-28884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⚬"/>
            </a:pPr>
            <a:r>
              <a:rPr lang="en-US" sz="2006" dirty="0">
                <a:solidFill>
                  <a:srgbClr val="12312B"/>
                </a:solidFill>
                <a:latin typeface="Archivo Medium"/>
                <a:sym typeface="Archivo Medium"/>
              </a:rPr>
              <a:t>Different missing data</a:t>
            </a:r>
          </a:p>
          <a:p>
            <a:pPr marL="866521" lvl="2" indent="-28884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⚬"/>
            </a:pPr>
            <a:r>
              <a:rPr lang="en-US" sz="2006" dirty="0">
                <a:solidFill>
                  <a:srgbClr val="12312B"/>
                </a:solidFill>
                <a:latin typeface="Archivo Medium"/>
                <a:sym typeface="Archivo Medium"/>
              </a:rPr>
              <a:t>Conflicting values </a:t>
            </a:r>
          </a:p>
          <a:p>
            <a:pPr marL="433260" lvl="1" indent="-216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006" dirty="0">
              <a:solidFill>
                <a:srgbClr val="12312B"/>
              </a:solidFill>
              <a:highlight>
                <a:srgbClr val="FFFF00"/>
              </a:highlight>
              <a:latin typeface="Archivo Medium"/>
              <a:ea typeface="Archivo Medium"/>
              <a:cs typeface="Archivo Medium"/>
              <a:sym typeface="Archivo Medium"/>
            </a:endParaRPr>
          </a:p>
        </p:txBody>
      </p:sp>
    </p:spTree>
    <p:extLst>
      <p:ext uri="{BB962C8B-B14F-4D97-AF65-F5344CB8AC3E}">
        <p14:creationId xmlns:p14="http://schemas.microsoft.com/office/powerpoint/2010/main" val="3734553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  <p:extLst>
    <p:ext uri="{6950BFC3-D8DA-4A85-94F7-54DA5524770B}">
      <p188:commentRel xmlns:p188="http://schemas.microsoft.com/office/powerpoint/2018/8/main" r:id="rId3"/>
    </p:ext>
  </p:extLs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>
          <a:extLst>
            <a:ext uri="{FF2B5EF4-FFF2-40B4-BE49-F238E27FC236}">
              <a16:creationId xmlns:a16="http://schemas.microsoft.com/office/drawing/2014/main" id="{020D61C2-E8F4-8EA1-5531-1912B47079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5">
            <a:extLst>
              <a:ext uri="{FF2B5EF4-FFF2-40B4-BE49-F238E27FC236}">
                <a16:creationId xmlns:a16="http://schemas.microsoft.com/office/drawing/2014/main" id="{1DC6A1F0-07F8-E8BE-0E98-43CDCBADDBE4}"/>
              </a:ext>
            </a:extLst>
          </p:cNvPr>
          <p:cNvSpPr txBox="1"/>
          <p:nvPr/>
        </p:nvSpPr>
        <p:spPr>
          <a:xfrm>
            <a:off x="1751261" y="2607733"/>
            <a:ext cx="7305000" cy="1034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defTabSz="609630">
              <a:lnSpc>
                <a:spcPct val="139996"/>
              </a:lnSpc>
              <a:buClr>
                <a:srgbClr val="000000"/>
              </a:buClr>
            </a:pPr>
            <a:r>
              <a:rPr lang="en-US" sz="4800" kern="0" dirty="0">
                <a:solidFill>
                  <a:srgbClr val="A5D75F"/>
                </a:solidFill>
                <a:latin typeface="Anton"/>
                <a:ea typeface="Anton"/>
                <a:cs typeface="Anton"/>
                <a:sym typeface="Anton"/>
              </a:rPr>
              <a:t>Final thoughts on EDA</a:t>
            </a:r>
          </a:p>
        </p:txBody>
      </p:sp>
      <p:sp>
        <p:nvSpPr>
          <p:cNvPr id="135" name="Google Shape;135;p25">
            <a:extLst>
              <a:ext uri="{FF2B5EF4-FFF2-40B4-BE49-F238E27FC236}">
                <a16:creationId xmlns:a16="http://schemas.microsoft.com/office/drawing/2014/main" id="{6B4E2796-A737-8D58-8B27-14C18AE935FB}"/>
              </a:ext>
            </a:extLst>
          </p:cNvPr>
          <p:cNvSpPr/>
          <p:nvPr/>
        </p:nvSpPr>
        <p:spPr>
          <a:xfrm>
            <a:off x="1038079" y="3552091"/>
            <a:ext cx="9242621" cy="780393"/>
          </a:xfrm>
          <a:custGeom>
            <a:avLst/>
            <a:gdLst/>
            <a:ahLst/>
            <a:cxnLst/>
            <a:rect l="l" t="t" r="r" b="b"/>
            <a:pathLst>
              <a:path w="6287497" h="938348" extrusionOk="0">
                <a:moveTo>
                  <a:pt x="0" y="0"/>
                </a:moveTo>
                <a:lnTo>
                  <a:pt x="6287496" y="0"/>
                </a:lnTo>
                <a:lnTo>
                  <a:pt x="6287496" y="938349"/>
                </a:lnTo>
                <a:lnTo>
                  <a:pt x="0" y="9383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pPr defTabSz="609630">
              <a:buClr>
                <a:srgbClr val="000000"/>
              </a:buClr>
            </a:pPr>
            <a:endParaRPr lang="en-US" sz="933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2300249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>
          <a:extLst>
            <a:ext uri="{FF2B5EF4-FFF2-40B4-BE49-F238E27FC236}">
              <a16:creationId xmlns:a16="http://schemas.microsoft.com/office/drawing/2014/main" id="{11A97247-DC34-3650-7569-11C43584B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6">
            <a:extLst>
              <a:ext uri="{FF2B5EF4-FFF2-40B4-BE49-F238E27FC236}">
                <a16:creationId xmlns:a16="http://schemas.microsoft.com/office/drawing/2014/main" id="{AAD7AB34-A11C-5BF1-486B-13E9D96AD10D}"/>
              </a:ext>
            </a:extLst>
          </p:cNvPr>
          <p:cNvSpPr txBox="1"/>
          <p:nvPr/>
        </p:nvSpPr>
        <p:spPr>
          <a:xfrm>
            <a:off x="922202" y="1157695"/>
            <a:ext cx="6097800" cy="742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defTabSz="609630">
              <a:lnSpc>
                <a:spcPct val="140007"/>
              </a:lnSpc>
              <a:buClr>
                <a:srgbClr val="000000"/>
              </a:buClr>
            </a:pPr>
            <a:r>
              <a:rPr lang="en-US" sz="3446" kern="0" dirty="0">
                <a:solidFill>
                  <a:srgbClr val="00693D"/>
                </a:solidFill>
                <a:latin typeface="Anton"/>
                <a:ea typeface="Anton"/>
                <a:cs typeface="Anton"/>
                <a:sym typeface="Anton"/>
              </a:rPr>
              <a:t>Final points</a:t>
            </a:r>
            <a:endParaRPr sz="933" kern="0" dirty="0">
              <a:solidFill>
                <a:srgbClr val="000000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42" name="Google Shape;142;p26">
            <a:extLst>
              <a:ext uri="{FF2B5EF4-FFF2-40B4-BE49-F238E27FC236}">
                <a16:creationId xmlns:a16="http://schemas.microsoft.com/office/drawing/2014/main" id="{91D3541C-506E-0877-E5B2-85227D4FDD72}"/>
              </a:ext>
            </a:extLst>
          </p:cNvPr>
          <p:cNvSpPr txBox="1"/>
          <p:nvPr/>
        </p:nvSpPr>
        <p:spPr>
          <a:xfrm>
            <a:off x="922202" y="1736904"/>
            <a:ext cx="9776400" cy="4277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dirty="0"/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sz="2006" kern="0" dirty="0">
                <a:solidFill>
                  <a:srgbClr val="12312B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We explored a framework for EDA and some common dataset features to examine.</a:t>
            </a:r>
          </a:p>
          <a:p>
            <a:pPr marL="216630" lvl="1" defTabSz="609630">
              <a:lnSpc>
                <a:spcPct val="140013"/>
              </a:lnSpc>
              <a:buClr>
                <a:srgbClr val="12312B"/>
              </a:buClr>
              <a:buSzPts val="3009"/>
            </a:pPr>
            <a:endParaRPr lang="en-US" sz="2006" kern="0" dirty="0">
              <a:solidFill>
                <a:srgbClr val="12312B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sz="2006" kern="0" dirty="0">
                <a:solidFill>
                  <a:srgbClr val="12312B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Your exploration will almost certainly lead to discoveries unique to your dataset that require further exploration.</a:t>
            </a: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006" kern="0" dirty="0">
              <a:solidFill>
                <a:srgbClr val="12312B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r>
              <a:rPr lang="en-US" sz="2006" kern="0" dirty="0">
                <a:solidFill>
                  <a:srgbClr val="12312B"/>
                </a:solidFill>
                <a:latin typeface="Archivo Medium"/>
                <a:ea typeface="Archivo Medium"/>
                <a:cs typeface="Archivo Medium"/>
                <a:sym typeface="Archivo Medium"/>
              </a:rPr>
              <a:t>EDA is an ongoing process – you may discover things later in the process that require you to investigate further.</a:t>
            </a:r>
          </a:p>
          <a:p>
            <a:pPr marL="433260" lvl="1" indent="-216630" defTabSz="609630">
              <a:lnSpc>
                <a:spcPct val="140013"/>
              </a:lnSpc>
              <a:buClr>
                <a:srgbClr val="12312B"/>
              </a:buClr>
              <a:buSzPts val="3009"/>
              <a:buFont typeface="Archivo Medium"/>
              <a:buChar char="•"/>
            </a:pPr>
            <a:endParaRPr lang="en-US" sz="2006" kern="0" dirty="0">
              <a:solidFill>
                <a:srgbClr val="12312B"/>
              </a:solidFill>
              <a:latin typeface="Archivo Medium"/>
              <a:ea typeface="Archivo Medium"/>
              <a:cs typeface="Archivo Medium"/>
              <a:sym typeface="Archivo Medium"/>
            </a:endParaRPr>
          </a:p>
          <a:p>
            <a:pPr defTabSz="609630">
              <a:lnSpc>
                <a:spcPct val="140013"/>
              </a:lnSpc>
              <a:buClr>
                <a:srgbClr val="000000"/>
              </a:buClr>
            </a:pPr>
            <a:endParaRPr sz="2006" kern="0" dirty="0">
              <a:solidFill>
                <a:srgbClr val="12312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2303599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>
          <a:extLst>
            <a:ext uri="{FF2B5EF4-FFF2-40B4-BE49-F238E27FC236}">
              <a16:creationId xmlns:a16="http://schemas.microsoft.com/office/drawing/2014/main" id="{0C4EC0DB-9F90-755B-896D-AD181A95B8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5">
            <a:extLst>
              <a:ext uri="{FF2B5EF4-FFF2-40B4-BE49-F238E27FC236}">
                <a16:creationId xmlns:a16="http://schemas.microsoft.com/office/drawing/2014/main" id="{CCE112CE-C251-66C3-39B4-D6754ED604A0}"/>
              </a:ext>
            </a:extLst>
          </p:cNvPr>
          <p:cNvSpPr txBox="1"/>
          <p:nvPr/>
        </p:nvSpPr>
        <p:spPr>
          <a:xfrm>
            <a:off x="1736521" y="2286001"/>
            <a:ext cx="8439325" cy="2585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defTabSz="609630">
              <a:lnSpc>
                <a:spcPct val="139996"/>
              </a:lnSpc>
              <a:buClr>
                <a:srgbClr val="000000"/>
              </a:buClr>
            </a:pPr>
            <a:r>
              <a:rPr lang="en-US" sz="6000" kern="0" dirty="0">
                <a:solidFill>
                  <a:srgbClr val="A5D75F"/>
                </a:solidFill>
                <a:latin typeface="Anton"/>
                <a:ea typeface="Anton"/>
                <a:cs typeface="Anton"/>
                <a:sym typeface="Anton"/>
              </a:rPr>
              <a:t>What questions do you still have about EDA?</a:t>
            </a:r>
            <a:endParaRPr sz="200" kern="0" dirty="0">
              <a:solidFill>
                <a:srgbClr val="A5D75F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35" name="Google Shape;135;p25">
            <a:extLst>
              <a:ext uri="{FF2B5EF4-FFF2-40B4-BE49-F238E27FC236}">
                <a16:creationId xmlns:a16="http://schemas.microsoft.com/office/drawing/2014/main" id="{65C5C9AB-1210-9E25-4E57-FCAF6C1798A3}"/>
              </a:ext>
            </a:extLst>
          </p:cNvPr>
          <p:cNvSpPr/>
          <p:nvPr/>
        </p:nvSpPr>
        <p:spPr>
          <a:xfrm>
            <a:off x="1365250" y="4525214"/>
            <a:ext cx="9242621" cy="780393"/>
          </a:xfrm>
          <a:custGeom>
            <a:avLst/>
            <a:gdLst/>
            <a:ahLst/>
            <a:cxnLst/>
            <a:rect l="l" t="t" r="r" b="b"/>
            <a:pathLst>
              <a:path w="6287497" h="938348" extrusionOk="0">
                <a:moveTo>
                  <a:pt x="0" y="0"/>
                </a:moveTo>
                <a:lnTo>
                  <a:pt x="6287496" y="0"/>
                </a:lnTo>
                <a:lnTo>
                  <a:pt x="6287496" y="938349"/>
                </a:lnTo>
                <a:lnTo>
                  <a:pt x="0" y="9383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pPr defTabSz="609630">
              <a:buClr>
                <a:srgbClr val="000000"/>
              </a:buClr>
            </a:pPr>
            <a:endParaRPr lang="en-US" sz="933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266537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DLVI theme 1">
  <a:themeElements>
    <a:clrScheme name="Office">
      <a:dk1>
        <a:srgbClr val="12312B"/>
      </a:dk1>
      <a:lt1>
        <a:srgbClr val="FFFFFF"/>
      </a:lt1>
      <a:dk2>
        <a:srgbClr val="00693D"/>
      </a:dk2>
      <a:lt2>
        <a:srgbClr val="000000"/>
      </a:lt2>
      <a:accent1>
        <a:srgbClr val="A5D75F"/>
      </a:accent1>
      <a:accent2>
        <a:srgbClr val="00693D"/>
      </a:accent2>
      <a:accent3>
        <a:srgbClr val="12312B"/>
      </a:accent3>
      <a:accent4>
        <a:srgbClr val="C3E7FF"/>
      </a:accent4>
      <a:accent5>
        <a:srgbClr val="F5DC69"/>
      </a:accent5>
      <a:accent6>
        <a:srgbClr val="FFFFFF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1331</TotalTime>
  <Words>3057</Words>
  <Application>Microsoft Office PowerPoint</Application>
  <PresentationFormat>Widescreen</PresentationFormat>
  <Paragraphs>1427</Paragraphs>
  <Slides>45</Slides>
  <Notes>44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45</vt:i4>
      </vt:variant>
    </vt:vector>
  </HeadingPairs>
  <TitlesOfParts>
    <vt:vector size="58" baseType="lpstr">
      <vt:lpstr>Anton</vt:lpstr>
      <vt:lpstr>Aptos</vt:lpstr>
      <vt:lpstr>Aptos Display</vt:lpstr>
      <vt:lpstr>Aptos Narrow</vt:lpstr>
      <vt:lpstr>Archivo</vt:lpstr>
      <vt:lpstr>Archivo ExtraBold</vt:lpstr>
      <vt:lpstr>Archivo Medium</vt:lpstr>
      <vt:lpstr>Archivo SemiBold</vt:lpstr>
      <vt:lpstr>Arial</vt:lpstr>
      <vt:lpstr>Calibri</vt:lpstr>
      <vt:lpstr>Wingdings</vt:lpstr>
      <vt:lpstr>Office Theme</vt:lpstr>
      <vt:lpstr>DLVI theme 1</vt:lpstr>
      <vt:lpstr>PowerPoint Presentation</vt:lpstr>
      <vt:lpstr>PowerPoint Presentation</vt:lpstr>
      <vt:lpstr>POLL 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Katie Owers Bonner</dc:creator>
  <cp:lastModifiedBy>Katie Owers Bonner</cp:lastModifiedBy>
  <cp:revision>1</cp:revision>
  <dcterms:created xsi:type="dcterms:W3CDTF">2025-09-16T18:18:09Z</dcterms:created>
  <dcterms:modified xsi:type="dcterms:W3CDTF">2026-08-18T15:51:47Z</dcterms:modified>
</cp:coreProperties>
</file>