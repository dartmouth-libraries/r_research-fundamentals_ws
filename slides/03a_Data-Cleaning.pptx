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5A_EE3B0802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</p:sldMasterIdLst>
  <p:notesMasterIdLst>
    <p:notesMasterId r:id="rId43"/>
  </p:notesMasterIdLst>
  <p:sldIdLst>
    <p:sldId id="299" r:id="rId3"/>
    <p:sldId id="272" r:id="rId4"/>
    <p:sldId id="350" r:id="rId5"/>
    <p:sldId id="352" r:id="rId6"/>
    <p:sldId id="344" r:id="rId7"/>
    <p:sldId id="313" r:id="rId8"/>
    <p:sldId id="345" r:id="rId9"/>
    <p:sldId id="319" r:id="rId10"/>
    <p:sldId id="320" r:id="rId11"/>
    <p:sldId id="321" r:id="rId12"/>
    <p:sldId id="314" r:id="rId13"/>
    <p:sldId id="267" r:id="rId14"/>
    <p:sldId id="265" r:id="rId15"/>
    <p:sldId id="346" r:id="rId16"/>
    <p:sldId id="348" r:id="rId17"/>
    <p:sldId id="347" r:id="rId18"/>
    <p:sldId id="338" r:id="rId19"/>
    <p:sldId id="341" r:id="rId20"/>
    <p:sldId id="268" r:id="rId21"/>
    <p:sldId id="308" r:id="rId22"/>
    <p:sldId id="328" r:id="rId23"/>
    <p:sldId id="322" r:id="rId24"/>
    <p:sldId id="323" r:id="rId25"/>
    <p:sldId id="329" r:id="rId26"/>
    <p:sldId id="324" r:id="rId27"/>
    <p:sldId id="331" r:id="rId28"/>
    <p:sldId id="349" r:id="rId29"/>
    <p:sldId id="325" r:id="rId30"/>
    <p:sldId id="327" r:id="rId31"/>
    <p:sldId id="333" r:id="rId32"/>
    <p:sldId id="332" r:id="rId33"/>
    <p:sldId id="334" r:id="rId34"/>
    <p:sldId id="340" r:id="rId35"/>
    <p:sldId id="335" r:id="rId36"/>
    <p:sldId id="317" r:id="rId37"/>
    <p:sldId id="311" r:id="rId38"/>
    <p:sldId id="294" r:id="rId39"/>
    <p:sldId id="275" r:id="rId40"/>
    <p:sldId id="351" r:id="rId41"/>
    <p:sldId id="30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D1CE9B-DF25-4FEC-06DE-212637DD9CB8}" name="Katie Owers Bonner" initials="KO" userId="S::f008496@dartmouth.edu::031be739-2ca3-49bb-9134-32c5274b02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58718-7EC1-4BA1-94E9-11E2E28DA38A}" v="91" dt="2026-09-01T19:35:37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94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ie Owers Bonner" userId="031be739-2ca3-49bb-9134-32c5274b029d" providerId="ADAL" clId="{A2AFF3C0-B35D-4D35-896C-645D8DA4EEB0}"/>
    <pc:docChg chg="undo custSel addSld delSld modSld sldOrd">
      <pc:chgData name="Katie Owers Bonner" userId="031be739-2ca3-49bb-9134-32c5274b029d" providerId="ADAL" clId="{A2AFF3C0-B35D-4D35-896C-645D8DA4EEB0}" dt="2026-09-01T19:36:35.061" v="2453" actId="14100"/>
      <pc:docMkLst>
        <pc:docMk/>
      </pc:docMkLst>
      <pc:sldChg chg="modSp modAnim">
        <pc:chgData name="Katie Owers Bonner" userId="031be739-2ca3-49bb-9134-32c5274b029d" providerId="ADAL" clId="{A2AFF3C0-B35D-4D35-896C-645D8DA4EEB0}" dt="2026-09-01T19:33:52.750" v="2349" actId="20577"/>
        <pc:sldMkLst>
          <pc:docMk/>
          <pc:sldMk cId="2061279562" sldId="267"/>
        </pc:sldMkLst>
        <pc:spChg chg="mod">
          <ac:chgData name="Katie Owers Bonner" userId="031be739-2ca3-49bb-9134-32c5274b029d" providerId="ADAL" clId="{A2AFF3C0-B35D-4D35-896C-645D8DA4EEB0}" dt="2026-09-01T19:33:52.750" v="2349" actId="20577"/>
          <ac:spMkLst>
            <pc:docMk/>
            <pc:sldMk cId="2061279562" sldId="267"/>
            <ac:spMk id="142" creationId="{2F69E860-2826-C663-75C7-D65490E0A9CA}"/>
          </ac:spMkLst>
        </pc:spChg>
      </pc:sldChg>
      <pc:sldChg chg="modSp mod modAnim">
        <pc:chgData name="Katie Owers Bonner" userId="031be739-2ca3-49bb-9134-32c5274b029d" providerId="ADAL" clId="{A2AFF3C0-B35D-4D35-896C-645D8DA4EEB0}" dt="2026-09-01T19:31:07.771" v="2258" actId="20577"/>
        <pc:sldMkLst>
          <pc:docMk/>
          <pc:sldMk cId="4126705857" sldId="272"/>
        </pc:sldMkLst>
        <pc:spChg chg="mod">
          <ac:chgData name="Katie Owers Bonner" userId="031be739-2ca3-49bb-9134-32c5274b029d" providerId="ADAL" clId="{A2AFF3C0-B35D-4D35-896C-645D8DA4EEB0}" dt="2026-08-24T17:33:58.090" v="2087" actId="20577"/>
          <ac:spMkLst>
            <pc:docMk/>
            <pc:sldMk cId="4126705857" sldId="272"/>
            <ac:spMk id="141" creationId="{E1BF5683-D6F4-7C8F-FD88-A6220438308F}"/>
          </ac:spMkLst>
        </pc:spChg>
        <pc:spChg chg="mod">
          <ac:chgData name="Katie Owers Bonner" userId="031be739-2ca3-49bb-9134-32c5274b029d" providerId="ADAL" clId="{A2AFF3C0-B35D-4D35-896C-645D8DA4EEB0}" dt="2026-09-01T19:31:07.771" v="2258" actId="20577"/>
          <ac:spMkLst>
            <pc:docMk/>
            <pc:sldMk cId="4126705857" sldId="272"/>
            <ac:spMk id="142" creationId="{1F33F10C-E37B-AAC3-E67B-2ECA203B4738}"/>
          </ac:spMkLst>
        </pc:spChg>
      </pc:sldChg>
      <pc:sldChg chg="modSp mod">
        <pc:chgData name="Katie Owers Bonner" userId="031be739-2ca3-49bb-9134-32c5274b029d" providerId="ADAL" clId="{A2AFF3C0-B35D-4D35-896C-645D8DA4EEB0}" dt="2026-09-01T19:36:35.061" v="2453" actId="14100"/>
        <pc:sldMkLst>
          <pc:docMk/>
          <pc:sldMk cId="3423002498" sldId="294"/>
        </pc:sldMkLst>
        <pc:spChg chg="mod">
          <ac:chgData name="Katie Owers Bonner" userId="031be739-2ca3-49bb-9134-32c5274b029d" providerId="ADAL" clId="{A2AFF3C0-B35D-4D35-896C-645D8DA4EEB0}" dt="2026-09-01T19:36:32.712" v="2452" actId="14100"/>
          <ac:spMkLst>
            <pc:docMk/>
            <pc:sldMk cId="3423002498" sldId="294"/>
            <ac:spMk id="134" creationId="{1DC6A1F0-07F8-E8BE-0E98-43CDCBADDBE4}"/>
          </ac:spMkLst>
        </pc:spChg>
        <pc:spChg chg="mod">
          <ac:chgData name="Katie Owers Bonner" userId="031be739-2ca3-49bb-9134-32c5274b029d" providerId="ADAL" clId="{A2AFF3C0-B35D-4D35-896C-645D8DA4EEB0}" dt="2026-09-01T19:36:35.061" v="2453" actId="14100"/>
          <ac:spMkLst>
            <pc:docMk/>
            <pc:sldMk cId="3423002498" sldId="294"/>
            <ac:spMk id="135" creationId="{6B4E2796-A737-8D58-8B27-14C18AE935FB}"/>
          </ac:spMkLst>
        </pc:spChg>
      </pc:sldChg>
      <pc:sldChg chg="addSp delSp modSp mod modNotesTx">
        <pc:chgData name="Katie Owers Bonner" userId="031be739-2ca3-49bb-9134-32c5274b029d" providerId="ADAL" clId="{A2AFF3C0-B35D-4D35-896C-645D8DA4EEB0}" dt="2026-08-24T17:33:33.918" v="2066" actId="1076"/>
        <pc:sldMkLst>
          <pc:docMk/>
          <pc:sldMk cId="0" sldId="299"/>
        </pc:sldMkLst>
        <pc:spChg chg="mod">
          <ac:chgData name="Katie Owers Bonner" userId="031be739-2ca3-49bb-9134-32c5274b029d" providerId="ADAL" clId="{A2AFF3C0-B35D-4D35-896C-645D8DA4EEB0}" dt="2026-08-24T17:33:33.918" v="2066" actId="1076"/>
          <ac:spMkLst>
            <pc:docMk/>
            <pc:sldMk cId="0" sldId="299"/>
            <ac:spMk id="109" creationId="{00000000-0000-0000-0000-000000000000}"/>
          </ac:spMkLst>
        </pc:spChg>
        <pc:spChg chg="mod">
          <ac:chgData name="Katie Owers Bonner" userId="031be739-2ca3-49bb-9134-32c5274b029d" providerId="ADAL" clId="{A2AFF3C0-B35D-4D35-896C-645D8DA4EEB0}" dt="2026-08-24T17:33:30.348" v="2065" actId="6549"/>
          <ac:spMkLst>
            <pc:docMk/>
            <pc:sldMk cId="0" sldId="299"/>
            <ac:spMk id="111" creationId="{00000000-0000-0000-0000-000000000000}"/>
          </ac:spMkLst>
        </pc:spChg>
      </pc:sldChg>
      <pc:sldChg chg="ord">
        <pc:chgData name="Katie Owers Bonner" userId="031be739-2ca3-49bb-9134-32c5274b029d" providerId="ADAL" clId="{A2AFF3C0-B35D-4D35-896C-645D8DA4EEB0}" dt="2026-09-01T19:33:21.756" v="2340"/>
        <pc:sldMkLst>
          <pc:docMk/>
          <pc:sldMk cId="268256856" sldId="313"/>
        </pc:sldMkLst>
      </pc:sldChg>
      <pc:sldChg chg="modSp modAnim">
        <pc:chgData name="Katie Owers Bonner" userId="031be739-2ca3-49bb-9134-32c5274b029d" providerId="ADAL" clId="{A2AFF3C0-B35D-4D35-896C-645D8DA4EEB0}" dt="2026-09-01T19:35:37.743" v="2428" actId="20577"/>
        <pc:sldMkLst>
          <pc:docMk/>
          <pc:sldMk cId="93676154" sldId="324"/>
        </pc:sldMkLst>
        <pc:spChg chg="mod">
          <ac:chgData name="Katie Owers Bonner" userId="031be739-2ca3-49bb-9134-32c5274b029d" providerId="ADAL" clId="{A2AFF3C0-B35D-4D35-896C-645D8DA4EEB0}" dt="2026-09-01T19:35:37.743" v="2428" actId="20577"/>
          <ac:spMkLst>
            <pc:docMk/>
            <pc:sldMk cId="93676154" sldId="324"/>
            <ac:spMk id="142" creationId="{07517885-9BE0-0CC6-6385-AAF2780B6345}"/>
          </ac:spMkLst>
        </pc:spChg>
      </pc:sldChg>
      <pc:sldChg chg="del">
        <pc:chgData name="Katie Owers Bonner" userId="031be739-2ca3-49bb-9134-32c5274b029d" providerId="ADAL" clId="{A2AFF3C0-B35D-4D35-896C-645D8DA4EEB0}" dt="2026-09-01T19:31:31.282" v="2260" actId="47"/>
        <pc:sldMkLst>
          <pc:docMk/>
          <pc:sldMk cId="252961357" sldId="343"/>
        </pc:sldMkLst>
      </pc:sldChg>
      <pc:sldChg chg="modSp add mod modNotesTx">
        <pc:chgData name="Katie Owers Bonner" userId="031be739-2ca3-49bb-9134-32c5274b029d" providerId="ADAL" clId="{A2AFF3C0-B35D-4D35-896C-645D8DA4EEB0}" dt="2026-09-01T19:32:29.676" v="2300" actId="6549"/>
        <pc:sldMkLst>
          <pc:docMk/>
          <pc:sldMk cId="3846199407" sldId="350"/>
        </pc:sldMkLst>
        <pc:spChg chg="mod">
          <ac:chgData name="Katie Owers Bonner" userId="031be739-2ca3-49bb-9134-32c5274b029d" providerId="ADAL" clId="{A2AFF3C0-B35D-4D35-896C-645D8DA4EEB0}" dt="2026-09-01T19:32:10.370" v="2286" actId="20577"/>
          <ac:spMkLst>
            <pc:docMk/>
            <pc:sldMk cId="3846199407" sldId="350"/>
            <ac:spMk id="2" creationId="{57C72DAA-917E-D646-280E-7B21E371B887}"/>
          </ac:spMkLst>
        </pc:spChg>
      </pc:sldChg>
      <pc:sldChg chg="add">
        <pc:chgData name="Katie Owers Bonner" userId="031be739-2ca3-49bb-9134-32c5274b029d" providerId="ADAL" clId="{A2AFF3C0-B35D-4D35-896C-645D8DA4EEB0}" dt="2026-09-01T19:32:35.809" v="2301"/>
        <pc:sldMkLst>
          <pc:docMk/>
          <pc:sldMk cId="1411781022" sldId="351"/>
        </pc:sldMkLst>
      </pc:sldChg>
      <pc:sldChg chg="add ord">
        <pc:chgData name="Katie Owers Bonner" userId="031be739-2ca3-49bb-9134-32c5274b029d" providerId="ADAL" clId="{A2AFF3C0-B35D-4D35-896C-645D8DA4EEB0}" dt="2026-09-01T19:32:49.971" v="2304"/>
        <pc:sldMkLst>
          <pc:docMk/>
          <pc:sldMk cId="2972185394" sldId="352"/>
        </pc:sldMkLst>
      </pc:sldChg>
      <pc:sldChg chg="modSp add del mod ord">
        <pc:chgData name="Katie Owers Bonner" userId="031be739-2ca3-49bb-9134-32c5274b029d" providerId="ADAL" clId="{A2AFF3C0-B35D-4D35-896C-645D8DA4EEB0}" dt="2026-09-01T19:33:23.190" v="2341" actId="47"/>
        <pc:sldMkLst>
          <pc:docMk/>
          <pc:sldMk cId="1332999232" sldId="353"/>
        </pc:sldMkLst>
        <pc:spChg chg="mod">
          <ac:chgData name="Katie Owers Bonner" userId="031be739-2ca3-49bb-9134-32c5274b029d" providerId="ADAL" clId="{A2AFF3C0-B35D-4D35-896C-645D8DA4EEB0}" dt="2026-09-01T19:33:02.652" v="2337" actId="20577"/>
          <ac:spMkLst>
            <pc:docMk/>
            <pc:sldMk cId="1332999232" sldId="353"/>
            <ac:spMk id="134" creationId="{AEFC1B03-EB6E-7013-558E-E1A5E260A541}"/>
          </ac:spMkLst>
        </pc:spChg>
        <pc:spChg chg="mod">
          <ac:chgData name="Katie Owers Bonner" userId="031be739-2ca3-49bb-9134-32c5274b029d" providerId="ADAL" clId="{A2AFF3C0-B35D-4D35-896C-645D8DA4EEB0}" dt="2026-09-01T19:33:06.526" v="2338" actId="1076"/>
          <ac:spMkLst>
            <pc:docMk/>
            <pc:sldMk cId="1332999232" sldId="353"/>
            <ac:spMk id="135" creationId="{27C37B2B-A165-ED87-47C5-9789B934C931}"/>
          </ac:spMkLst>
        </pc:spChg>
      </pc:sldChg>
      <pc:sldMasterChg chg="delSldLayout">
        <pc:chgData name="Katie Owers Bonner" userId="031be739-2ca3-49bb-9134-32c5274b029d" providerId="ADAL" clId="{A2AFF3C0-B35D-4D35-896C-645D8DA4EEB0}" dt="2026-08-24T17:34:29.725" v="2092" actId="47"/>
        <pc:sldMasterMkLst>
          <pc:docMk/>
          <pc:sldMasterMk cId="2621704862" sldId="2147483661"/>
        </pc:sldMasterMkLst>
      </pc:sldMasterChg>
    </pc:docChg>
  </pc:docChgLst>
</pc:chgInfo>
</file>

<file path=ppt/comments/modernComment_15A_EE3B08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E73A72-6E4D-4BD8-BAEC-35D98471EF5D}" authorId="{45D1CE9B-DF25-4FEC-06DE-212637DD9CB8}" created="2026-02-04T20:47:29.252">
    <pc:sldMkLst xmlns:pc="http://schemas.microsoft.com/office/powerpoint/2013/main/command">
      <pc:docMk/>
      <pc:sldMk cId="3996846082" sldId="346"/>
    </pc:sldMkLst>
    <p188:txBody>
      <a:bodyPr/>
      <a:lstStyle/>
      <a:p>
        <a:r>
          <a:rPr lang="en-US"/>
          <a:t>Does all this really need to be in a data cleaning plan? Technically no, but a lot of it is the methods for your paper and you better write it up now!
Also include some notes around actual format for a plan.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BCB6A-05C9-45C4-8C56-4DA0982723A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D22BE-BF9C-4E75-AC94-2D675188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3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9DADC13-2699-00A3-93AF-6AD01578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E64E48B-396E-256A-5BCB-5142DD864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A2869BC7-2B47-AF38-88CF-ED7B8FCE6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49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2BA011E6-134D-151C-AD28-4AA22971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>
            <a:extLst>
              <a:ext uri="{FF2B5EF4-FFF2-40B4-BE49-F238E27FC236}">
                <a16:creationId xmlns:a16="http://schemas.microsoft.com/office/drawing/2014/main" id="{4EFC36F4-02D7-B6FE-07B6-86360A788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endParaRPr lang="en-US" dirty="0"/>
          </a:p>
        </p:txBody>
      </p:sp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236D2ACB-930C-5EAA-9C08-7FC1B2632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453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69BC706B-0588-BCA5-7FA1-99C780C9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07E39956-98A3-7608-6816-7F2D3C808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2D6B694C-2E47-EB98-08A7-8D2760A74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0194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2C8219D7-4798-73BC-5B9F-12402100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2A13A83-1059-303F-DB12-FBC39FB25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 this flow is specific to the data aspects of a project and does not include critical steps like literature review and hypothesis formulation.</a:t>
            </a: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120B126-7495-ED4D-95AF-D053BF1C5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950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5C9CD10-B1D8-F984-603A-94E0DF04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342396D7-6680-CCFA-F959-A128CA0B8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584595CD-9CB7-C7DF-B951-B98CC236F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017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78C52EB6-2D3F-AF79-4B36-0DF0B517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67B53D28-698F-7DD1-132D-81D4829F4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B8FF7BE5-9AD8-95EB-E69D-4A0E1BE95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7330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5E11266-FFFC-1EF7-9479-703E6273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18E8E83D-E9A7-FDD9-A2E1-323BC54F8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0094A2E9-18CD-117D-9253-D5AC65A7C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2205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91B16884-5DDA-B725-FDAC-E0FDD775F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271D533D-169D-DB16-3C1B-636D8A1F1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CB2A4DEA-5D1E-5A1A-A186-672BA33B2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148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45F5EA07-4FA7-449B-9D81-3CC24B6BA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822484A4-174A-01B5-C872-324521328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C22681AC-57A0-B74D-D772-B3C80D3F4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8111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7A1C29E6-2799-F118-C643-AD68C243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A8023850-606F-DF49-FB00-80D629076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A3546773-DC1F-37ED-290D-41039DE57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7675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66D1B45-C487-456F-3513-9E164811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C2ACC48-826E-E3C4-9783-BC75D7126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6617B4F1-1254-F7A1-2203-C8154A6DB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809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96582AB9-6D74-E616-F6B6-75088279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A93988E6-F327-97EC-48C9-5E6298183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3A5A555C-26E8-45EA-3959-84B856D24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193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BE605C52-DE78-342E-B9BD-85303DD9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C9660C08-CF41-1F7C-4CDF-C8071F1FE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A727A34D-974D-47FE-9435-248C8EAE2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82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B607FA2D-7421-1FA1-9823-6A7C8801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3FD08A97-9F89-9C9E-7796-E294276AF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A737919C-6988-46E7-AE01-79DC1CF24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0400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88FD33D5-EE2F-7674-3583-DCDBF3A48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BC4D0CC5-1FB5-1539-D75A-A8D57629F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E344FD0E-A123-F6D0-8FF9-7622FF3BA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0013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621DFD82-9AC2-3BF4-2ACC-FA71DB01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F24D16EC-63C3-CC25-7D17-27A56DD43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CB582732-8FEA-478F-CF52-C286AE8DA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16706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35E225E-1B92-CA9F-0560-28A822AD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A44A782-D005-4404-4F2B-8DB8F8107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81A84CFD-48CA-2EDA-83E8-4E69A14E5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9347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0CE8FB2-26C4-E546-C125-EA847917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CE3747A9-DABF-8EBD-798F-65E6D1BAF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73AD0362-6D3A-4A48-A103-874E0F238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697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C79FC01-969A-D1A8-A542-22A7ABB7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A558048C-2FA8-3DFC-7A85-19A47431B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84BD6AAF-9C22-032B-EFF3-5922AA206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43520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2A1754A-51A5-9F58-112A-86DBBA1E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0C7FD93E-2FAD-FB21-D17A-5312075E9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5D229880-A537-9E71-4BDA-D1A1EEABB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4999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D8A0EC1-9569-9B7B-A1E1-D102CA6B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640EC7C-56A1-0456-F778-F97C9ACF8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6ED012F6-934B-2A56-FBB1-AFA5D5CEE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82868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9218E0A-8C73-0C70-9CC3-B704FDA7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90FFA33C-4B68-F5B5-A86B-10C98FE853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FFD243B-23BE-49C3-E20B-7A05340221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06381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E971360-BE8A-7F6C-A086-A4936D2A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8E178D4C-E022-5A0A-D84C-7C4C9457A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133CE7E8-2A09-DF92-C4F1-DF31DAD96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017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0D94BC38-1218-93F9-47EC-D915BC909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7C763A82-73BF-51DB-C32E-FF617883A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4E0683C7-5832-AA94-D9B1-105FBFF48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49649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C35E6FE-E0DA-A051-359D-DC3ECCD0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66818799-AA8C-20D6-E5CA-2A9380DB4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0DCAFFF-E6FB-8EC0-6A12-BCAECD651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42481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EEE7824-B9D7-BC2A-8B06-4D9AF5ED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362EAB8E-196F-B1AC-0911-F9EC7193D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2AF827D5-1B4F-20C0-B95E-E5DDE0B33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83180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34E0D5F-EA9D-19BA-2240-8503A764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67ECF531-331C-831E-D3A2-1D981D552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2054B462-2FB5-2C69-D97C-82C0B98237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60238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379AC2F-5903-0C85-4B64-5B33B49A0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F26D45BA-F396-E27A-81B3-59ADF79C6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B7E710CA-35AB-CE4A-7B91-FDD7A5F19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32484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488731B-C4D4-F52E-F32C-42EE15B8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A1BF7F49-0279-D679-EDEE-6154D3899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0F017907-9635-99CB-756D-E6D6FDA3C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372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804DFB5B-BAC5-9DE0-99FB-99834346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88D467FC-C5BE-E5DF-7B6B-53F2CA6FC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Framing - transformations are really a kind of reformatting, but you do them after cleaning once the data themselves are clean and it’s time to do final formatting.</a:t>
            </a:r>
            <a:endParaRPr dirty="0"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317FC172-B44B-148E-4972-9DC8D151A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6402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5D09869-AEC1-49A4-231C-90A69266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8CB4A964-CEDC-C433-3EB7-2C65C4FE0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AE14069-ED45-EA88-61EE-65300AF69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56017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2DAB52C4-8B95-41EC-A280-A285B7EF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E429D914-F864-C6AB-9AEF-48D8507BA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1D033DA2-C204-6C8A-F9A5-61FAB5157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24133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86F0D431-7EB3-0179-89CC-5F8B1203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5FEF0A8D-381D-48A5-0AD5-70B790393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EF9F7BFB-159B-F414-8BE9-9C6D0296DC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85770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F470DCD-B820-8ABF-F93A-45946A95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01689DB-C359-E17E-46E5-AC2455EF46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575E1C36-ABBC-63CA-D6D7-851E93E0A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15643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919B34A-0BD8-B658-D119-FFE4C274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ECF25D9-BC37-8191-3DCD-CC42CACD9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0F3FBE1-69DE-2029-1246-5533CF389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06085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C97BD73-27AB-4AD2-BD03-D3DD272FE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85517D47-E44F-E38F-8749-7EFBE02FF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B30B72D2-8521-B232-8770-44DD33B9E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5700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6B03F5CA-BE17-55E5-06B2-8EF18F195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>
            <a:extLst>
              <a:ext uri="{FF2B5EF4-FFF2-40B4-BE49-F238E27FC236}">
                <a16:creationId xmlns:a16="http://schemas.microsoft.com/office/drawing/2014/main" id="{7B1EAAC6-DFD7-16FA-DF1F-4BFCDF297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endParaRPr lang="en-US" dirty="0"/>
          </a:p>
        </p:txBody>
      </p:sp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063E3DAA-36B9-9A6E-E62A-623F89207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1927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6B7CDAF3-A3E1-F8DC-4BD2-B766AA7B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089E331-22DE-2D39-4EB7-E6081ADA5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CF5F2583-1F65-964A-5065-FC32AED664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550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0AC5-99DB-31B8-8BC3-993B07585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C36C6-9142-697C-CB39-B7057F858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C6FB-A9F3-C0CF-5436-DBE814C4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48DB-6D25-224A-3048-8EFF22FA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A5AB-B3E4-4293-CF8D-DA6DAF31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7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272F-AC80-7861-E4DF-35A7FFB9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9AAE5-D53A-E3D2-65C9-9C0C3B32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D51B-35A6-DC7B-8029-23DFAB4B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0D6C2-C857-75DD-7A94-F4AEA8DE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CD09E-8C9F-16EA-A186-423159F8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6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5980-6C8D-6923-1F87-667FD99A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5B5D-79BA-008C-4717-5BF5ABB10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DF499-C888-A235-A6E8-A813577A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188D-007F-CFF4-8294-15226899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33A4-366F-80B6-A34E-CBB937FB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DEBA-9CBA-1A8D-7218-2CC5428B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DC86-762F-1618-8580-E38264F1B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C499E-099B-76B9-58A1-21E8057D7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271BD-A5C3-F9D1-439B-471E9013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37A1A-D6F8-7923-BA15-4B4C7DC0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204BF-26B0-622E-E983-541582AD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9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38C0-C3D9-E655-0FBD-31842660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0BF89-1571-7020-A6B7-21E8CE1F3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BF357-38D9-E1D4-CDD8-C3E13C513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CFBE2-CDF9-404B-C8AA-F8E6D5EC7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1F975-F813-FD9B-4DCF-4985E9B1A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DA69E-8482-F147-447D-55701C12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10D66-C562-5FF8-40F6-3207E876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67365-7E7F-ED25-9FB9-CA3AB7D7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7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0CFD-8F45-23AE-7E1D-C7D98FB0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CF317-B113-E985-8559-AE845AD6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20A2F-3D43-75FD-4193-9949179E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B67CC-7DDA-2F49-1B45-9C095BB1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0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83077-85E3-6754-AF11-23526BB8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8293A-6D56-28CF-807D-DBE13492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63639-D2C6-7C4B-A77A-7C859637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3735-2859-676C-4862-A63CC7EB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1352B-1FD0-6DCC-75F6-9F5780E9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3A4ED-9907-9950-8091-88D63415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FAF96-7803-6E2F-7E4A-7F834201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D6E87-AB55-AD33-0F7E-4146276F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04ADE-B458-7490-9D34-8CFE721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6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64B7-CA35-F9AF-158E-D1E57FF8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06683-A988-3389-E854-3F3F60058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6D405-D1F2-3E1E-CAAC-E2AA72BE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5954B-74DE-2CF1-A7D2-EDAB657C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45768-A4D8-0448-B78F-C94FCBA7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902CC-B769-60C6-4803-C97FF3B3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62B9-BF0F-FE3D-D867-72E39968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5E3DF-031A-4339-A54E-568BF11A1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91202-0928-6953-5452-B36AC91A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F51A5-17B7-4943-5754-F9AA026B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06A8-70E6-43DB-592F-C162AFC9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7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F6698-DA36-BB51-FBD4-1DA0D8F5F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3A653-196E-0CD4-7770-A0BC483DC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65D8E-35B6-D092-E04A-73028A3A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49CFB-ADBC-231E-E1B1-FE192424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24C26-95D0-7609-1954-D93C3CE6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65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Basic" type="picTx">
  <p:cSld name="Closing Slide Basic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0488666" y="-1830709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3046130" cy="1477392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10000"/>
              <a:buFont typeface="Anton"/>
              <a:buNone/>
              <a:defRPr sz="6667" i="0" u="none" strike="noStrike" cap="none">
                <a:solidFill>
                  <a:srgbClr val="12312B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9pPr>
          </a:lstStyle>
          <a:p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615500" y="367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523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3547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580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1">
  <p:cSld name="Logo and Blue Swish Option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9962086" y="3353950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0675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2">
  <p:cSld name="Logo and Blue Swish Option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/>
          <p:nvPr/>
        </p:nvSpPr>
        <p:spPr>
          <a:xfrm>
            <a:off x="-1016265" y="-192641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10673717" y="6121584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4739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-570831" y="2964183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784667" y="1922964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10946761" y="-9037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4171950" y="7141095"/>
            <a:ext cx="5345400" cy="119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934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03200" y="3066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9" r="-19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90546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or Contents Page alternate logo placement" type="secHead">
  <p:cSld name="Agenda or Contents Page alternate logo placem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10352693" y="5983889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-899356" y="-89548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54900" y="17212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917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Slide Option 2" type="twoTxTwoObj">
  <p:cSld name="Intro Slide Option 2">
    <p:bg>
      <p:bgPr>
        <a:solidFill>
          <a:srgbClr val="00693D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802544" y="1510467"/>
            <a:ext cx="1300075" cy="1086732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2213800" y="1588881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nton"/>
              <a:buNone/>
              <a:defRPr sz="4334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7686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">
  <p:cSld name="Photo Box and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28217" y="1050150"/>
            <a:ext cx="4331600" cy="54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-707765" y="372516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62783" y="11180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cxnSp>
        <p:nvCxnSpPr>
          <p:cNvPr id="54" name="Google Shape;54;p12"/>
          <p:cNvCxnSpPr/>
          <p:nvPr/>
        </p:nvCxnSpPr>
        <p:spPr>
          <a:xfrm rot="10800000">
            <a:off x="4695752" y="949750"/>
            <a:ext cx="31000" cy="5652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55;p12"/>
          <p:cNvCxnSpPr/>
          <p:nvPr/>
        </p:nvCxnSpPr>
        <p:spPr>
          <a:xfrm rot="10800000">
            <a:off x="4819550" y="1687881"/>
            <a:ext cx="15400" cy="3888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659369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 Option 2" type="titleOnly">
  <p:cSld name="Photo Box and Text Option 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>
            <a:spLocks noGrp="1"/>
          </p:cNvSpPr>
          <p:nvPr>
            <p:ph type="pic" idx="2"/>
          </p:nvPr>
        </p:nvSpPr>
        <p:spPr>
          <a:xfrm>
            <a:off x="7581867" y="1519792"/>
            <a:ext cx="4380200" cy="4259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60" name="Google Shape;60;p13"/>
          <p:cNvCxnSpPr/>
          <p:nvPr/>
        </p:nvCxnSpPr>
        <p:spPr>
          <a:xfrm>
            <a:off x="7331300" y="2134383"/>
            <a:ext cx="37200" cy="3696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3"/>
          <p:cNvCxnSpPr/>
          <p:nvPr/>
        </p:nvCxnSpPr>
        <p:spPr>
          <a:xfrm rot="10800000">
            <a:off x="7994667" y="6080467"/>
            <a:ext cx="3554600" cy="1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Google Shape;62;p13"/>
          <p:cNvCxnSpPr/>
          <p:nvPr/>
        </p:nvCxnSpPr>
        <p:spPr>
          <a:xfrm>
            <a:off x="7201400" y="2805033"/>
            <a:ext cx="18600" cy="2542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3"/>
          <p:cNvCxnSpPr/>
          <p:nvPr/>
        </p:nvCxnSpPr>
        <p:spPr>
          <a:xfrm rot="10800000">
            <a:off x="8477167" y="5929733"/>
            <a:ext cx="2589600" cy="4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/>
          <p:nvPr/>
        </p:nvSpPr>
        <p:spPr>
          <a:xfrm>
            <a:off x="7479798" y="5046500"/>
            <a:ext cx="864729" cy="883240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569067" y="15198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5484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" type="objTx">
  <p:cSld name="Text Only No Grid or Swoosh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1543533" y="1674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7659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Closing Slide with QR Code" type="vertTx">
  <p:cSld name="Dark Closing Slide with QR Code">
    <p:bg>
      <p:bgPr>
        <a:solidFill>
          <a:srgbClr val="12312B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9014051" y="4784199"/>
            <a:ext cx="1547499" cy="1525745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80" name="Google Shape;80;p17"/>
          <p:cNvSpPr txBox="1"/>
          <p:nvPr/>
        </p:nvSpPr>
        <p:spPr>
          <a:xfrm>
            <a:off x="9423599" y="5180635"/>
            <a:ext cx="728400" cy="41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*Place QR code here</a:t>
            </a:r>
            <a:endParaRPr sz="333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7507349" y="4784200"/>
            <a:ext cx="1308200" cy="4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8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SCAN</a:t>
            </a:r>
            <a:endParaRPr sz="12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308842" y="5233400"/>
            <a:ext cx="17052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48" i="0" u="none" strike="noStrike" cap="none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0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3047877" cy="1526193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615517" y="351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A5D75F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A5D75F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rgbClr val="A5D75F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rgbClr val="A5D75F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rgbClr val="A5D75F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rgbClr val="A5D75F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890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Closing Slide with QR Code">
  <p:cSld name="White Closing Slide with QR Co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778100" y="2425706"/>
            <a:ext cx="11249000" cy="14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6822930" y="4923600"/>
            <a:ext cx="18318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5" i="0" u="none" strike="noStrike" cap="none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2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2" name="Google Shape;92;p18"/>
          <p:cNvSpPr/>
          <p:nvPr/>
        </p:nvSpPr>
        <p:spPr>
          <a:xfrm>
            <a:off x="8910302" y="4626749"/>
            <a:ext cx="1830491" cy="1636709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93" name="Google Shape;93;p18"/>
          <p:cNvSpPr txBox="1"/>
          <p:nvPr/>
        </p:nvSpPr>
        <p:spPr>
          <a:xfrm>
            <a:off x="9305866" y="5111434"/>
            <a:ext cx="744600" cy="47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0" i="0" u="none" strike="noStrike" cap="none">
                <a:solidFill>
                  <a:srgbClr val="12312B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875" i="0" u="none" strike="noStrike" cap="none">
                <a:solidFill>
                  <a:srgbClr val="12312B"/>
                </a:solidFill>
                <a:latin typeface="Archivo"/>
                <a:ea typeface="Archivo"/>
                <a:cs typeface="Archivo"/>
                <a:sym typeface="Archivo"/>
              </a:rPr>
              <a:t>Place QR code here</a:t>
            </a:r>
            <a:endParaRPr sz="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947931" y="4467234"/>
            <a:ext cx="1581800" cy="90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85" i="0" u="none" strike="noStrike" cap="none">
                <a:solidFill>
                  <a:srgbClr val="00693D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SCAN</a:t>
            </a:r>
            <a:endParaRPr sz="2200"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856767" y="34752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245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with Weblink">
  <p:cSld name="Green Logo with Webli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2276400" y="1133617"/>
            <a:ext cx="7639197" cy="3526531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8" name="Google Shape;98;p19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12312B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12312B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96446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">
  <p:cSld name="White Logo with Weblink">
    <p:bg>
      <p:bgPr>
        <a:solidFill>
          <a:srgbClr val="12312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650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 alternate">
  <p:cSld name="White Logo with Weblink alternate">
    <p:bg>
      <p:bgPr>
        <a:solidFill>
          <a:schemeClr val="dk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198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and Grid Green Background" type="blank">
  <p:cSld name="White Logo and Grid Green Background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1054028" y="-8290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1" y="0"/>
            <a:ext cx="1909799" cy="955960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96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-White">
  <p:cSld name="Section Header-White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2329800" y="1709750"/>
            <a:ext cx="9017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93E"/>
              </a:buClr>
              <a:buSzPts val="6000"/>
              <a:buFont typeface="Arial"/>
              <a:buNone/>
              <a:defRPr sz="6000">
                <a:solidFill>
                  <a:srgbClr val="0069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2329800" y="4562450"/>
            <a:ext cx="9017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0855712" y="6424596"/>
            <a:ext cx="49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0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1825625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3651250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5476875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9700" y="5639340"/>
            <a:ext cx="1993825" cy="95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50" y="2805988"/>
            <a:ext cx="1828249" cy="16905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813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8B098-1FDB-85A1-A229-1509E5A5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2BFF5-A90E-828B-F083-5B73160FB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FF2E-3469-82AC-BD65-432D2A47F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1598F-E36D-2AFA-F7B0-EFCB4A88D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A7395-CD56-00F2-67A4-06A388651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9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114"/>
            <a:ext cx="112490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15583" y="262138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7048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9" r:id="rId5"/>
    <p:sldLayoutId id="2147483671" r:id="rId6"/>
    <p:sldLayoutId id="2147483672" r:id="rId7"/>
    <p:sldLayoutId id="2147483673" r:id="rId8"/>
    <p:sldLayoutId id="2147483674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3" r:id="rId15"/>
    <p:sldLayoutId id="214748368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A_EE3B080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1168200" y="2304596"/>
            <a:ext cx="9677800" cy="17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1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Introduction to Data Cleaning for Analysis and Reproducible Research</a:t>
            </a:r>
          </a:p>
        </p:txBody>
      </p:sp>
      <p:sp>
        <p:nvSpPr>
          <p:cNvPr id="111" name="Google Shape;111;p22"/>
          <p:cNvSpPr txBox="1"/>
          <p:nvPr/>
        </p:nvSpPr>
        <p:spPr>
          <a:xfrm>
            <a:off x="1168200" y="5149683"/>
            <a:ext cx="8444153" cy="32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25"/>
              </a:lnSpc>
            </a:pPr>
            <a:endParaRPr sz="1067" b="1" dirty="0">
              <a:solidFill>
                <a:schemeClr val="accent3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566021" y="4198943"/>
            <a:ext cx="10019901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55B9BD9-DF9E-AC20-26F6-95664F4E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1BF5683-D6F4-7C8F-FD88-A6220438308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1F33F10C-E37B-AAC3-E67B-2ECA203B4738}"/>
              </a:ext>
            </a:extLst>
          </p:cNvPr>
          <p:cNvSpPr txBox="1"/>
          <p:nvPr/>
        </p:nvSpPr>
        <p:spPr>
          <a:xfrm>
            <a:off x="867673" y="1900078"/>
            <a:ext cx="9776400" cy="297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By the end of this session, you will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Be able to explain what data cleaning means and why it is such an important step in the research process.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Have a list of tasks to consider including in your data cleaning plan.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Be able to develop a data cleaning plan to implement in R (or your analysis software of choice).</a:t>
            </a:r>
            <a:endParaRPr kern="0" dirty="0">
              <a:solidFill>
                <a:srgbClr val="000000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2670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085F6405-7F4A-13C9-ADC6-785C80561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F0B4E771-CF6F-C6B2-8CF5-60A162B7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970" y="861451"/>
            <a:ext cx="9017400" cy="1286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dirty="0"/>
              <a:t>Discussion Questions</a:t>
            </a:r>
            <a:endParaRPr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C72DAA-917E-D646-280E-7B21E371B887}"/>
              </a:ext>
            </a:extLst>
          </p:cNvPr>
          <p:cNvSpPr txBox="1"/>
          <p:nvPr/>
        </p:nvSpPr>
        <p:spPr>
          <a:xfrm>
            <a:off x="1938970" y="2294156"/>
            <a:ext cx="9411112" cy="437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</a:rPr>
              <a:t>What does data cleaning mean to you?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kern="0" dirty="0">
              <a:solidFill>
                <a:srgbClr val="12312B"/>
              </a:solidFill>
              <a:latin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</a:rPr>
              <a:t>You have just been given a dataset to clean. How confident are you in your next steps?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Not at all confident - I don't really know where to start.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A little confident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Somewhat confident - I have some ideas and can start adjusting the data.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Pretty confident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Highly confident - I have a plan and know what my next steps 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19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3E414038-5369-B37B-4312-59566BAC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AEFC1B03-EB6E-7013-558E-E1A5E260A541}"/>
              </a:ext>
            </a:extLst>
          </p:cNvPr>
          <p:cNvSpPr txBox="1"/>
          <p:nvPr/>
        </p:nvSpPr>
        <p:spPr>
          <a:xfrm>
            <a:off x="1417320" y="2148841"/>
            <a:ext cx="993038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The research process from a data perspective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27C37B2B-A165-ED87-47C5-9789B934C931}"/>
              </a:ext>
            </a:extLst>
          </p:cNvPr>
          <p:cNvSpPr/>
          <p:nvPr/>
        </p:nvSpPr>
        <p:spPr>
          <a:xfrm>
            <a:off x="1034706" y="3431754"/>
            <a:ext cx="9144880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218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C5B0E40-F06E-ED9C-1295-626B97CA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A6DC3D4-80B7-B442-9E47-B7AF297B980B}"/>
              </a:ext>
            </a:extLst>
          </p:cNvPr>
          <p:cNvSpPr txBox="1"/>
          <p:nvPr/>
        </p:nvSpPr>
        <p:spPr>
          <a:xfrm>
            <a:off x="922202" y="1157695"/>
            <a:ext cx="979635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The Research Process from a Data Perspective*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A2FEDCC-7067-8878-945A-FED8612480E9}"/>
              </a:ext>
            </a:extLst>
          </p:cNvPr>
          <p:cNvSpPr/>
          <p:nvPr/>
        </p:nvSpPr>
        <p:spPr>
          <a:xfrm>
            <a:off x="1847097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Get Raw Data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33F1A3-1B0F-EC1F-D46F-680664600BA4}"/>
              </a:ext>
            </a:extLst>
          </p:cNvPr>
          <p:cNvSpPr/>
          <p:nvPr/>
        </p:nvSpPr>
        <p:spPr>
          <a:xfrm>
            <a:off x="3405765" y="3019801"/>
            <a:ext cx="1800986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>
                <a:latin typeface="Archivo Medium"/>
              </a:rPr>
              <a:t>Exploratory Data Analysis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75C74A-3A6C-173F-F399-71D3F4CC8B5C}"/>
              </a:ext>
            </a:extLst>
          </p:cNvPr>
          <p:cNvSpPr/>
          <p:nvPr/>
        </p:nvSpPr>
        <p:spPr>
          <a:xfrm>
            <a:off x="4964433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Analysis Planning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826DB96-4D79-0DDA-DEBC-DD9E1F3F728F}"/>
              </a:ext>
            </a:extLst>
          </p:cNvPr>
          <p:cNvSpPr/>
          <p:nvPr/>
        </p:nvSpPr>
        <p:spPr>
          <a:xfrm>
            <a:off x="6523101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Cleaning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F9F56EA-3622-960C-9BAD-22FD906BBC7A}"/>
              </a:ext>
            </a:extLst>
          </p:cNvPr>
          <p:cNvSpPr/>
          <p:nvPr/>
        </p:nvSpPr>
        <p:spPr>
          <a:xfrm>
            <a:off x="8081767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0A1AB-7B55-28F6-C95E-2C84F4F6C051}"/>
              </a:ext>
            </a:extLst>
          </p:cNvPr>
          <p:cNvSpPr txBox="1"/>
          <p:nvPr/>
        </p:nvSpPr>
        <p:spPr>
          <a:xfrm>
            <a:off x="1308577" y="1791114"/>
            <a:ext cx="73841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*Note this flow is specific to the data aspects of a research project and does not include critical steps like literature review and sharing your findings.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367570-7AE5-856A-47A0-BD17681B8152}"/>
              </a:ext>
            </a:extLst>
          </p:cNvPr>
          <p:cNvCxnSpPr>
            <a:cxnSpLocks/>
          </p:cNvCxnSpPr>
          <p:nvPr/>
        </p:nvCxnSpPr>
        <p:spPr>
          <a:xfrm>
            <a:off x="5754070" y="4104682"/>
            <a:ext cx="0" cy="473978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09FF08E-DE2D-E51F-9952-3A78E647A38F}"/>
              </a:ext>
            </a:extLst>
          </p:cNvPr>
          <p:cNvSpPr txBox="1"/>
          <p:nvPr/>
        </p:nvSpPr>
        <p:spPr>
          <a:xfrm>
            <a:off x="4858546" y="4578660"/>
            <a:ext cx="1791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Determine data format requirements for your analysis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78315B-53F5-B69F-A5A2-E9F659768309}"/>
              </a:ext>
            </a:extLst>
          </p:cNvPr>
          <p:cNvCxnSpPr>
            <a:cxnSpLocks/>
          </p:cNvCxnSpPr>
          <p:nvPr/>
        </p:nvCxnSpPr>
        <p:spPr>
          <a:xfrm flipV="1">
            <a:off x="6577240" y="4058543"/>
            <a:ext cx="758154" cy="626708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E1E460-CDE5-5FBB-E9E9-74D46BD9E519}"/>
              </a:ext>
            </a:extLst>
          </p:cNvPr>
          <p:cNvSpPr txBox="1"/>
          <p:nvPr/>
        </p:nvSpPr>
        <p:spPr>
          <a:xfrm>
            <a:off x="7247310" y="4448631"/>
            <a:ext cx="189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Make it happen!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D022D9-46DA-465D-25F1-1951AE9AFFA4}"/>
              </a:ext>
            </a:extLst>
          </p:cNvPr>
          <p:cNvSpPr txBox="1"/>
          <p:nvPr/>
        </p:nvSpPr>
        <p:spPr>
          <a:xfrm>
            <a:off x="3040840" y="4623179"/>
            <a:ext cx="1791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Learn what your data contains and how it’s formatted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B371DE-3019-08FD-EC87-BC90DF38505E}"/>
              </a:ext>
            </a:extLst>
          </p:cNvPr>
          <p:cNvCxnSpPr>
            <a:cxnSpLocks/>
          </p:cNvCxnSpPr>
          <p:nvPr/>
        </p:nvCxnSpPr>
        <p:spPr>
          <a:xfrm>
            <a:off x="3971722" y="4104682"/>
            <a:ext cx="0" cy="473978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0E60B8-14AA-275F-4F41-798ECD89F97A}"/>
              </a:ext>
            </a:extLst>
          </p:cNvPr>
          <p:cNvCxnSpPr>
            <a:cxnSpLocks/>
          </p:cNvCxnSpPr>
          <p:nvPr/>
        </p:nvCxnSpPr>
        <p:spPr>
          <a:xfrm flipV="1">
            <a:off x="4626064" y="4104682"/>
            <a:ext cx="708557" cy="614125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02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6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1F212BE-D56F-A8CF-808B-08CB869D9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FE5081CA-880C-3DEA-FB7C-E5D132381299}"/>
              </a:ext>
            </a:extLst>
          </p:cNvPr>
          <p:cNvSpPr txBox="1"/>
          <p:nvPr/>
        </p:nvSpPr>
        <p:spPr>
          <a:xfrm>
            <a:off x="1417320" y="2148841"/>
            <a:ext cx="993038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What is data cleaning and why is it important?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893EBE21-86A7-3B8F-79D9-C4B20E1B96ED}"/>
              </a:ext>
            </a:extLst>
          </p:cNvPr>
          <p:cNvSpPr/>
          <p:nvPr/>
        </p:nvSpPr>
        <p:spPr>
          <a:xfrm>
            <a:off x="980469" y="3626169"/>
            <a:ext cx="9761634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25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F7A0C3C6-3DB5-15CD-B63E-F17013DF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B6D44213-6B9B-0260-4375-496F39AD50A1}"/>
              </a:ext>
            </a:extLst>
          </p:cNvPr>
          <p:cNvSpPr txBox="1"/>
          <p:nvPr/>
        </p:nvSpPr>
        <p:spPr>
          <a:xfrm>
            <a:off x="922202" y="1157695"/>
            <a:ext cx="7828098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What does it mean to clean the data?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EA4D6920-03BA-8B7B-637B-20970136488E}"/>
              </a:ext>
            </a:extLst>
          </p:cNvPr>
          <p:cNvSpPr txBox="1"/>
          <p:nvPr/>
        </p:nvSpPr>
        <p:spPr>
          <a:xfrm>
            <a:off x="850895" y="1732710"/>
            <a:ext cx="9776400" cy="475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“Fix and format”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Motivation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Exploratory data analysis (EDA) findings 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Analysis plan</a:t>
            </a:r>
          </a:p>
          <a:p>
            <a:pPr marL="1377781" lvl="3" indent="-342900">
              <a:lnSpc>
                <a:spcPct val="140013"/>
              </a:lnSpc>
              <a:buClr>
                <a:srgbClr val="12312B"/>
              </a:buClr>
              <a:buSzPts val="3009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Questions</a:t>
            </a:r>
          </a:p>
          <a:p>
            <a:pPr marL="1377781" lvl="3" indent="-342900">
              <a:lnSpc>
                <a:spcPct val="140013"/>
              </a:lnSpc>
              <a:buClr>
                <a:srgbClr val="12312B"/>
              </a:buClr>
              <a:buSzPts val="3009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Methods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Goal: A dataset ready for you to analyze according to your chosen methods</a:t>
            </a:r>
            <a:endParaRPr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>
              <a:lnSpc>
                <a:spcPct val="140013"/>
              </a:lnSpc>
            </a:pPr>
            <a:endParaRPr sz="2006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32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3CAC3503-2EB0-D3FC-C660-EF768ED8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0CB6727C-A2B0-EA7B-9AF0-FF4352352FA3}"/>
              </a:ext>
            </a:extLst>
          </p:cNvPr>
          <p:cNvSpPr txBox="1"/>
          <p:nvPr/>
        </p:nvSpPr>
        <p:spPr>
          <a:xfrm>
            <a:off x="922201" y="1157695"/>
            <a:ext cx="7734966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Data cleaning has important implications!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247D46F4-6966-EF86-00DA-6E095497689B}"/>
              </a:ext>
            </a:extLst>
          </p:cNvPr>
          <p:cNvSpPr txBox="1"/>
          <p:nvPr/>
        </p:nvSpPr>
        <p:spPr>
          <a:xfrm>
            <a:off x="922202" y="1736904"/>
            <a:ext cx="9776400" cy="216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Data cleaning changes your data.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Any time you change your data, you can change the outcome of your study.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3235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78572E42-DEEF-29D0-CEC0-464A1CC1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680C455B-62FD-A92C-B9DD-03E7711B7C24}"/>
              </a:ext>
            </a:extLst>
          </p:cNvPr>
          <p:cNvSpPr txBox="1"/>
          <p:nvPr/>
        </p:nvSpPr>
        <p:spPr>
          <a:xfrm>
            <a:off x="922200" y="1157695"/>
            <a:ext cx="8196399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Changes made during data cleaning must be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D01318CE-F0B6-43A3-A674-9FD1291EC308}"/>
              </a:ext>
            </a:extLst>
          </p:cNvPr>
          <p:cNvSpPr txBox="1"/>
          <p:nvPr/>
        </p:nvSpPr>
        <p:spPr>
          <a:xfrm>
            <a:off x="922202" y="1736904"/>
            <a:ext cx="9776400" cy="302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Documented – What change(s) did you make and how? 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Justifiable – Why was each change necessary? Why did you change it the way you did?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Reproducible – Given your documentation, could someone else recreate what you did?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97814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A397AFA7-6272-56BC-B3C2-756EDEBA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218446F9-4E0B-B91C-BF90-2BEB4A94D0B0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Reproducibility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C7129D4C-2A37-B135-01F8-BE89F6478C28}"/>
              </a:ext>
            </a:extLst>
          </p:cNvPr>
          <p:cNvSpPr txBox="1"/>
          <p:nvPr/>
        </p:nvSpPr>
        <p:spPr>
          <a:xfrm>
            <a:off x="922202" y="1736904"/>
            <a:ext cx="9776400" cy="3712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Data cleaning is one of the best arguments for using a code-based analytical process.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What if you get an updated version of your dataset? Or another dataset to repeat your analysis on?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If you did your cleaning manually, you have to repeat the whole process, which is </a:t>
            </a:r>
            <a:r>
              <a:rPr lang="en-US" dirty="0">
                <a:solidFill>
                  <a:srgbClr val="12312B"/>
                </a:solidFill>
                <a:latin typeface="Archivo Medium"/>
                <a:sym typeface="Arial"/>
              </a:rPr>
              <a:t>inefficient, error-prone, and hard to reproduce (by you or others!).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If you are using code, you simply re-run it on the new data, saving time and ensuring the same process is followed. </a:t>
            </a:r>
          </a:p>
        </p:txBody>
      </p:sp>
    </p:spTree>
    <p:extLst>
      <p:ext uri="{BB962C8B-B14F-4D97-AF65-F5344CB8AC3E}">
        <p14:creationId xmlns:p14="http://schemas.microsoft.com/office/powerpoint/2010/main" val="421622324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E8A7C709-B121-E543-2BF3-403B8EB1C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34AB5467-5185-A812-C09F-F87686BB4A87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The data cleaning process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988BCB17-4724-EC55-C938-A911166E56FC}"/>
              </a:ext>
            </a:extLst>
          </p:cNvPr>
          <p:cNvSpPr/>
          <p:nvPr/>
        </p:nvSpPr>
        <p:spPr>
          <a:xfrm>
            <a:off x="959495" y="2887505"/>
            <a:ext cx="7287037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8736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5879BB2-F066-F75E-A8DB-0F7CD248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0C5E1074-6BF4-21EF-64AF-3358BF019D54}"/>
              </a:ext>
            </a:extLst>
          </p:cNvPr>
          <p:cNvSpPr txBox="1"/>
          <p:nvPr/>
        </p:nvSpPr>
        <p:spPr>
          <a:xfrm>
            <a:off x="922202" y="1157695"/>
            <a:ext cx="8511218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Step 0: Save a copy of your data to work with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2F69E860-2826-C663-75C7-D65490E0A9CA}"/>
              </a:ext>
            </a:extLst>
          </p:cNvPr>
          <p:cNvSpPr txBox="1"/>
          <p:nvPr/>
        </p:nvSpPr>
        <p:spPr>
          <a:xfrm>
            <a:off x="922202" y="2187594"/>
            <a:ext cx="10059742" cy="345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b="1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Do not clean your original (“raw”) data file(s)!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Save a “working” copy and leave the original file untouched in case anything goes wrong.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Remember that reading the data into R does not modify the original file, so that’s ok!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127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The data cleaning process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922202" y="1736904"/>
            <a:ext cx="9776400" cy="267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Have a plan</a:t>
            </a: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Implement the plan</a:t>
            </a: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Make sure the plan worked correctly</a:t>
            </a: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57200" indent="-457200">
              <a:lnSpc>
                <a:spcPct val="140013"/>
              </a:lnSpc>
              <a:buSzPct val="115000"/>
              <a:buFont typeface="+mj-lt"/>
              <a:buAutoNum type="arabicPeriod"/>
            </a:pPr>
            <a:endParaRPr sz="2006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292B1FE7-2414-4B31-9D90-0A225C26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0D64DAFA-ECFB-0E4F-AA57-77458AE2FDE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1. Have a plan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FBD40D03-E1B3-8DD1-8B71-A57A24B43F49}"/>
              </a:ext>
            </a:extLst>
          </p:cNvPr>
          <p:cNvSpPr txBox="1"/>
          <p:nvPr/>
        </p:nvSpPr>
        <p:spPr>
          <a:xfrm>
            <a:off x="922202" y="1736904"/>
            <a:ext cx="9776400" cy="432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Problem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What have you identified that needs to be cleaned? 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How did you identify it?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Why does each item need to be cleaned?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Solution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How are you fixing it?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Why did you choose that method?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968460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480EE501-37B6-51E9-0CA4-E6C5DA5D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03F20B95-E846-06B9-CE49-7798FC43D69F}"/>
              </a:ext>
            </a:extLst>
          </p:cNvPr>
          <p:cNvSpPr txBox="1"/>
          <p:nvPr/>
        </p:nvSpPr>
        <p:spPr>
          <a:xfrm>
            <a:off x="922201" y="1157695"/>
            <a:ext cx="9711602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1. Have a plan, cont.</a:t>
            </a:r>
            <a:endParaRPr lang="en-US"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A8636ECF-77C7-33A1-B230-7AE454C3B34B}"/>
              </a:ext>
            </a:extLst>
          </p:cNvPr>
          <p:cNvSpPr txBox="1"/>
          <p:nvPr/>
        </p:nvSpPr>
        <p:spPr>
          <a:xfrm>
            <a:off x="922202" y="1736904"/>
            <a:ext cx="9776400" cy="432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Format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The plan should be accessible to a non-technical audience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Ideally, something generic like a Word document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Think of this as a draft of the methods section of your paper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highlight>
                <a:srgbClr val="FFFF00"/>
              </a:highlight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21526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6F6C0FD7-DD6A-0675-5276-83D16F13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2D2DC38A-F4DF-63C7-2018-3ECA79192E7E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2. Implement the plan</a:t>
            </a: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459A314B-4976-FA18-2DF4-B3D7C728120C}"/>
              </a:ext>
            </a:extLst>
          </p:cNvPr>
          <p:cNvSpPr txBox="1"/>
          <p:nvPr/>
        </p:nvSpPr>
        <p:spPr>
          <a:xfrm>
            <a:off x="922202" y="1736904"/>
            <a:ext cx="9776400" cy="388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Follow the plan!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If you notice an issue as you complete a step, update the plan to describe and account for it.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Check that the fix for each problem worked as expected and did not have unintended consequences.</a:t>
            </a:r>
            <a:endParaRPr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57200" indent="-457200">
              <a:lnSpc>
                <a:spcPct val="140013"/>
              </a:lnSpc>
              <a:buSzPct val="115000"/>
              <a:buFont typeface="+mj-lt"/>
              <a:buAutoNum type="arabicPeriod"/>
            </a:pPr>
            <a:endParaRPr sz="2006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1893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453C7679-B891-DF74-A7CB-C5786C30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35ED89F9-7EAB-8D00-7041-E87794739266}"/>
              </a:ext>
            </a:extLst>
          </p:cNvPr>
          <p:cNvSpPr txBox="1"/>
          <p:nvPr/>
        </p:nvSpPr>
        <p:spPr>
          <a:xfrm>
            <a:off x="922202" y="1157695"/>
            <a:ext cx="795335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3. Make sure the plan worked correctly</a:t>
            </a: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E31A339A-10BA-B67B-DE0A-8B4E6380507F}"/>
              </a:ext>
            </a:extLst>
          </p:cNvPr>
          <p:cNvSpPr txBox="1"/>
          <p:nvPr/>
        </p:nvSpPr>
        <p:spPr>
          <a:xfrm>
            <a:off x="922202" y="1736904"/>
            <a:ext cx="9776400" cy="345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While implementing your plan, you checked that each individual fix worked as expected.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Now give the dataset as a whole the same treatment. Make sure that there aren’t any unintended consequences or interactions between your cleaning steps.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57200" indent="-457200">
              <a:lnSpc>
                <a:spcPct val="140013"/>
              </a:lnSpc>
              <a:buSzPct val="115000"/>
              <a:buFont typeface="+mj-lt"/>
              <a:buAutoNum type="arabicPeriod"/>
            </a:pPr>
            <a:endParaRPr sz="2006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2781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2D62712-D572-91BC-64FB-2942DD61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9B53AF34-5770-BB2B-8983-CD0D0E29BC78}"/>
              </a:ext>
            </a:extLst>
          </p:cNvPr>
          <p:cNvSpPr txBox="1"/>
          <p:nvPr/>
        </p:nvSpPr>
        <p:spPr>
          <a:xfrm>
            <a:off x="1417320" y="2148841"/>
            <a:ext cx="870881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Elements to consider for your data cleaning plan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6091BE68-B796-2B65-7CD9-3F1D210265B4}"/>
              </a:ext>
            </a:extLst>
          </p:cNvPr>
          <p:cNvSpPr/>
          <p:nvPr/>
        </p:nvSpPr>
        <p:spPr>
          <a:xfrm>
            <a:off x="1093720" y="3626169"/>
            <a:ext cx="8592147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Google Shape;134;p25">
            <a:extLst>
              <a:ext uri="{FF2B5EF4-FFF2-40B4-BE49-F238E27FC236}">
                <a16:creationId xmlns:a16="http://schemas.microsoft.com/office/drawing/2014/main" id="{15CC683A-8B3D-6CB7-10FF-5CBC425343D0}"/>
              </a:ext>
            </a:extLst>
          </p:cNvPr>
          <p:cNvSpPr txBox="1"/>
          <p:nvPr/>
        </p:nvSpPr>
        <p:spPr>
          <a:xfrm>
            <a:off x="1307485" y="4820204"/>
            <a:ext cx="7305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000" kern="0" dirty="0">
                <a:solidFill>
                  <a:schemeClr val="accent5"/>
                </a:solidFill>
                <a:latin typeface="Anton"/>
                <a:ea typeface="Anton"/>
                <a:cs typeface="Anton"/>
                <a:sym typeface="Anton"/>
              </a:rPr>
              <a:t>Phase 1: Re-formatting</a:t>
            </a:r>
          </a:p>
        </p:txBody>
      </p:sp>
    </p:spTree>
    <p:extLst>
      <p:ext uri="{BB962C8B-B14F-4D97-AF65-F5344CB8AC3E}">
        <p14:creationId xmlns:p14="http://schemas.microsoft.com/office/powerpoint/2010/main" val="362328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5C8F9A5-3381-5DD1-4CD0-B4BD94EC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DE69AA15-72D4-5DA0-7DF1-435C50D7C869}"/>
              </a:ext>
            </a:extLst>
          </p:cNvPr>
          <p:cNvSpPr txBox="1"/>
          <p:nvPr/>
        </p:nvSpPr>
        <p:spPr>
          <a:xfrm>
            <a:off x="3802562" y="627343"/>
            <a:ext cx="60978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4000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Our dataset</a:t>
            </a:r>
            <a:endParaRPr sz="1050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282F65-260A-B0D5-E11B-B7B31B899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88918"/>
              </p:ext>
            </p:extLst>
          </p:nvPr>
        </p:nvGraphicFramePr>
        <p:xfrm>
          <a:off x="1578350" y="1766700"/>
          <a:ext cx="8890798" cy="4256677"/>
        </p:xfrm>
        <a:graphic>
          <a:graphicData uri="http://schemas.openxmlformats.org/drawingml/2006/table">
            <a:tbl>
              <a:tblPr/>
              <a:tblGrid>
                <a:gridCol w="533687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1210921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98797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734302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320446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55173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55173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(servings)*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1/25/2026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EEC0FD-D4D8-7BB3-7338-1B5F31017D80}"/>
              </a:ext>
            </a:extLst>
          </p:cNvPr>
          <p:cNvSpPr txBox="1"/>
          <p:nvPr/>
        </p:nvSpPr>
        <p:spPr>
          <a:xfrm>
            <a:off x="7021810" y="6102519"/>
            <a:ext cx="4992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*From the documentation: The number of servings of vegetables consumed, on average, each day. </a:t>
            </a:r>
          </a:p>
        </p:txBody>
      </p:sp>
    </p:spTree>
    <p:extLst>
      <p:ext uri="{BB962C8B-B14F-4D97-AF65-F5344CB8AC3E}">
        <p14:creationId xmlns:p14="http://schemas.microsoft.com/office/powerpoint/2010/main" val="3685679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7F7C48C-9086-22C6-0289-A0B8F81A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0632AB34-8DAF-2013-CF37-3C891336E16D}"/>
              </a:ext>
            </a:extLst>
          </p:cNvPr>
          <p:cNvSpPr txBox="1"/>
          <p:nvPr/>
        </p:nvSpPr>
        <p:spPr>
          <a:xfrm>
            <a:off x="469197" y="915324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Consider first: Subset  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EEB762E8-5734-55C9-255A-396077CEBB04}"/>
              </a:ext>
            </a:extLst>
          </p:cNvPr>
          <p:cNvSpPr txBox="1"/>
          <p:nvPr/>
        </p:nvSpPr>
        <p:spPr>
          <a:xfrm>
            <a:off x="215234" y="1639135"/>
            <a:ext cx="4610765" cy="521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Select only the observations that you will analyze. If your study: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Does not need Height, exclude that variable.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Includes only people aged ≥20 years, exclude anyone younger.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Doing this first = less data to clean!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Note: Subset first only if you are using the same subset of data for all analyses.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If you’ll use the dataset again for different analyses, subset last once the whole dataset is clean.</a:t>
            </a:r>
            <a:endParaRPr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09AC6D-983F-1FF6-6285-BEA686AA5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967750"/>
              </p:ext>
            </p:extLst>
          </p:nvPr>
        </p:nvGraphicFramePr>
        <p:xfrm>
          <a:off x="5058833" y="1604433"/>
          <a:ext cx="7044380" cy="4255792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46219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(servings)*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1/25/2026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F4CE769-2FA9-2712-9EEF-95629903EE75}"/>
              </a:ext>
            </a:extLst>
          </p:cNvPr>
          <p:cNvSpPr/>
          <p:nvPr/>
        </p:nvSpPr>
        <p:spPr>
          <a:xfrm>
            <a:off x="8784168" y="1481667"/>
            <a:ext cx="694266" cy="4601633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AFA976-7628-9E95-F11A-3B48B150D4D1}"/>
              </a:ext>
            </a:extLst>
          </p:cNvPr>
          <p:cNvSpPr/>
          <p:nvPr/>
        </p:nvSpPr>
        <p:spPr>
          <a:xfrm rot="5400000">
            <a:off x="8406342" y="1368466"/>
            <a:ext cx="353482" cy="7217833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3AB0FE-2D81-CE52-9540-A1D8C3D52E30}"/>
              </a:ext>
            </a:extLst>
          </p:cNvPr>
          <p:cNvSpPr/>
          <p:nvPr/>
        </p:nvSpPr>
        <p:spPr>
          <a:xfrm rot="5400000">
            <a:off x="8406342" y="2074568"/>
            <a:ext cx="353482" cy="7217833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9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8BCA7DC1-8FE0-49CA-1C19-B44CF70F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1FEEF4DB-27F5-EF18-2619-82F23AD38463}"/>
              </a:ext>
            </a:extLst>
          </p:cNvPr>
          <p:cNvSpPr txBox="1"/>
          <p:nvPr/>
        </p:nvSpPr>
        <p:spPr>
          <a:xfrm>
            <a:off x="922202" y="994521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Change variable names 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F0498986-F130-A3F4-2591-8C6EE87F8A87}"/>
              </a:ext>
            </a:extLst>
          </p:cNvPr>
          <p:cNvSpPr txBox="1"/>
          <p:nvPr/>
        </p:nvSpPr>
        <p:spPr>
          <a:xfrm>
            <a:off x="922202" y="1510401"/>
            <a:ext cx="4404807" cy="414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Long variable names are a pain to type repeatedly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“How old are you, in years?” -&gt; Age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“What is your date of birth?” -&gt; DOB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Be sure to 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Keep the name meaningful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Record your changes</a:t>
            </a:r>
            <a:endParaRPr dirty="0">
              <a:solidFill>
                <a:srgbClr val="12312B"/>
              </a:solidFill>
              <a:latin typeface="Archivo Medium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B5DA1C-102E-A255-B0A0-910248B7A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54252"/>
              </p:ext>
            </p:extLst>
          </p:nvPr>
        </p:nvGraphicFramePr>
        <p:xfrm>
          <a:off x="5770033" y="1921933"/>
          <a:ext cx="5998161" cy="1295267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(servings)*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05C2F3-D13B-D797-0860-1C51161A4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847819"/>
              </p:ext>
            </p:extLst>
          </p:nvPr>
        </p:nvGraphicFramePr>
        <p:xfrm>
          <a:off x="5714999" y="4199466"/>
          <a:ext cx="5998161" cy="1295267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BodyTemp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7A0119-B90B-9BB4-5849-C0890990266B}"/>
              </a:ext>
            </a:extLst>
          </p:cNvPr>
          <p:cNvSpPr txBox="1"/>
          <p:nvPr/>
        </p:nvSpPr>
        <p:spPr>
          <a:xfrm>
            <a:off x="8001000" y="3488267"/>
            <a:ext cx="154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versus</a:t>
            </a:r>
          </a:p>
        </p:txBody>
      </p:sp>
    </p:spTree>
    <p:extLst>
      <p:ext uri="{BB962C8B-B14F-4D97-AF65-F5344CB8AC3E}">
        <p14:creationId xmlns:p14="http://schemas.microsoft.com/office/powerpoint/2010/main" val="985866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DAB004CA-D64F-55DC-99EB-00713DD2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5AEC881E-47AB-37CA-97FE-8C84E2653B52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Fix typos 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46756EDA-8FAC-45A8-F530-C7C003C9AF90}"/>
              </a:ext>
            </a:extLst>
          </p:cNvPr>
          <p:cNvSpPr txBox="1"/>
          <p:nvPr/>
        </p:nvSpPr>
        <p:spPr>
          <a:xfrm>
            <a:off x="922202" y="1736904"/>
            <a:ext cx="4404807" cy="211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Address simple, clear issues like “Ys” instead of “Yes”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E6DAC9-216E-0B46-DDC0-2C09EDFD9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940074"/>
              </p:ext>
            </p:extLst>
          </p:nvPr>
        </p:nvGraphicFramePr>
        <p:xfrm>
          <a:off x="5702299" y="1849966"/>
          <a:ext cx="5998161" cy="3533662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BodyTemp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975589F-B2FB-0006-D245-9274846A2E24}"/>
              </a:ext>
            </a:extLst>
          </p:cNvPr>
          <p:cNvSpPr/>
          <p:nvPr/>
        </p:nvSpPr>
        <p:spPr>
          <a:xfrm rot="5400000">
            <a:off x="10948457" y="3876679"/>
            <a:ext cx="285751" cy="6434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5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B684E245-743A-6203-7A4F-92FCCFDD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2115D418-1404-2CEF-03AB-29E85A97DF7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Standardize formatting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DC301D3C-1698-EFE1-DD40-BDE247F89951}"/>
              </a:ext>
            </a:extLst>
          </p:cNvPr>
          <p:cNvSpPr txBox="1"/>
          <p:nvPr/>
        </p:nvSpPr>
        <p:spPr>
          <a:xfrm>
            <a:off x="922202" y="1736904"/>
            <a:ext cx="4404807" cy="384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Ensure consistent formatting within and between columns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Dates – MM/DD/YYYY, DD-MM-YY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Units – temperature, age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DFF004-7D1B-2189-B1BA-613EA28E6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907892"/>
              </p:ext>
            </p:extLst>
          </p:nvPr>
        </p:nvGraphicFramePr>
        <p:xfrm>
          <a:off x="5702299" y="1849966"/>
          <a:ext cx="5998161" cy="3533662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BodyTemp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A549969-54EE-D6F3-6B0C-C0DE523C71D1}"/>
              </a:ext>
            </a:extLst>
          </p:cNvPr>
          <p:cNvSpPr/>
          <p:nvPr/>
        </p:nvSpPr>
        <p:spPr>
          <a:xfrm rot="5400000">
            <a:off x="6189699" y="2806133"/>
            <a:ext cx="821269" cy="839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1A319-B004-2EEA-01A9-CEAFB1AEC739}"/>
              </a:ext>
            </a:extLst>
          </p:cNvPr>
          <p:cNvSpPr/>
          <p:nvPr/>
        </p:nvSpPr>
        <p:spPr>
          <a:xfrm rot="5400000">
            <a:off x="8369867" y="4503703"/>
            <a:ext cx="330201" cy="839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D51E60D-ABF9-2D65-DB0D-AF6E0582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A4893481-B8B1-8BCD-D55F-EC2AC5B5F278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Standardize, cont.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336F58E6-02BF-2D90-8432-B3DA3F36B953}"/>
              </a:ext>
            </a:extLst>
          </p:cNvPr>
          <p:cNvSpPr txBox="1"/>
          <p:nvPr/>
        </p:nvSpPr>
        <p:spPr>
          <a:xfrm>
            <a:off x="922202" y="1736904"/>
            <a:ext cx="4404807" cy="409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Missing data format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Blank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“Unknown”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NA/</a:t>
            </a:r>
            <a:r>
              <a:rPr lang="en-US" kern="0" dirty="0" err="1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NaN</a:t>
            </a:r>
            <a:r>
              <a:rPr lang="en-US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/NULL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A specific number, e.g. 999 or -1</a:t>
            </a:r>
            <a:endParaRPr lang="en-US" kern="0" dirty="0">
              <a:solidFill>
                <a:srgbClr val="12312B"/>
              </a:solidFill>
              <a:ea typeface="Arial"/>
              <a:cs typeface="Arial"/>
              <a:sym typeface="Arial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Text entries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Yes/yes/YES -&gt; Yes 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825141-CF0B-FEE7-2975-43FE9E2B5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551861"/>
              </p:ext>
            </p:extLst>
          </p:nvPr>
        </p:nvGraphicFramePr>
        <p:xfrm>
          <a:off x="5702299" y="1849966"/>
          <a:ext cx="5998161" cy="3461657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BodyTemp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6/25/1967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A5CCD6B-F0C6-4DA0-52C9-A685A2752D9E}"/>
              </a:ext>
            </a:extLst>
          </p:cNvPr>
          <p:cNvSpPr/>
          <p:nvPr/>
        </p:nvSpPr>
        <p:spPr>
          <a:xfrm rot="5400000">
            <a:off x="9639299" y="3492502"/>
            <a:ext cx="2912536" cy="8805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9637F-F8E7-01D2-F8AB-11B4B7CD9D9B}"/>
              </a:ext>
            </a:extLst>
          </p:cNvPr>
          <p:cNvSpPr/>
          <p:nvPr/>
        </p:nvSpPr>
        <p:spPr>
          <a:xfrm rot="5400000">
            <a:off x="9664060" y="4773086"/>
            <a:ext cx="351369" cy="8805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3B7E6D-4432-5051-DAE5-AC1D1D4B1D89}"/>
              </a:ext>
            </a:extLst>
          </p:cNvPr>
          <p:cNvSpPr/>
          <p:nvPr/>
        </p:nvSpPr>
        <p:spPr>
          <a:xfrm rot="5400000">
            <a:off x="8372893" y="2584455"/>
            <a:ext cx="351369" cy="8805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7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5CF7A68-874D-CF1A-D7FE-970D5512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B88EBC51-3EB4-A5B9-1439-2F01E7C234E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Fix data types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07517885-9BE0-0CC6-6385-AAF2780B6345}"/>
              </a:ext>
            </a:extLst>
          </p:cNvPr>
          <p:cNvSpPr txBox="1"/>
          <p:nvPr/>
        </p:nvSpPr>
        <p:spPr>
          <a:xfrm>
            <a:off x="922202" y="1736904"/>
            <a:ext cx="4404807" cy="4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Ensure data are stored as the intended type (numeric, date, etc.)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sym typeface="Archivo Medium"/>
              </a:rPr>
              <a:t>Always check dates!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0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sym typeface="Archivo Medium"/>
              </a:rPr>
              <a:t>Text in the Veggies column will result in that column being treated as text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We’ll review the data types again after we clean the data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0A759A-2FE4-04B7-2149-C6934D015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479763"/>
              </p:ext>
            </p:extLst>
          </p:nvPr>
        </p:nvGraphicFramePr>
        <p:xfrm>
          <a:off x="5702299" y="1849966"/>
          <a:ext cx="5998161" cy="3461657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BodyTemp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6/25/1967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929C2A6-D305-C7DD-52A4-81A7E259829D}"/>
              </a:ext>
            </a:extLst>
          </p:cNvPr>
          <p:cNvSpPr/>
          <p:nvPr/>
        </p:nvSpPr>
        <p:spPr>
          <a:xfrm rot="5400000">
            <a:off x="9664060" y="3324372"/>
            <a:ext cx="351369" cy="8805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4A1BD-3664-C84F-5198-EA70FACB418A}"/>
              </a:ext>
            </a:extLst>
          </p:cNvPr>
          <p:cNvSpPr/>
          <p:nvPr/>
        </p:nvSpPr>
        <p:spPr>
          <a:xfrm rot="5400000">
            <a:off x="9699015" y="4756094"/>
            <a:ext cx="351369" cy="8805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0B04A349-5D61-5BDE-E6A0-EB092C81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85B25A89-F346-D398-0060-52FFCD5F0EFF}"/>
              </a:ext>
            </a:extLst>
          </p:cNvPr>
          <p:cNvSpPr txBox="1"/>
          <p:nvPr/>
        </p:nvSpPr>
        <p:spPr>
          <a:xfrm>
            <a:off x="1417320" y="2148841"/>
            <a:ext cx="993038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Elements to consider for your data cleaning plan</a:t>
            </a:r>
            <a:endParaRPr lang="en-US"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AC5C7CE0-5597-3ED7-365F-71AE9C960DA4}"/>
              </a:ext>
            </a:extLst>
          </p:cNvPr>
          <p:cNvSpPr/>
          <p:nvPr/>
        </p:nvSpPr>
        <p:spPr>
          <a:xfrm>
            <a:off x="892384" y="3571208"/>
            <a:ext cx="9618983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Google Shape;134;p25">
            <a:extLst>
              <a:ext uri="{FF2B5EF4-FFF2-40B4-BE49-F238E27FC236}">
                <a16:creationId xmlns:a16="http://schemas.microsoft.com/office/drawing/2014/main" id="{73DC3E4E-A76D-CF12-9A95-07324446C6F4}"/>
              </a:ext>
            </a:extLst>
          </p:cNvPr>
          <p:cNvSpPr txBox="1"/>
          <p:nvPr/>
        </p:nvSpPr>
        <p:spPr>
          <a:xfrm>
            <a:off x="1307485" y="4820204"/>
            <a:ext cx="7305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000" kern="0" dirty="0">
                <a:solidFill>
                  <a:schemeClr val="accent5"/>
                </a:solidFill>
                <a:latin typeface="Anton"/>
                <a:ea typeface="Anton"/>
                <a:cs typeface="Anton"/>
                <a:sym typeface="Anton"/>
              </a:rPr>
              <a:t>Phase 2: Clean the data itself </a:t>
            </a:r>
          </a:p>
        </p:txBody>
      </p:sp>
    </p:spTree>
    <p:extLst>
      <p:ext uri="{BB962C8B-B14F-4D97-AF65-F5344CB8AC3E}">
        <p14:creationId xmlns:p14="http://schemas.microsoft.com/office/powerpoint/2010/main" val="677043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4E85380-6839-1DB6-3040-0F2C6FEB1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A3453F53-ED9D-FDFB-8D79-BD38257301AB}"/>
              </a:ext>
            </a:extLst>
          </p:cNvPr>
          <p:cNvSpPr txBox="1"/>
          <p:nvPr/>
        </p:nvSpPr>
        <p:spPr>
          <a:xfrm>
            <a:off x="922201" y="1157695"/>
            <a:ext cx="7634569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Fixes based on your EDA* findings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64535AFE-AC10-EB33-5883-B5D31E866809}"/>
              </a:ext>
            </a:extLst>
          </p:cNvPr>
          <p:cNvSpPr txBox="1"/>
          <p:nvPr/>
        </p:nvSpPr>
        <p:spPr>
          <a:xfrm>
            <a:off x="922202" y="1736904"/>
            <a:ext cx="4614532" cy="487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sym typeface="Archivo Medium"/>
              </a:rPr>
              <a:t>Example: “1 or 2” in the Veggies column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Numeric – treat as 1.5?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Categorical – treat as 1 or 2?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Exclude?</a:t>
            </a:r>
          </a:p>
          <a:p>
            <a:pPr marL="890460" lvl="2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Consider what you know about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Data collection methods 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Context of the study and/or variable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Analysis plan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May need to check data type after fixes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2F9B37-6D55-EA5A-8F4F-C49D96434C63}"/>
              </a:ext>
            </a:extLst>
          </p:cNvPr>
          <p:cNvGraphicFramePr>
            <a:graphicFrameLocks noGrp="1"/>
          </p:cNvGraphicFramePr>
          <p:nvPr/>
        </p:nvGraphicFramePr>
        <p:xfrm>
          <a:off x="5702299" y="1849966"/>
          <a:ext cx="5998161" cy="3461657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BodyTemp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6/25/1967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23161E9-1B69-0D39-97DA-7FA935A60E04}"/>
              </a:ext>
            </a:extLst>
          </p:cNvPr>
          <p:cNvSpPr/>
          <p:nvPr/>
        </p:nvSpPr>
        <p:spPr>
          <a:xfrm rot="5400000">
            <a:off x="9664060" y="3324372"/>
            <a:ext cx="351369" cy="8805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C1B40-66B3-8E8A-9CE4-74B1FF87D23A}"/>
              </a:ext>
            </a:extLst>
          </p:cNvPr>
          <p:cNvSpPr txBox="1"/>
          <p:nvPr/>
        </p:nvSpPr>
        <p:spPr>
          <a:xfrm>
            <a:off x="7713677" y="225022"/>
            <a:ext cx="2961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*EDA = 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86941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A0FEBCC-0151-2C8A-F831-F60ED17D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C06A3873-F0C7-A23A-2421-C62C22260868}"/>
              </a:ext>
            </a:extLst>
          </p:cNvPr>
          <p:cNvSpPr txBox="1"/>
          <p:nvPr/>
        </p:nvSpPr>
        <p:spPr>
          <a:xfrm>
            <a:off x="957886" y="934671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Duplicates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7DA6CD43-607E-06AE-3920-A5188C07A4D4}"/>
              </a:ext>
            </a:extLst>
          </p:cNvPr>
          <p:cNvSpPr txBox="1"/>
          <p:nvPr/>
        </p:nvSpPr>
        <p:spPr>
          <a:xfrm>
            <a:off x="922202" y="1736904"/>
            <a:ext cx="6406379" cy="432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How are you defining duplicates?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Single variable vs combination of variables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Exact vs “fuzzy” matching - duplicates may not be exact</a:t>
            </a:r>
          </a:p>
          <a:p>
            <a:pPr marL="1377781" lvl="3" indent="-342900">
              <a:lnSpc>
                <a:spcPct val="140013"/>
              </a:lnSpc>
              <a:buClr>
                <a:srgbClr val="12312B"/>
              </a:buClr>
              <a:buSzPts val="3009"/>
              <a:buFont typeface="Arial" panose="020B0604020202020204" pitchFamily="34" charset="0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Different missing data</a:t>
            </a:r>
          </a:p>
          <a:p>
            <a:pPr marL="1377781" lvl="3" indent="-342900">
              <a:lnSpc>
                <a:spcPct val="140013"/>
              </a:lnSpc>
              <a:buClr>
                <a:srgbClr val="12312B"/>
              </a:buClr>
              <a:buSzPts val="3009"/>
              <a:buFont typeface="Arial" panose="020B0604020202020204" pitchFamily="34" charset="0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Conflicting values 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How are you handling duplicates?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Delete one?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Combine them? How and why?</a:t>
            </a:r>
            <a:endParaRPr sz="2006" dirty="0">
              <a:solidFill>
                <a:srgbClr val="12312B"/>
              </a:solidFill>
              <a:latin typeface="Archivo Medium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F657AF-CC0E-C099-3940-E28316AB6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462089"/>
              </p:ext>
            </p:extLst>
          </p:nvPr>
        </p:nvGraphicFramePr>
        <p:xfrm>
          <a:off x="7467763" y="2280209"/>
          <a:ext cx="4066644" cy="2297581"/>
        </p:xfrm>
        <a:graphic>
          <a:graphicData uri="http://schemas.openxmlformats.org/drawingml/2006/table">
            <a:tbl>
              <a:tblPr/>
              <a:tblGrid>
                <a:gridCol w="485868">
                  <a:extLst>
                    <a:ext uri="{9D8B030D-6E8A-4147-A177-3AD203B41FA5}">
                      <a16:colId xmlns:a16="http://schemas.microsoft.com/office/drawing/2014/main" val="931674383"/>
                    </a:ext>
                  </a:extLst>
                </a:gridCol>
                <a:gridCol w="1349811">
                  <a:extLst>
                    <a:ext uri="{9D8B030D-6E8A-4147-A177-3AD203B41FA5}">
                      <a16:colId xmlns:a16="http://schemas.microsoft.com/office/drawing/2014/main" val="2205553950"/>
                    </a:ext>
                  </a:extLst>
                </a:gridCol>
                <a:gridCol w="1248833">
                  <a:extLst>
                    <a:ext uri="{9D8B030D-6E8A-4147-A177-3AD203B41FA5}">
                      <a16:colId xmlns:a16="http://schemas.microsoft.com/office/drawing/2014/main" val="2642280183"/>
                    </a:ext>
                  </a:extLst>
                </a:gridCol>
                <a:gridCol w="982132">
                  <a:extLst>
                    <a:ext uri="{9D8B030D-6E8A-4147-A177-3AD203B41FA5}">
                      <a16:colId xmlns:a16="http://schemas.microsoft.com/office/drawing/2014/main" val="83217320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Zip code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94875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609139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244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04/30/03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15580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09850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10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574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DEF6858E-5CCD-2AAF-4754-5A8C42C3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38C85A26-39DC-B390-0657-916C861029CA}"/>
              </a:ext>
            </a:extLst>
          </p:cNvPr>
          <p:cNvSpPr txBox="1"/>
          <p:nvPr/>
        </p:nvSpPr>
        <p:spPr>
          <a:xfrm>
            <a:off x="934785" y="1153501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Missing data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955E7169-0DF8-3C57-53CC-3F351234D714}"/>
              </a:ext>
            </a:extLst>
          </p:cNvPr>
          <p:cNvSpPr txBox="1"/>
          <p:nvPr/>
        </p:nvSpPr>
        <p:spPr>
          <a:xfrm>
            <a:off x="154609" y="1476846"/>
            <a:ext cx="5294041" cy="432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216630" lvl="1">
              <a:lnSpc>
                <a:spcPct val="140013"/>
              </a:lnSpc>
              <a:buClr>
                <a:srgbClr val="12312B"/>
              </a:buClr>
              <a:buSzPts val="3009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216630" lvl="1">
              <a:lnSpc>
                <a:spcPct val="140013"/>
              </a:lnSpc>
              <a:buClr>
                <a:srgbClr val="12312B"/>
              </a:buClr>
              <a:buSzPts val="3009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Before you do anything about missing data, you need to understand if there is a pattern to the missingness. 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ial"/>
                <a:sym typeface="Archivo Medium"/>
              </a:rPr>
              <a:t>Random: all values have an equal chance of being missing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ial"/>
                <a:sym typeface="Archivo Medium"/>
              </a:rPr>
              <a:t>Non-random: certain values are more likely to be missing</a:t>
            </a:r>
          </a:p>
          <a:p>
            <a:pPr marL="890460" lvl="2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FCCD42-0340-D5ED-9428-0F86E6A09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72917"/>
              </p:ext>
            </p:extLst>
          </p:nvPr>
        </p:nvGraphicFramePr>
        <p:xfrm>
          <a:off x="5706532" y="2372522"/>
          <a:ext cx="5998161" cy="3461657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BodyTemp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6/25/1967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987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BC4A12F-CD5A-F06B-F579-017763AE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5BB8FA7A-D6D7-92F6-BAD7-451B3ED930C2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Handling missing data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8553FCF2-CE12-066E-BE41-43FC5605F6FD}"/>
              </a:ext>
            </a:extLst>
          </p:cNvPr>
          <p:cNvSpPr txBox="1"/>
          <p:nvPr/>
        </p:nvSpPr>
        <p:spPr>
          <a:xfrm>
            <a:off x="922202" y="1736904"/>
            <a:ext cx="4450947" cy="5085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Delete – most common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Two ways to apply this method</a:t>
            </a:r>
          </a:p>
          <a:p>
            <a:pPr marL="1347660" lvl="3" indent="-216630">
              <a:lnSpc>
                <a:spcPct val="140013"/>
              </a:lnSpc>
              <a:buClr>
                <a:srgbClr val="12312B"/>
              </a:buClr>
              <a:buSzPct val="125000"/>
              <a:buFont typeface="Archivo Medium"/>
              <a:buChar char="•"/>
            </a:pPr>
            <a:r>
              <a:rPr lang="en-US" sz="1600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Across all rows for any subject with missing data</a:t>
            </a:r>
          </a:p>
          <a:p>
            <a:pPr marL="1347660" lvl="3" indent="-216630">
              <a:lnSpc>
                <a:spcPct val="140013"/>
              </a:lnSpc>
              <a:buClr>
                <a:srgbClr val="12312B"/>
              </a:buClr>
              <a:buSzPct val="125000"/>
              <a:buFont typeface="Archivo Medium"/>
              <a:buChar char="•"/>
            </a:pPr>
            <a:r>
              <a:rPr lang="en-US" sz="1600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For analyses of missing variable only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Suitability depends on how much data is missing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Use other values in the dataset to estimate missing values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Impute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Interpolate</a:t>
            </a:r>
            <a:endParaRPr lang="en-US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4FCC74-C5C5-4F80-4242-96771C958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184407"/>
              </p:ext>
            </p:extLst>
          </p:nvPr>
        </p:nvGraphicFramePr>
        <p:xfrm>
          <a:off x="5706532" y="2372522"/>
          <a:ext cx="5998161" cy="3461657"/>
        </p:xfrm>
        <a:graphic>
          <a:graphicData uri="http://schemas.openxmlformats.org/drawingml/2006/table">
            <a:tbl>
              <a:tblPr/>
              <a:tblGrid>
                <a:gridCol w="42285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59440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8279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74127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2947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731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BodyTemp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6/25/1967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610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724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134D781-41F0-193C-B12C-75628097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D3D20692-595C-B15C-6DBE-BA0BD11AD2DC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Outliers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E4D58092-EF89-6476-F0B8-CFFF488A43E1}"/>
              </a:ext>
            </a:extLst>
          </p:cNvPr>
          <p:cNvSpPr txBox="1"/>
          <p:nvPr/>
        </p:nvSpPr>
        <p:spPr>
          <a:xfrm>
            <a:off x="922202" y="1613648"/>
            <a:ext cx="7315787" cy="5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Identify outliers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Visual, e.g., a boxplot or scatterplot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Statistical methods, e.g., a value &gt;2 standard deviations from the mean</a:t>
            </a:r>
          </a:p>
          <a:p>
            <a:pPr marL="890460" lvl="2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Evaluate outliers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Is the data point invalid, e.g., caused by a measurement error?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Or is it a valid but unusual number?</a:t>
            </a:r>
          </a:p>
          <a:p>
            <a:pPr marL="890460" lvl="2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Determine how to handle outliers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Delete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Include in analyses</a:t>
            </a:r>
            <a:endParaRPr dirty="0">
              <a:solidFill>
                <a:srgbClr val="12312B"/>
              </a:solidFill>
              <a:latin typeface="Archivo Medium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514E3-88A6-9078-AAD4-EB040AB0B8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841" b="2782"/>
          <a:stretch>
            <a:fillRect/>
          </a:stretch>
        </p:blipFill>
        <p:spPr>
          <a:xfrm>
            <a:off x="7892604" y="3429000"/>
            <a:ext cx="4263217" cy="3400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478BD-F171-1274-7404-1FDC47489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604" y="83889"/>
            <a:ext cx="4263217" cy="346884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06DC6A4-C7D4-78B3-655C-75A5CC014910}"/>
              </a:ext>
            </a:extLst>
          </p:cNvPr>
          <p:cNvCxnSpPr/>
          <p:nvPr/>
        </p:nvCxnSpPr>
        <p:spPr>
          <a:xfrm flipH="1">
            <a:off x="8582251" y="2537899"/>
            <a:ext cx="191069" cy="3184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4C7435-5A50-CA72-820C-0EE5C029D553}"/>
              </a:ext>
            </a:extLst>
          </p:cNvPr>
          <p:cNvCxnSpPr>
            <a:cxnSpLocks/>
          </p:cNvCxnSpPr>
          <p:nvPr/>
        </p:nvCxnSpPr>
        <p:spPr>
          <a:xfrm flipV="1">
            <a:off x="9745560" y="3997998"/>
            <a:ext cx="211540" cy="3580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032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7C42CFC5-AD58-40B4-6B78-4EED19C6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D9A83BDB-34E8-9FAB-4C3A-D6A014588B02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Transformations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231F5603-BC89-21BA-568B-7240925C978B}"/>
              </a:ext>
            </a:extLst>
          </p:cNvPr>
          <p:cNvSpPr txBox="1"/>
          <p:nvPr/>
        </p:nvSpPr>
        <p:spPr>
          <a:xfrm>
            <a:off x="922201" y="1736904"/>
            <a:ext cx="3930809" cy="432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Creating new variables, e.g., age groups from numeric ages</a:t>
            </a: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Change the format, e.g., from long to wide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Statistical test requirements, e.g., normally distributed data</a:t>
            </a: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>
              <a:lnSpc>
                <a:spcPct val="140013"/>
              </a:lnSpc>
            </a:pPr>
            <a:endParaRPr sz="2006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205B17-CEF6-FDCB-DFA5-B98B0416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268351"/>
              </p:ext>
            </p:extLst>
          </p:nvPr>
        </p:nvGraphicFramePr>
        <p:xfrm>
          <a:off x="5735782" y="1613648"/>
          <a:ext cx="6263885" cy="2243605"/>
        </p:xfrm>
        <a:graphic>
          <a:graphicData uri="http://schemas.openxmlformats.org/drawingml/2006/table">
            <a:tbl>
              <a:tblPr/>
              <a:tblGrid>
                <a:gridCol w="386298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1102724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92327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400183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126999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324403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</a:tblGrid>
              <a:tr h="4747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6/25/1967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F3E2BB-8C48-88A8-6A8E-F88A8BC0D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983460"/>
              </p:ext>
            </p:extLst>
          </p:nvPr>
        </p:nvGraphicFramePr>
        <p:xfrm>
          <a:off x="7442939" y="4446241"/>
          <a:ext cx="2662766" cy="1501140"/>
        </p:xfrm>
        <a:graphic>
          <a:graphicData uri="http://schemas.openxmlformats.org/drawingml/2006/table">
            <a:tbl>
              <a:tblPr/>
              <a:tblGrid>
                <a:gridCol w="486833">
                  <a:extLst>
                    <a:ext uri="{9D8B030D-6E8A-4147-A177-3AD203B41FA5}">
                      <a16:colId xmlns:a16="http://schemas.microsoft.com/office/drawing/2014/main" val="2756001728"/>
                    </a:ext>
                  </a:extLst>
                </a:gridCol>
                <a:gridCol w="1133593">
                  <a:extLst>
                    <a:ext uri="{9D8B030D-6E8A-4147-A177-3AD203B41FA5}">
                      <a16:colId xmlns:a16="http://schemas.microsoft.com/office/drawing/2014/main" val="1553241688"/>
                    </a:ext>
                  </a:extLst>
                </a:gridCol>
                <a:gridCol w="1042340">
                  <a:extLst>
                    <a:ext uri="{9D8B030D-6E8A-4147-A177-3AD203B41FA5}">
                      <a16:colId xmlns:a16="http://schemas.microsoft.com/office/drawing/2014/main" val="3390095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Time Point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Height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11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99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1920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5204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1323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39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14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28BC1DA-352E-7CAD-C82B-819A0386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3692B6ED-87F3-507A-6BAC-8794C812719B}"/>
              </a:ext>
            </a:extLst>
          </p:cNvPr>
          <p:cNvSpPr txBox="1"/>
          <p:nvPr/>
        </p:nvSpPr>
        <p:spPr>
          <a:xfrm>
            <a:off x="1413126" y="2798987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The process, revisited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A2624C61-5BC8-28F5-A873-7471361F8F5E}"/>
              </a:ext>
            </a:extLst>
          </p:cNvPr>
          <p:cNvSpPr/>
          <p:nvPr/>
        </p:nvSpPr>
        <p:spPr>
          <a:xfrm>
            <a:off x="892384" y="3571208"/>
            <a:ext cx="6544456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9026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4B5ACADF-9BBD-C30B-50E7-8FE88B35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47900E25-2F91-00A9-7685-7154C714219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The data cleaning process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468D98E6-875D-4F98-101B-41EF44542356}"/>
              </a:ext>
            </a:extLst>
          </p:cNvPr>
          <p:cNvSpPr txBox="1"/>
          <p:nvPr/>
        </p:nvSpPr>
        <p:spPr>
          <a:xfrm>
            <a:off x="922202" y="1736904"/>
            <a:ext cx="9776400" cy="267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Have a plan </a:t>
            </a: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Implement the plan</a:t>
            </a: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Make sure the plan worked correctly</a:t>
            </a: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57200" indent="-457200">
              <a:lnSpc>
                <a:spcPct val="140013"/>
              </a:lnSpc>
              <a:buSzPct val="115000"/>
              <a:buFont typeface="+mj-lt"/>
              <a:buAutoNum type="arabicPeriod"/>
            </a:pPr>
            <a:endParaRPr sz="2006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1258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0C965F77-5F06-722A-962B-3296280B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2CAC0573-B552-7472-55DE-7AE2B019EE44}"/>
              </a:ext>
            </a:extLst>
          </p:cNvPr>
          <p:cNvSpPr txBox="1"/>
          <p:nvPr/>
        </p:nvSpPr>
        <p:spPr>
          <a:xfrm>
            <a:off x="922201" y="1157695"/>
            <a:ext cx="9379479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The importance of order in your cleaning steps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E2145F62-ABB2-61B9-44AE-A95F7913E405}"/>
              </a:ext>
            </a:extLst>
          </p:cNvPr>
          <p:cNvSpPr txBox="1"/>
          <p:nvPr/>
        </p:nvSpPr>
        <p:spPr>
          <a:xfrm>
            <a:off x="922202" y="1736904"/>
            <a:ext cx="9776400" cy="475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Example: Standardizing different ways of entering “yes” 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using a command like “change ‘YES’ or ‘</a:t>
            </a:r>
            <a:r>
              <a:rPr lang="en-US" sz="2006" dirty="0" err="1">
                <a:solidFill>
                  <a:srgbClr val="12312B"/>
                </a:solidFill>
                <a:latin typeface="Archivo Medium"/>
                <a:sym typeface="Archivo Medium"/>
              </a:rPr>
              <a:t>yes’</a:t>
            </a: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 or ‘Y’ or ‘Yes’ → ‘Yes’”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…when one of the entries has a typo.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Example: Entries in incorrect units (e.g., temperature in Fahrenheit versus Celsius)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… which could otherwise seem like outliers.</a:t>
            </a:r>
            <a:endParaRPr lang="en-US" sz="2006" dirty="0">
              <a:solidFill>
                <a:srgbClr val="12312B"/>
              </a:solidFill>
              <a:latin typeface="Archivo Medium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C7A991-BF99-1A56-9396-46453E1584BD}"/>
              </a:ext>
            </a:extLst>
          </p:cNvPr>
          <p:cNvGraphicFramePr>
            <a:graphicFrameLocks noGrp="1"/>
          </p:cNvGraphicFramePr>
          <p:nvPr/>
        </p:nvGraphicFramePr>
        <p:xfrm>
          <a:off x="2426480" y="3503488"/>
          <a:ext cx="896065" cy="185420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896065">
                  <a:extLst>
                    <a:ext uri="{9D8B030D-6E8A-4147-A177-3AD203B41FA5}">
                      <a16:colId xmlns:a16="http://schemas.microsoft.com/office/drawing/2014/main" val="3946955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43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414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74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3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5079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97C4FA-1522-5AA8-7950-E04AEBE3ED2B}"/>
              </a:ext>
            </a:extLst>
          </p:cNvPr>
          <p:cNvSpPr txBox="1"/>
          <p:nvPr/>
        </p:nvSpPr>
        <p:spPr>
          <a:xfrm>
            <a:off x="5272985" y="4282230"/>
            <a:ext cx="85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versus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F08330-D97D-5475-2B3B-8CFFD852E37B}"/>
              </a:ext>
            </a:extLst>
          </p:cNvPr>
          <p:cNvCxnSpPr/>
          <p:nvPr/>
        </p:nvCxnSpPr>
        <p:spPr>
          <a:xfrm>
            <a:off x="3406435" y="4454205"/>
            <a:ext cx="36492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3A1718-0C00-C1A1-C74C-EAC13CD47F68}"/>
              </a:ext>
            </a:extLst>
          </p:cNvPr>
          <p:cNvCxnSpPr/>
          <p:nvPr/>
        </p:nvCxnSpPr>
        <p:spPr>
          <a:xfrm>
            <a:off x="7665905" y="4454205"/>
            <a:ext cx="36492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0C875B7-E48E-3854-E59F-C3EFFD73D538}"/>
              </a:ext>
            </a:extLst>
          </p:cNvPr>
          <p:cNvGraphicFramePr>
            <a:graphicFrameLocks noGrp="1"/>
          </p:cNvGraphicFramePr>
          <p:nvPr/>
        </p:nvGraphicFramePr>
        <p:xfrm>
          <a:off x="3884766" y="3503488"/>
          <a:ext cx="896065" cy="185420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896065">
                  <a:extLst>
                    <a:ext uri="{9D8B030D-6E8A-4147-A177-3AD203B41FA5}">
                      <a16:colId xmlns:a16="http://schemas.microsoft.com/office/drawing/2014/main" val="3946955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43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414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74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3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50799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EC61A36-7641-1FA5-0542-235D8A00932E}"/>
              </a:ext>
            </a:extLst>
          </p:cNvPr>
          <p:cNvGraphicFramePr>
            <a:graphicFrameLocks noGrp="1"/>
          </p:cNvGraphicFramePr>
          <p:nvPr/>
        </p:nvGraphicFramePr>
        <p:xfrm>
          <a:off x="6485354" y="3503487"/>
          <a:ext cx="896065" cy="185420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896065">
                  <a:extLst>
                    <a:ext uri="{9D8B030D-6E8A-4147-A177-3AD203B41FA5}">
                      <a16:colId xmlns:a16="http://schemas.microsoft.com/office/drawing/2014/main" val="3946955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43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414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ys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74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3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50799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A977BE0-1CD4-59AE-1933-582766F52634}"/>
              </a:ext>
            </a:extLst>
          </p:cNvPr>
          <p:cNvGraphicFramePr>
            <a:graphicFrameLocks noGrp="1"/>
          </p:cNvGraphicFramePr>
          <p:nvPr/>
        </p:nvGraphicFramePr>
        <p:xfrm>
          <a:off x="8247201" y="3503488"/>
          <a:ext cx="896065" cy="1854199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896065">
                  <a:extLst>
                    <a:ext uri="{9D8B030D-6E8A-4147-A177-3AD203B41FA5}">
                      <a16:colId xmlns:a16="http://schemas.microsoft.com/office/drawing/2014/main" val="3946955103"/>
                    </a:ext>
                  </a:extLst>
                </a:gridCol>
              </a:tblGrid>
              <a:tr h="3377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432256"/>
                  </a:ext>
                </a:extLst>
              </a:tr>
              <a:tr h="3791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414375"/>
                  </a:ext>
                </a:extLst>
              </a:tr>
              <a:tr h="3791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ys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74197"/>
                  </a:ext>
                </a:extLst>
              </a:tr>
              <a:tr h="3791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30328"/>
                  </a:ext>
                </a:extLst>
              </a:tr>
              <a:tr h="3791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50799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F233747-CEE8-FB73-501F-72BDB8A66C32}"/>
              </a:ext>
            </a:extLst>
          </p:cNvPr>
          <p:cNvSpPr/>
          <p:nvPr/>
        </p:nvSpPr>
        <p:spPr>
          <a:xfrm rot="5400000">
            <a:off x="6705047" y="3833423"/>
            <a:ext cx="430554" cy="11538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2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5C10CB9-2981-3D34-CB5F-B22F59ECB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DFC1E11C-0CCD-802D-F4E4-2689BC156D86}"/>
              </a:ext>
            </a:extLst>
          </p:cNvPr>
          <p:cNvSpPr txBox="1"/>
          <p:nvPr/>
        </p:nvSpPr>
        <p:spPr>
          <a:xfrm>
            <a:off x="922201" y="1157695"/>
            <a:ext cx="7794231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The 80/20 rule of data science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3A31EABD-909C-4751-F630-B3527845E2DD}"/>
              </a:ext>
            </a:extLst>
          </p:cNvPr>
          <p:cNvSpPr/>
          <p:nvPr/>
        </p:nvSpPr>
        <p:spPr>
          <a:xfrm rot="5400000" flipH="1">
            <a:off x="5015814" y="15482"/>
            <a:ext cx="524015" cy="6200267"/>
          </a:xfrm>
          <a:prstGeom prst="rightBrac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75584-B96E-A958-1C45-AA70FE3EA2A4}"/>
              </a:ext>
            </a:extLst>
          </p:cNvPr>
          <p:cNvSpPr txBox="1"/>
          <p:nvPr/>
        </p:nvSpPr>
        <p:spPr>
          <a:xfrm>
            <a:off x="9063566" y="4922676"/>
            <a:ext cx="181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Archivo Medium"/>
              </a:rPr>
              <a:t>20%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E2AE10D-D233-64A2-3820-B68BAD83D95C}"/>
              </a:ext>
            </a:extLst>
          </p:cNvPr>
          <p:cNvSpPr/>
          <p:nvPr/>
        </p:nvSpPr>
        <p:spPr>
          <a:xfrm>
            <a:off x="2177688" y="3411282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Get Raw Data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47725F6-36F1-F470-21D1-A8787E3E6300}"/>
              </a:ext>
            </a:extLst>
          </p:cNvPr>
          <p:cNvSpPr/>
          <p:nvPr/>
        </p:nvSpPr>
        <p:spPr>
          <a:xfrm>
            <a:off x="3736356" y="3411282"/>
            <a:ext cx="1800986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>
                <a:latin typeface="Archivo Medium"/>
              </a:rPr>
              <a:t>Exploratory Data Analysis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E60C89D-CB04-FEE1-D871-2E2F2937CACE}"/>
              </a:ext>
            </a:extLst>
          </p:cNvPr>
          <p:cNvSpPr/>
          <p:nvPr/>
        </p:nvSpPr>
        <p:spPr>
          <a:xfrm>
            <a:off x="5295024" y="3411282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Analysis Planning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9792892-793A-AEC5-DFF1-1F49CF6C276F}"/>
              </a:ext>
            </a:extLst>
          </p:cNvPr>
          <p:cNvSpPr/>
          <p:nvPr/>
        </p:nvSpPr>
        <p:spPr>
          <a:xfrm>
            <a:off x="6853692" y="3411282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Cleaning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0C8640B-CE90-4C47-A44B-DDCEB5592B12}"/>
              </a:ext>
            </a:extLst>
          </p:cNvPr>
          <p:cNvSpPr/>
          <p:nvPr/>
        </p:nvSpPr>
        <p:spPr>
          <a:xfrm>
            <a:off x="8412358" y="3411282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Analysis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F1A2437-31E7-7207-CA8A-5BDDF6F0D398}"/>
              </a:ext>
            </a:extLst>
          </p:cNvPr>
          <p:cNvSpPr/>
          <p:nvPr/>
        </p:nvSpPr>
        <p:spPr>
          <a:xfrm rot="5400000">
            <a:off x="9081145" y="3919456"/>
            <a:ext cx="394277" cy="1503478"/>
          </a:xfrm>
          <a:prstGeom prst="rightBrace">
            <a:avLst>
              <a:gd name="adj1" fmla="val 8333"/>
              <a:gd name="adj2" fmla="val 49454"/>
            </a:avLst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EABD9-A0F0-75FA-9E1E-2B66511E46C0}"/>
              </a:ext>
            </a:extLst>
          </p:cNvPr>
          <p:cNvSpPr txBox="1"/>
          <p:nvPr/>
        </p:nvSpPr>
        <p:spPr>
          <a:xfrm>
            <a:off x="5034225" y="2518143"/>
            <a:ext cx="181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Archivo Medium"/>
              </a:rPr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256780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020D61C2-E8F4-8EA1-5531-1912B470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1DC6A1F0-07F8-E8BE-0E98-43CDCBADDBE4}"/>
              </a:ext>
            </a:extLst>
          </p:cNvPr>
          <p:cNvSpPr txBox="1"/>
          <p:nvPr/>
        </p:nvSpPr>
        <p:spPr>
          <a:xfrm>
            <a:off x="1751260" y="2607733"/>
            <a:ext cx="852944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Data cleaning conceptual wrap-up</a:t>
            </a: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6B4E2796-A737-8D58-8B27-14C18AE935FB}"/>
              </a:ext>
            </a:extLst>
          </p:cNvPr>
          <p:cNvSpPr/>
          <p:nvPr/>
        </p:nvSpPr>
        <p:spPr>
          <a:xfrm>
            <a:off x="1038079" y="3552091"/>
            <a:ext cx="9632969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30024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1A97247-DC34-3650-7569-11C43584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AAD7AB34-A11C-5BF1-486B-13E9D96AD10D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Final points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91D3541C-506E-0877-E5B2-85227D4FDD72}"/>
              </a:ext>
            </a:extLst>
          </p:cNvPr>
          <p:cNvSpPr txBox="1"/>
          <p:nvPr/>
        </p:nvSpPr>
        <p:spPr>
          <a:xfrm>
            <a:off x="922202" y="1736904"/>
            <a:ext cx="9776400" cy="427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/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We discussed what data cleaning is and that it is an important step in the research process. 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0" dirty="0">
                <a:solidFill>
                  <a:srgbClr val="12312B"/>
                </a:solidFill>
                <a:latin typeface="Archivo Medium"/>
                <a:sym typeface="Archivo Medium"/>
              </a:rPr>
              <a:t>During this stage you make decisions with major implications for your analysis.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0" dirty="0">
                <a:solidFill>
                  <a:srgbClr val="12312B"/>
                </a:solidFill>
                <a:latin typeface="Archivo Medium"/>
                <a:sym typeface="Archivo Medium"/>
              </a:rPr>
              <a:t>These decisions and related methods need to be justifiable, documented, and reproducible.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200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We discussed how to approach data cleaning – with a plan!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We went through a list of common data cleaning tasks to consider including in your plan.</a:t>
            </a: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30359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955B6565-5845-EE64-20DF-5704908F0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4E8F30D0-8568-62ED-9A6F-499A7AF88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970" y="861451"/>
            <a:ext cx="9017400" cy="1286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dirty="0"/>
              <a:t>Discussion Questions</a:t>
            </a:r>
            <a:endParaRPr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172A94-B2C0-C0B4-180D-B8A5B376279E}"/>
              </a:ext>
            </a:extLst>
          </p:cNvPr>
          <p:cNvSpPr txBox="1"/>
          <p:nvPr/>
        </p:nvSpPr>
        <p:spPr>
          <a:xfrm>
            <a:off x="1938970" y="2294156"/>
            <a:ext cx="9411112" cy="437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</a:rPr>
              <a:t>What does data cleaning mean to you?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kern="0" dirty="0">
              <a:solidFill>
                <a:srgbClr val="12312B"/>
              </a:solidFill>
              <a:latin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</a:rPr>
              <a:t>You have just been given a dataset to clean. How confident are you in your next steps?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Not at all confident - I don't really know where to start.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A little confident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Somewhat confident - I have some ideas and can start adjusting the data.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Pretty confident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</a:rPr>
              <a:t>Highly confident - I have a plan and know what my next steps 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7810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0C4EC0DB-9F90-755B-896D-AD181A95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CCE112CE-C251-66C3-39B4-D6754ED604A0}"/>
              </a:ext>
            </a:extLst>
          </p:cNvPr>
          <p:cNvSpPr txBox="1"/>
          <p:nvPr/>
        </p:nvSpPr>
        <p:spPr>
          <a:xfrm>
            <a:off x="1736521" y="2286001"/>
            <a:ext cx="843932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60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What questions do you still have about data cleaning?</a:t>
            </a:r>
            <a:endParaRPr sz="2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65C5C9AB-1210-9E25-4E57-FCAF6C1798A3}"/>
              </a:ext>
            </a:extLst>
          </p:cNvPr>
          <p:cNvSpPr/>
          <p:nvPr/>
        </p:nvSpPr>
        <p:spPr>
          <a:xfrm>
            <a:off x="1365250" y="4525214"/>
            <a:ext cx="9242621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6653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LVI theme 1">
  <a:themeElements>
    <a:clrScheme name="Office">
      <a:dk1>
        <a:srgbClr val="12312B"/>
      </a:dk1>
      <a:lt1>
        <a:srgbClr val="FFFFFF"/>
      </a:lt1>
      <a:dk2>
        <a:srgbClr val="00693D"/>
      </a:dk2>
      <a:lt2>
        <a:srgbClr val="000000"/>
      </a:lt2>
      <a:accent1>
        <a:srgbClr val="A5D75F"/>
      </a:accent1>
      <a:accent2>
        <a:srgbClr val="00693D"/>
      </a:accent2>
      <a:accent3>
        <a:srgbClr val="12312B"/>
      </a:accent3>
      <a:accent4>
        <a:srgbClr val="C3E7FF"/>
      </a:accent4>
      <a:accent5>
        <a:srgbClr val="F5DC69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rgbClr val="12312B"/>
    </a:dk1>
    <a:lt1>
      <a:srgbClr val="FFFFFF"/>
    </a:lt1>
    <a:dk2>
      <a:srgbClr val="00693D"/>
    </a:dk2>
    <a:lt2>
      <a:srgbClr val="000000"/>
    </a:lt2>
    <a:accent1>
      <a:srgbClr val="A5D75F"/>
    </a:accent1>
    <a:accent2>
      <a:srgbClr val="00693D"/>
    </a:accent2>
    <a:accent3>
      <a:srgbClr val="12312B"/>
    </a:accent3>
    <a:accent4>
      <a:srgbClr val="C3E7FF"/>
    </a:accent4>
    <a:accent5>
      <a:srgbClr val="F5DC69"/>
    </a:accent5>
    <a:accent6>
      <a:srgbClr val="FFFFFF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2153</TotalTime>
  <Words>2415</Words>
  <Application>Microsoft Office PowerPoint</Application>
  <PresentationFormat>Widescreen</PresentationFormat>
  <Paragraphs>921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Alegreya</vt:lpstr>
      <vt:lpstr>Anton</vt:lpstr>
      <vt:lpstr>Aptos</vt:lpstr>
      <vt:lpstr>Aptos Display</vt:lpstr>
      <vt:lpstr>Aptos Narrow</vt:lpstr>
      <vt:lpstr>Archivo</vt:lpstr>
      <vt:lpstr>Archivo ExtraBold</vt:lpstr>
      <vt:lpstr>Archivo Medium</vt:lpstr>
      <vt:lpstr>Archivo SemiBold</vt:lpstr>
      <vt:lpstr>Arial</vt:lpstr>
      <vt:lpstr>Calibri</vt:lpstr>
      <vt:lpstr>Wingdings</vt:lpstr>
      <vt:lpstr>Office Theme</vt:lpstr>
      <vt:lpstr>DLVI theme 1</vt:lpstr>
      <vt:lpstr>PowerPoint Presentation</vt:lpstr>
      <vt:lpstr>PowerPoint Presentation</vt:lpstr>
      <vt:lpstr>Discussion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Owers Bonner</dc:creator>
  <cp:lastModifiedBy>Katie Owers Bonner</cp:lastModifiedBy>
  <cp:revision>2</cp:revision>
  <dcterms:created xsi:type="dcterms:W3CDTF">2025-09-16T18:18:09Z</dcterms:created>
  <dcterms:modified xsi:type="dcterms:W3CDTF">2026-09-01T19:36:38Z</dcterms:modified>
</cp:coreProperties>
</file>