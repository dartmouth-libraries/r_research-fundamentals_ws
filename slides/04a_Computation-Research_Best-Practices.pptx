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modernComment_15A_EE3B0802.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1" r:id="rId2"/>
  </p:sldMasterIdLst>
  <p:notesMasterIdLst>
    <p:notesMasterId r:id="rId27"/>
  </p:notesMasterIdLst>
  <p:sldIdLst>
    <p:sldId id="299" r:id="rId3"/>
    <p:sldId id="272" r:id="rId4"/>
    <p:sldId id="361" r:id="rId5"/>
    <p:sldId id="313" r:id="rId6"/>
    <p:sldId id="359" r:id="rId7"/>
    <p:sldId id="360" r:id="rId8"/>
    <p:sldId id="343" r:id="rId9"/>
    <p:sldId id="314" r:id="rId10"/>
    <p:sldId id="354" r:id="rId11"/>
    <p:sldId id="355" r:id="rId12"/>
    <p:sldId id="267" r:id="rId13"/>
    <p:sldId id="357" r:id="rId14"/>
    <p:sldId id="265" r:id="rId15"/>
    <p:sldId id="346" r:id="rId16"/>
    <p:sldId id="362" r:id="rId17"/>
    <p:sldId id="341" r:id="rId18"/>
    <p:sldId id="363" r:id="rId19"/>
    <p:sldId id="367" r:id="rId20"/>
    <p:sldId id="368" r:id="rId21"/>
    <p:sldId id="364" r:id="rId22"/>
    <p:sldId id="365" r:id="rId23"/>
    <p:sldId id="366" r:id="rId24"/>
    <p:sldId id="353" r:id="rId25"/>
    <p:sldId id="33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5D1CE9B-DF25-4FEC-06DE-212637DD9CB8}" name="Katie Owers Bonner" initials="KO" userId="S::f008496@dartmouth.edu::031be739-2ca3-49bb-9134-32c5274b029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41" d="100"/>
          <a:sy n="141" d="100"/>
        </p:scale>
        <p:origin x="102" y="462"/>
      </p:cViewPr>
      <p:guideLst/>
    </p:cSldViewPr>
  </p:slideViewPr>
  <p:notesTextViewPr>
    <p:cViewPr>
      <p:scale>
        <a:sx n="3" d="2"/>
        <a:sy n="3" d="2"/>
      </p:scale>
      <p:origin x="0" y="0"/>
    </p:cViewPr>
  </p:notesTextViewPr>
  <p:sorterViewPr>
    <p:cViewPr>
      <p:scale>
        <a:sx n="200" d="100"/>
        <a:sy n="200" d="100"/>
      </p:scale>
      <p:origin x="0" y="-19492"/>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8/10/relationships/authors" Targe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5A_EE3B0802.xml><?xml version="1.0" encoding="utf-8"?>
<p188:cmLst xmlns:a="http://schemas.openxmlformats.org/drawingml/2006/main" xmlns:r="http://schemas.openxmlformats.org/officeDocument/2006/relationships" xmlns:p188="http://schemas.microsoft.com/office/powerpoint/2018/8/main">
  <p188:cm id="{FBE73A72-6E4D-4BD8-BAEC-35D98471EF5D}" authorId="{45D1CE9B-DF25-4FEC-06DE-212637DD9CB8}" created="2026-02-04T20:47:29.252">
    <pc:sldMkLst xmlns:pc="http://schemas.microsoft.com/office/powerpoint/2013/main/command">
      <pc:docMk/>
      <pc:sldMk cId="3996846082" sldId="346"/>
    </pc:sldMkLst>
    <p188:txBody>
      <a:bodyPr/>
      <a:lstStyle/>
      <a:p>
        <a:r>
          <a:rPr lang="en-US"/>
          <a:t>Does all this really need to be in a data cleaning plan? Technically no, but a lot of it is the methods for your paper and you better write it up now!
Also include some notes around actual format for a plan.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9BCB6A-05C9-45C4-8C56-4DA0982723A6}"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CD22BE-BF9C-4E75-AC94-2D6751883E45}" type="slidenum">
              <a:rPr lang="en-US" smtClean="0"/>
              <a:t>‹#›</a:t>
            </a:fld>
            <a:endParaRPr lang="en-US"/>
          </a:p>
        </p:txBody>
      </p:sp>
    </p:spTree>
    <p:extLst>
      <p:ext uri="{BB962C8B-B14F-4D97-AF65-F5344CB8AC3E}">
        <p14:creationId xmlns:p14="http://schemas.microsoft.com/office/powerpoint/2010/main" val="3598136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dirty="0"/>
          </a:p>
        </p:txBody>
      </p:sp>
      <p:sp>
        <p:nvSpPr>
          <p:cNvPr id="107" name="Google Shape;10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09DADC13-2699-00A3-93AF-6AD015788FEB}"/>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E64E48B-396E-256A-5BCB-5142DD8642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A2869BC7-2B47-AF38-88CF-ED7B8FCE6F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04924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F5C9CD10-B1D8-F984-603A-94E0DF044940}"/>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342396D7-6680-CCFA-F959-A128CA0B82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584595CD-9CB7-C7DF-B951-B98CC236FA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3017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B11EC38-B226-50BE-1E50-1A00AC44AB5A}"/>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E5FABE99-952B-188C-9D87-57E664291E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5A7763B0-07F8-91F3-4CFC-D06F684109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8776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B0D79D53-5C34-5B25-9C5C-72A379AB4E85}"/>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514A8783-9BBC-1AA8-E023-4D868A2319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B22C903B-2FC0-25A1-873E-BD66DD0C92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71093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7A1C29E6-2799-F118-C643-AD68C2435BCD}"/>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A8023850-606F-DF49-FB00-80D6290761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A3546773-DC1F-37ED-290D-41039DE575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7675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D257B8B-D94A-26F6-AC0D-2AAEB1FE9CF2}"/>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AB2B6F2-DCD1-4F56-5CB9-811A120548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C9AB94A8-C740-B894-1A91-8AEE94E796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39392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66D1B45-C487-456F-3513-9E1648118E96}"/>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DC2ACC48-826E-E3C4-9783-BC75D7126D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6617B4F1-1254-F7A1-2203-C8154A6DBF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78095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BB5DB9B-FE13-F77C-F27B-51441FB0207F}"/>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FADB500D-46CB-27A6-DCE0-37D22CEB1A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13536C66-3C66-0F30-486D-4138C5C803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1698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96582AB9-6D74-E616-F6B6-750882790D39}"/>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A93988E6-F327-97EC-48C9-5E62981832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3A5A555C-26E8-45EA-3959-84B856D241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2193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621DFD82-9AC2-3BF4-2ACC-FA71DB014FC7}"/>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F24D16EC-63C3-CC25-7D17-27A56DD43F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CB582732-8FEA-478F-CF52-C286AE8DA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1670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78A521C9-4FEF-6D47-7A76-815C9B185BDD}"/>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31D5F23E-7A20-05DD-950A-4D2BBAE9EC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F00F553F-8223-9780-5B5C-F6A45ECA18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5070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132A7ACB-4A4B-27D3-2EC3-4F34CF60C7D8}"/>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74D524DA-CC89-6FE4-BF1B-21F7952436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AC0F01C3-282F-DEC0-B120-8F23E95490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637133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3B9A9A4A-CB99-AC78-5EF0-C6B31A803BC3}"/>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1C573846-3AC6-F09A-FE94-0FC5101CC6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36ACA648-B187-D02F-D9B9-B8E0BCE153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87124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0576029C-8318-9FE6-502D-D6AC064EAB49}"/>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00452A0C-EC6E-22C6-9632-DBB6329992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6FE80CE9-A4A8-D958-8E3D-6FEA454C2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4208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0D94BC38-1218-93F9-47EC-D915BC909D4A}"/>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7C763A82-73BF-51DB-C32E-FF617883A9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4E0683C7-5832-AA94-D9B1-105FBFF481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4964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90AC5-99DB-31B8-8BC3-993B07585C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0BC36C6-9142-697C-CB39-B7057F8587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A0EC6FB-A9F3-C0CF-5436-DBE814C4667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D4748DB-6D25-224A-3048-8EFF22FA90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63A5AB-B3E4-4293-CF8D-DA6DAF31B42B}"/>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3066736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4272F-AC80-7861-E4DF-35A7FFB9C9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D9AAE5-D53A-E3D2-65C9-9C0C3B3289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EDD51B-35A6-DC7B-8029-23DFAB4B715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B70D6C2-C857-75DD-7A94-F4AEA8DEDE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3CD09E-8C9F-16EA-A186-423159F83F39}"/>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9807651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A5980-6C8D-6923-1F87-667FD99ADC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F05B5D-79BA-008C-4717-5BF5ABB10D1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8DF499-C888-A235-A6E8-A813577A860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52C188D-007F-CFF4-8294-15226899D3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933A4-366F-80B6-A34E-CBB937FB70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6173167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7DEBA-9CBA-1A8D-7218-2CC5428BDB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F9DC86-762F-1618-8580-E38264F1BA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DC499E-099B-76B9-58A1-21E8057D78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5E271BD-A5C3-F9D1-439B-471E90135468}"/>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3D37A1A-D6F8-7923-BA15-4B4C7DC02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B204BF-26B0-622E-E983-541582ADD725}"/>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830097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638C0-C3D9-E655-0FBD-3184266098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70BF89-1571-7020-A6B7-21E8CE1F3D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BF357-38D9-E1D4-CDD8-C3E13C513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DCFBE2-CDF9-404B-C8AA-F8E6D5EC7B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D1F975-F813-FD9B-4DCF-4985E9B1AB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9DA69E-8482-F147-447D-55701C12C939}"/>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19310D66-C562-5FF8-40F6-3207E876558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F067365-7E7F-ED25-9FB9-CA3AB7D7192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074570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F0CFD-8F45-23AE-7E1D-C7D98FB02C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6CF317-B113-E985-8559-AE845AD64071}"/>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1D20A2F-3D43-75FD-4193-9949179E62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3B67CC-7DDA-2F49-1B45-9C095BB1DD6E}"/>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210205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983077-85E3-6754-AF11-23526BB89BB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07A8293A-6D56-28CF-807D-DBE13492ED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563639-D2C6-7C4B-A77A-7C85963752A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777399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853735-2859-676C-4862-A63CC7EBF7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A1352B-1FD0-6DCC-75F6-9F5780E937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C43A4ED-9907-9950-8091-88D634157F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FAF96-7803-6E2F-7E4A-7F8342016E8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D1D6E87-AB55-AD33-0F7E-4146276FE9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F04ADE-B458-7490-9D34-8CFE721DAE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171360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664B7-CA35-F9AF-158E-D1E57FF850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06683-A988-3389-E854-3F3F60058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56D405-D1F2-3E1E-CAAC-E2AA72BEB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35954B-74DE-2CF1-A7D2-EDAB657C3ED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A7345768-A4D8-0448-B78F-C94FCBA766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6902CC-B769-60C6-4803-C97FF3B3BC97}"/>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001240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B62B9-BF0F-FE3D-D867-72E3996831C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05E3DF-031A-4339-A54E-568BF11A1D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491202-0928-6953-5452-B36AC91AE2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DF51A5-17B7-4943-5754-F9AA026B9E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9106A8-70E6-43DB-592F-C162AFC96DA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547172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6F6698-DA36-BB51-FBD4-1DA0D8F5F3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13A653-196E-0CD4-7770-A0BC483DC5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465D8E-35B6-D092-E04A-73028A3ACCA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5849CFB-ADBC-231E-E1B1-FE19242468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624C26-95D0-7609-1954-D93C3CE6427A}"/>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3614654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losing Slide Basic" type="picTx">
  <p:cSld name="Closing Slide Basic">
    <p:spTree>
      <p:nvGrpSpPr>
        <p:cNvPr id="1" name="Shape 72"/>
        <p:cNvGrpSpPr/>
        <p:nvPr/>
      </p:nvGrpSpPr>
      <p:grpSpPr>
        <a:xfrm>
          <a:off x="0" y="0"/>
          <a:ext cx="0" cy="0"/>
          <a:chOff x="0" y="0"/>
          <a:chExt cx="0" cy="0"/>
        </a:xfrm>
      </p:grpSpPr>
      <p:sp>
        <p:nvSpPr>
          <p:cNvPr id="73" name="Google Shape;73;p16"/>
          <p:cNvSpPr/>
          <p:nvPr/>
        </p:nvSpPr>
        <p:spPr>
          <a:xfrm>
            <a:off x="10488666" y="-1830709"/>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4" name="Google Shape;74;p16"/>
          <p:cNvSpPr/>
          <p:nvPr/>
        </p:nvSpPr>
        <p:spPr>
          <a:xfrm>
            <a:off x="0" y="0"/>
            <a:ext cx="3046130" cy="147739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5" name="Google Shape;75;p16"/>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12312B"/>
              </a:buClr>
              <a:buSzPts val="10000"/>
              <a:buFont typeface="Anton"/>
              <a:buNone/>
              <a:defRPr sz="6667" i="0" u="none" strike="noStrike" cap="none">
                <a:solidFill>
                  <a:srgbClr val="12312B"/>
                </a:solidFill>
                <a:latin typeface="Anton"/>
                <a:ea typeface="Anton"/>
                <a:cs typeface="Anton"/>
                <a:sym typeface="Anton"/>
              </a:defRPr>
            </a:lvl1pPr>
            <a:lvl2pPr lvl="1" rtl="0">
              <a:spcBef>
                <a:spcPts val="0"/>
              </a:spcBef>
              <a:spcAft>
                <a:spcPts val="0"/>
              </a:spcAft>
              <a:buSzPts val="7200"/>
              <a:buNone/>
              <a:defRPr sz="4800"/>
            </a:lvl2pPr>
            <a:lvl3pPr lvl="2" rtl="0">
              <a:spcBef>
                <a:spcPts val="0"/>
              </a:spcBef>
              <a:spcAft>
                <a:spcPts val="0"/>
              </a:spcAft>
              <a:buSzPts val="7200"/>
              <a:buNone/>
              <a:defRPr sz="4800"/>
            </a:lvl3pPr>
            <a:lvl4pPr lvl="3" rtl="0">
              <a:spcBef>
                <a:spcPts val="0"/>
              </a:spcBef>
              <a:spcAft>
                <a:spcPts val="0"/>
              </a:spcAft>
              <a:buSzPts val="7200"/>
              <a:buNone/>
              <a:defRPr sz="4800"/>
            </a:lvl4pPr>
            <a:lvl5pPr lvl="4" rtl="0">
              <a:spcBef>
                <a:spcPts val="0"/>
              </a:spcBef>
              <a:spcAft>
                <a:spcPts val="0"/>
              </a:spcAft>
              <a:buSzPts val="7200"/>
              <a:buNone/>
              <a:defRPr sz="4800"/>
            </a:lvl5pPr>
            <a:lvl6pPr lvl="5" rtl="0">
              <a:spcBef>
                <a:spcPts val="0"/>
              </a:spcBef>
              <a:spcAft>
                <a:spcPts val="0"/>
              </a:spcAft>
              <a:buSzPts val="7200"/>
              <a:buNone/>
              <a:defRPr sz="4800"/>
            </a:lvl6pPr>
            <a:lvl7pPr lvl="6" rtl="0">
              <a:spcBef>
                <a:spcPts val="0"/>
              </a:spcBef>
              <a:spcAft>
                <a:spcPts val="0"/>
              </a:spcAft>
              <a:buSzPts val="7200"/>
              <a:buNone/>
              <a:defRPr sz="4800"/>
            </a:lvl7pPr>
            <a:lvl8pPr lvl="7" rtl="0">
              <a:spcBef>
                <a:spcPts val="0"/>
              </a:spcBef>
              <a:spcAft>
                <a:spcPts val="0"/>
              </a:spcAft>
              <a:buSzPts val="7200"/>
              <a:buNone/>
              <a:defRPr sz="4800"/>
            </a:lvl8pPr>
            <a:lvl9pPr lvl="8" rtl="0">
              <a:spcBef>
                <a:spcPts val="0"/>
              </a:spcBef>
              <a:spcAft>
                <a:spcPts val="0"/>
              </a:spcAft>
              <a:buSzPts val="7200"/>
              <a:buNone/>
              <a:defRPr sz="4800"/>
            </a:lvl9pPr>
          </a:lstStyle>
          <a:p>
            <a:endParaRPr/>
          </a:p>
        </p:txBody>
      </p:sp>
      <p:sp>
        <p:nvSpPr>
          <p:cNvPr id="76" name="Google Shape;76;p16"/>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7" name="Google Shape;77;p16"/>
          <p:cNvSpPr txBox="1">
            <a:spLocks noGrp="1"/>
          </p:cNvSpPr>
          <p:nvPr>
            <p:ph type="body" idx="1"/>
          </p:nvPr>
        </p:nvSpPr>
        <p:spPr>
          <a:xfrm>
            <a:off x="615500" y="367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705231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035473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85800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Logo and Blue Swish Option 2">
  <p:cSld name="Logo and Blue Swish Option 2">
    <p:spTree>
      <p:nvGrpSpPr>
        <p:cNvPr id="1" name="Shape 19"/>
        <p:cNvGrpSpPr/>
        <p:nvPr/>
      </p:nvGrpSpPr>
      <p:grpSpPr>
        <a:xfrm>
          <a:off x="0" y="0"/>
          <a:ext cx="0" cy="0"/>
          <a:chOff x="0" y="0"/>
          <a:chExt cx="0" cy="0"/>
        </a:xfrm>
      </p:grpSpPr>
      <p:sp>
        <p:nvSpPr>
          <p:cNvPr id="20" name="Google Shape;20;p6"/>
          <p:cNvSpPr/>
          <p:nvPr/>
        </p:nvSpPr>
        <p:spPr>
          <a:xfrm>
            <a:off x="-1016265" y="-192641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 name="Google Shape;21;p6"/>
          <p:cNvSpPr/>
          <p:nvPr/>
        </p:nvSpPr>
        <p:spPr>
          <a:xfrm>
            <a:off x="10673717" y="6121584"/>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47394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lt1"/>
        </a:solidFill>
        <a:effectLst/>
      </p:bgPr>
    </p:bg>
    <p:spTree>
      <p:nvGrpSpPr>
        <p:cNvPr id="1" name="Shape 22"/>
        <p:cNvGrpSpPr/>
        <p:nvPr/>
      </p:nvGrpSpPr>
      <p:grpSpPr>
        <a:xfrm>
          <a:off x="0" y="0"/>
          <a:ext cx="0" cy="0"/>
          <a:chOff x="0" y="0"/>
          <a:chExt cx="0" cy="0"/>
        </a:xfrm>
      </p:grpSpPr>
      <p:sp>
        <p:nvSpPr>
          <p:cNvPr id="23" name="Google Shape;23;p7"/>
          <p:cNvSpPr/>
          <p:nvPr/>
        </p:nvSpPr>
        <p:spPr>
          <a:xfrm>
            <a:off x="-570831" y="2964183"/>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4" name="Google Shape;24;p7"/>
          <p:cNvSpPr txBox="1">
            <a:spLocks noGrp="1"/>
          </p:cNvSpPr>
          <p:nvPr>
            <p:ph type="title"/>
          </p:nvPr>
        </p:nvSpPr>
        <p:spPr>
          <a:xfrm>
            <a:off x="784667" y="1922964"/>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6667" i="0" u="none" strike="noStrike" cap="none">
                <a:solidFill>
                  <a:schemeClr val="dk1"/>
                </a:solidFill>
                <a:latin typeface="Anton"/>
                <a:ea typeface="Anton"/>
                <a:cs typeface="Anton"/>
                <a:sym typeface="Anton"/>
              </a:defRPr>
            </a:lvl1pPr>
            <a:lvl2pPr lvl="1" rtl="0">
              <a:spcBef>
                <a:spcPts val="0"/>
              </a:spcBef>
              <a:spcAft>
                <a:spcPts val="0"/>
              </a:spcAft>
              <a:buSzPts val="1400"/>
              <a:buNone/>
              <a:defRPr sz="1200"/>
            </a:lvl2pPr>
            <a:lvl3pPr lvl="2" rtl="0">
              <a:spcBef>
                <a:spcPts val="0"/>
              </a:spcBef>
              <a:spcAft>
                <a:spcPts val="0"/>
              </a:spcAft>
              <a:buSzPts val="1400"/>
              <a:buNone/>
              <a:defRPr sz="1200"/>
            </a:lvl3pPr>
            <a:lvl4pPr lvl="3" rtl="0">
              <a:spcBef>
                <a:spcPts val="0"/>
              </a:spcBef>
              <a:spcAft>
                <a:spcPts val="0"/>
              </a:spcAft>
              <a:buSzPts val="1400"/>
              <a:buNone/>
              <a:defRPr sz="1200"/>
            </a:lvl4pPr>
            <a:lvl5pPr lvl="4" rtl="0">
              <a:spcBef>
                <a:spcPts val="0"/>
              </a:spcBef>
              <a:spcAft>
                <a:spcPts val="0"/>
              </a:spcAft>
              <a:buSzPts val="1400"/>
              <a:buNone/>
              <a:defRPr sz="1200"/>
            </a:lvl5pPr>
            <a:lvl6pPr lvl="5" rtl="0">
              <a:spcBef>
                <a:spcPts val="0"/>
              </a:spcBef>
              <a:spcAft>
                <a:spcPts val="0"/>
              </a:spcAft>
              <a:buSzPts val="1400"/>
              <a:buNone/>
              <a:defRPr sz="1200"/>
            </a:lvl6pPr>
            <a:lvl7pPr lvl="6" rtl="0">
              <a:spcBef>
                <a:spcPts val="0"/>
              </a:spcBef>
              <a:spcAft>
                <a:spcPts val="0"/>
              </a:spcAft>
              <a:buSzPts val="1400"/>
              <a:buNone/>
              <a:defRPr sz="1200"/>
            </a:lvl7pPr>
            <a:lvl8pPr lvl="7" rtl="0">
              <a:spcBef>
                <a:spcPts val="0"/>
              </a:spcBef>
              <a:spcAft>
                <a:spcPts val="0"/>
              </a:spcAft>
              <a:buSzPts val="1400"/>
              <a:buNone/>
              <a:defRPr sz="1200"/>
            </a:lvl8pPr>
            <a:lvl9pPr lvl="8" rtl="0">
              <a:spcBef>
                <a:spcPts val="0"/>
              </a:spcBef>
              <a:spcAft>
                <a:spcPts val="0"/>
              </a:spcAft>
              <a:buSzPts val="1400"/>
              <a:buNone/>
              <a:defRPr sz="1200"/>
            </a:lvl9pPr>
          </a:lstStyle>
          <a:p>
            <a:endParaRPr/>
          </a:p>
        </p:txBody>
      </p:sp>
      <p:sp>
        <p:nvSpPr>
          <p:cNvPr id="25" name="Google Shape;25;p7"/>
          <p:cNvSpPr/>
          <p:nvPr/>
        </p:nvSpPr>
        <p:spPr>
          <a:xfrm>
            <a:off x="10946761" y="-9037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6" name="Google Shape;26;p7"/>
          <p:cNvSpPr txBox="1"/>
          <p:nvPr/>
        </p:nvSpPr>
        <p:spPr>
          <a:xfrm>
            <a:off x="4171950" y="7141095"/>
            <a:ext cx="5345400" cy="1190177"/>
          </a:xfrm>
          <a:prstGeom prst="rect">
            <a:avLst/>
          </a:prstGeom>
          <a:noFill/>
          <a:ln>
            <a:noFill/>
          </a:ln>
        </p:spPr>
        <p:txBody>
          <a:bodyPr spcFirstLastPara="1" wrap="square" lIns="60950" tIns="60950" rIns="60950" bIns="60950" anchor="ctr" anchorCtr="0">
            <a:spAutoFit/>
          </a:bodyPr>
          <a:lstStyle/>
          <a:p>
            <a:pPr marL="0" lvl="0" indent="0" algn="l" rtl="0">
              <a:spcBef>
                <a:spcPts val="0"/>
              </a:spcBef>
              <a:spcAft>
                <a:spcPts val="0"/>
              </a:spcAft>
              <a:buNone/>
            </a:pPr>
            <a:endParaRPr sz="6934">
              <a:solidFill>
                <a:srgbClr val="00693D"/>
              </a:solidFill>
              <a:latin typeface="Anton"/>
              <a:ea typeface="Anton"/>
              <a:cs typeface="Anton"/>
              <a:sym typeface="Anton"/>
            </a:endParaRPr>
          </a:p>
        </p:txBody>
      </p:sp>
      <p:sp>
        <p:nvSpPr>
          <p:cNvPr id="27" name="Google Shape;27;p7"/>
          <p:cNvSpPr txBox="1">
            <a:spLocks noGrp="1"/>
          </p:cNvSpPr>
          <p:nvPr>
            <p:ph type="body" idx="1"/>
          </p:nvPr>
        </p:nvSpPr>
        <p:spPr>
          <a:xfrm>
            <a:off x="903200" y="3066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
        <p:nvSpPr>
          <p:cNvPr id="28" name="Google Shape;28;p7"/>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4">
              <a:alphaModFix/>
            </a:blip>
            <a:stretch>
              <a:fillRect l="-29" r="-19"/>
            </a:stretch>
          </a:blipFill>
          <a:ln>
            <a:noFill/>
          </a:ln>
        </p:spPr>
      </p:sp>
    </p:spTree>
    <p:extLst>
      <p:ext uri="{BB962C8B-B14F-4D97-AF65-F5344CB8AC3E}">
        <p14:creationId xmlns:p14="http://schemas.microsoft.com/office/powerpoint/2010/main" val="36890546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Agenda or Contents Page alternate logo placement" type="secHead">
  <p:cSld name="Agenda or Contents Page alternate logo placement">
    <p:spTree>
      <p:nvGrpSpPr>
        <p:cNvPr id="1" name="Shape 34"/>
        <p:cNvGrpSpPr/>
        <p:nvPr/>
      </p:nvGrpSpPr>
      <p:grpSpPr>
        <a:xfrm>
          <a:off x="0" y="0"/>
          <a:ext cx="0" cy="0"/>
          <a:chOff x="0" y="0"/>
          <a:chExt cx="0" cy="0"/>
        </a:xfrm>
      </p:grpSpPr>
      <p:sp>
        <p:nvSpPr>
          <p:cNvPr id="35" name="Google Shape;35;p9"/>
          <p:cNvSpPr/>
          <p:nvPr/>
        </p:nvSpPr>
        <p:spPr>
          <a:xfrm>
            <a:off x="10352693" y="5983889"/>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6" name="Google Shape;36;p9"/>
          <p:cNvSpPr/>
          <p:nvPr/>
        </p:nvSpPr>
        <p:spPr>
          <a:xfrm>
            <a:off x="-899356" y="-89548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7" name="Google Shape;37;p9"/>
          <p:cNvSpPr txBox="1">
            <a:spLocks noGrp="1"/>
          </p:cNvSpPr>
          <p:nvPr>
            <p:ph type="body" idx="1"/>
          </p:nvPr>
        </p:nvSpPr>
        <p:spPr>
          <a:xfrm>
            <a:off x="1654900" y="17212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305917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ntro Slide Option 2" type="twoTxTwoObj">
  <p:cSld name="Intro Slide Option 2">
    <p:bg>
      <p:bgPr>
        <a:solidFill>
          <a:srgbClr val="00693D"/>
        </a:solidFill>
        <a:effectLst/>
      </p:bgPr>
    </p:bg>
    <p:spTree>
      <p:nvGrpSpPr>
        <p:cNvPr id="1" name="Shape 43"/>
        <p:cNvGrpSpPr/>
        <p:nvPr/>
      </p:nvGrpSpPr>
      <p:grpSpPr>
        <a:xfrm>
          <a:off x="0" y="0"/>
          <a:ext cx="0" cy="0"/>
          <a:chOff x="0" y="0"/>
          <a:chExt cx="0" cy="0"/>
        </a:xfrm>
      </p:grpSpPr>
      <p:sp>
        <p:nvSpPr>
          <p:cNvPr id="44" name="Google Shape;44;p11"/>
          <p:cNvSpPr/>
          <p:nvPr/>
        </p:nvSpPr>
        <p:spPr>
          <a:xfrm>
            <a:off x="802544" y="1510467"/>
            <a:ext cx="1300075" cy="1086732"/>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2">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 name="Google Shape;45;p11"/>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6" name="Google Shape;46;p11"/>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7" name="Google Shape;47;p11"/>
          <p:cNvSpPr txBox="1">
            <a:spLocks noGrp="1"/>
          </p:cNvSpPr>
          <p:nvPr>
            <p:ph type="title"/>
          </p:nvPr>
        </p:nvSpPr>
        <p:spPr>
          <a:xfrm>
            <a:off x="2213800" y="1588881"/>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6500"/>
              <a:buFont typeface="Anton"/>
              <a:buNone/>
              <a:defRPr sz="4334"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6500"/>
              <a:buNone/>
              <a:defRPr sz="4334">
                <a:solidFill>
                  <a:schemeClr val="lt1"/>
                </a:solidFill>
              </a:defRPr>
            </a:lvl2pPr>
            <a:lvl3pPr lvl="2" rtl="0">
              <a:spcBef>
                <a:spcPts val="0"/>
              </a:spcBef>
              <a:spcAft>
                <a:spcPts val="0"/>
              </a:spcAft>
              <a:buClr>
                <a:schemeClr val="lt1"/>
              </a:buClr>
              <a:buSzPts val="6500"/>
              <a:buNone/>
              <a:defRPr sz="4334">
                <a:solidFill>
                  <a:schemeClr val="lt1"/>
                </a:solidFill>
              </a:defRPr>
            </a:lvl3pPr>
            <a:lvl4pPr lvl="3" rtl="0">
              <a:spcBef>
                <a:spcPts val="0"/>
              </a:spcBef>
              <a:spcAft>
                <a:spcPts val="0"/>
              </a:spcAft>
              <a:buClr>
                <a:schemeClr val="lt1"/>
              </a:buClr>
              <a:buSzPts val="6500"/>
              <a:buNone/>
              <a:defRPr sz="4334">
                <a:solidFill>
                  <a:schemeClr val="lt1"/>
                </a:solidFill>
              </a:defRPr>
            </a:lvl4pPr>
            <a:lvl5pPr lvl="4" rtl="0">
              <a:spcBef>
                <a:spcPts val="0"/>
              </a:spcBef>
              <a:spcAft>
                <a:spcPts val="0"/>
              </a:spcAft>
              <a:buClr>
                <a:schemeClr val="lt1"/>
              </a:buClr>
              <a:buSzPts val="6500"/>
              <a:buNone/>
              <a:defRPr sz="4334">
                <a:solidFill>
                  <a:schemeClr val="lt1"/>
                </a:solidFill>
              </a:defRPr>
            </a:lvl5pPr>
            <a:lvl6pPr lvl="5" rtl="0">
              <a:spcBef>
                <a:spcPts val="0"/>
              </a:spcBef>
              <a:spcAft>
                <a:spcPts val="0"/>
              </a:spcAft>
              <a:buClr>
                <a:schemeClr val="lt1"/>
              </a:buClr>
              <a:buSzPts val="6500"/>
              <a:buNone/>
              <a:defRPr sz="4334">
                <a:solidFill>
                  <a:schemeClr val="lt1"/>
                </a:solidFill>
              </a:defRPr>
            </a:lvl6pPr>
            <a:lvl7pPr lvl="6" rtl="0">
              <a:spcBef>
                <a:spcPts val="0"/>
              </a:spcBef>
              <a:spcAft>
                <a:spcPts val="0"/>
              </a:spcAft>
              <a:buClr>
                <a:schemeClr val="lt1"/>
              </a:buClr>
              <a:buSzPts val="6500"/>
              <a:buNone/>
              <a:defRPr sz="4334">
                <a:solidFill>
                  <a:schemeClr val="lt1"/>
                </a:solidFill>
              </a:defRPr>
            </a:lvl7pPr>
            <a:lvl8pPr lvl="7" rtl="0">
              <a:spcBef>
                <a:spcPts val="0"/>
              </a:spcBef>
              <a:spcAft>
                <a:spcPts val="0"/>
              </a:spcAft>
              <a:buClr>
                <a:schemeClr val="lt1"/>
              </a:buClr>
              <a:buSzPts val="6500"/>
              <a:buNone/>
              <a:defRPr sz="4334">
                <a:solidFill>
                  <a:schemeClr val="lt1"/>
                </a:solidFill>
              </a:defRPr>
            </a:lvl8pPr>
            <a:lvl9pPr lvl="8" rtl="0">
              <a:spcBef>
                <a:spcPts val="0"/>
              </a:spcBef>
              <a:spcAft>
                <a:spcPts val="0"/>
              </a:spcAft>
              <a:buClr>
                <a:schemeClr val="lt1"/>
              </a:buClr>
              <a:buSzPts val="6500"/>
              <a:buNone/>
              <a:defRPr sz="4334">
                <a:solidFill>
                  <a:schemeClr val="lt1"/>
                </a:solidFill>
              </a:defRPr>
            </a:lvl9pPr>
          </a:lstStyle>
          <a:p>
            <a:endParaRPr/>
          </a:p>
        </p:txBody>
      </p:sp>
    </p:spTree>
    <p:extLst>
      <p:ext uri="{BB962C8B-B14F-4D97-AF65-F5344CB8AC3E}">
        <p14:creationId xmlns:p14="http://schemas.microsoft.com/office/powerpoint/2010/main" val="40617686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Photo Box and Text">
  <p:cSld name="Photo Box and Text">
    <p:spTree>
      <p:nvGrpSpPr>
        <p:cNvPr id="1" name="Shape 48"/>
        <p:cNvGrpSpPr/>
        <p:nvPr/>
      </p:nvGrpSpPr>
      <p:grpSpPr>
        <a:xfrm>
          <a:off x="0" y="0"/>
          <a:ext cx="0" cy="0"/>
          <a:chOff x="0" y="0"/>
          <a:chExt cx="0" cy="0"/>
        </a:xfrm>
      </p:grpSpPr>
      <p:sp>
        <p:nvSpPr>
          <p:cNvPr id="49" name="Google Shape;49;p12"/>
          <p:cNvSpPr>
            <a:spLocks noGrp="1"/>
          </p:cNvSpPr>
          <p:nvPr>
            <p:ph type="pic" idx="2"/>
          </p:nvPr>
        </p:nvSpPr>
        <p:spPr>
          <a:xfrm>
            <a:off x="28217" y="1050150"/>
            <a:ext cx="4331600" cy="5451800"/>
          </a:xfrm>
          <a:prstGeom prst="rect">
            <a:avLst/>
          </a:prstGeom>
          <a:noFill/>
          <a:ln>
            <a:noFill/>
          </a:ln>
        </p:spPr>
      </p:sp>
      <p:sp>
        <p:nvSpPr>
          <p:cNvPr id="50" name="Google Shape;50;p12"/>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1" name="Google Shape;51;p12"/>
          <p:cNvSpPr/>
          <p:nvPr/>
        </p:nvSpPr>
        <p:spPr>
          <a:xfrm>
            <a:off x="-707765" y="372516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2" name="Google Shape;52;p12"/>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3" name="Google Shape;53;p12"/>
          <p:cNvSpPr txBox="1">
            <a:spLocks noGrp="1"/>
          </p:cNvSpPr>
          <p:nvPr>
            <p:ph type="body" idx="1"/>
          </p:nvPr>
        </p:nvSpPr>
        <p:spPr>
          <a:xfrm>
            <a:off x="5162783" y="11180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cxnSp>
        <p:nvCxnSpPr>
          <p:cNvPr id="54" name="Google Shape;54;p12"/>
          <p:cNvCxnSpPr/>
          <p:nvPr/>
        </p:nvCxnSpPr>
        <p:spPr>
          <a:xfrm rot="10800000">
            <a:off x="4695752" y="949750"/>
            <a:ext cx="31000" cy="5652600"/>
          </a:xfrm>
          <a:prstGeom prst="straightConnector1">
            <a:avLst/>
          </a:prstGeom>
          <a:noFill/>
          <a:ln w="38100" cap="flat" cmpd="sng">
            <a:solidFill>
              <a:schemeClr val="dk2"/>
            </a:solidFill>
            <a:prstDash val="solid"/>
            <a:round/>
            <a:headEnd type="none" w="med" len="med"/>
            <a:tailEnd type="none" w="med" len="med"/>
          </a:ln>
        </p:spPr>
      </p:cxnSp>
      <p:cxnSp>
        <p:nvCxnSpPr>
          <p:cNvPr id="55" name="Google Shape;55;p12"/>
          <p:cNvCxnSpPr/>
          <p:nvPr/>
        </p:nvCxnSpPr>
        <p:spPr>
          <a:xfrm rot="10800000">
            <a:off x="4819550" y="1687881"/>
            <a:ext cx="15400" cy="3888800"/>
          </a:xfrm>
          <a:prstGeom prst="straightConnector1">
            <a:avLst/>
          </a:prstGeom>
          <a:noFill/>
          <a:ln w="28575" cap="flat" cmpd="sng">
            <a:solidFill>
              <a:srgbClr val="A5D75F"/>
            </a:solidFill>
            <a:prstDash val="solid"/>
            <a:round/>
            <a:headEnd type="none" w="med" len="med"/>
            <a:tailEnd type="none" w="med" len="med"/>
          </a:ln>
        </p:spPr>
      </p:cxnSp>
    </p:spTree>
    <p:extLst>
      <p:ext uri="{BB962C8B-B14F-4D97-AF65-F5344CB8AC3E}">
        <p14:creationId xmlns:p14="http://schemas.microsoft.com/office/powerpoint/2010/main" val="18659369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hoto Box and Text Option 2" type="titleOnly">
  <p:cSld name="Photo Box and Text Option 2">
    <p:spTree>
      <p:nvGrpSpPr>
        <p:cNvPr id="1" name="Shape 56"/>
        <p:cNvGrpSpPr/>
        <p:nvPr/>
      </p:nvGrpSpPr>
      <p:grpSpPr>
        <a:xfrm>
          <a:off x="0" y="0"/>
          <a:ext cx="0" cy="0"/>
          <a:chOff x="0" y="0"/>
          <a:chExt cx="0" cy="0"/>
        </a:xfrm>
      </p:grpSpPr>
      <p:sp>
        <p:nvSpPr>
          <p:cNvPr id="57" name="Google Shape;57;p13"/>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8" name="Google Shape;58;p13"/>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9" name="Google Shape;59;p13"/>
          <p:cNvSpPr>
            <a:spLocks noGrp="1"/>
          </p:cNvSpPr>
          <p:nvPr>
            <p:ph type="pic" idx="2"/>
          </p:nvPr>
        </p:nvSpPr>
        <p:spPr>
          <a:xfrm>
            <a:off x="7581867" y="1519792"/>
            <a:ext cx="4380200" cy="4259600"/>
          </a:xfrm>
          <a:prstGeom prst="ellipse">
            <a:avLst/>
          </a:prstGeom>
          <a:noFill/>
          <a:ln>
            <a:noFill/>
          </a:ln>
        </p:spPr>
      </p:sp>
      <p:cxnSp>
        <p:nvCxnSpPr>
          <p:cNvPr id="60" name="Google Shape;60;p13"/>
          <p:cNvCxnSpPr/>
          <p:nvPr/>
        </p:nvCxnSpPr>
        <p:spPr>
          <a:xfrm>
            <a:off x="7331300" y="2134383"/>
            <a:ext cx="37200" cy="3696000"/>
          </a:xfrm>
          <a:prstGeom prst="straightConnector1">
            <a:avLst/>
          </a:prstGeom>
          <a:noFill/>
          <a:ln w="38100" cap="flat" cmpd="sng">
            <a:solidFill>
              <a:schemeClr val="dk2"/>
            </a:solidFill>
            <a:prstDash val="solid"/>
            <a:round/>
            <a:headEnd type="none" w="med" len="med"/>
            <a:tailEnd type="none" w="med" len="med"/>
          </a:ln>
        </p:spPr>
      </p:cxnSp>
      <p:cxnSp>
        <p:nvCxnSpPr>
          <p:cNvPr id="61" name="Google Shape;61;p13"/>
          <p:cNvCxnSpPr/>
          <p:nvPr/>
        </p:nvCxnSpPr>
        <p:spPr>
          <a:xfrm rot="10800000">
            <a:off x="7994667" y="6080467"/>
            <a:ext cx="3554600" cy="19000"/>
          </a:xfrm>
          <a:prstGeom prst="straightConnector1">
            <a:avLst/>
          </a:prstGeom>
          <a:noFill/>
          <a:ln w="38100" cap="flat" cmpd="sng">
            <a:solidFill>
              <a:schemeClr val="dk2"/>
            </a:solidFill>
            <a:prstDash val="solid"/>
            <a:round/>
            <a:headEnd type="none" w="med" len="med"/>
            <a:tailEnd type="none" w="med" len="med"/>
          </a:ln>
        </p:spPr>
      </p:cxnSp>
      <p:cxnSp>
        <p:nvCxnSpPr>
          <p:cNvPr id="62" name="Google Shape;62;p13"/>
          <p:cNvCxnSpPr/>
          <p:nvPr/>
        </p:nvCxnSpPr>
        <p:spPr>
          <a:xfrm>
            <a:off x="7201400" y="2805033"/>
            <a:ext cx="18600" cy="2542800"/>
          </a:xfrm>
          <a:prstGeom prst="straightConnector1">
            <a:avLst/>
          </a:prstGeom>
          <a:noFill/>
          <a:ln w="28575" cap="flat" cmpd="sng">
            <a:solidFill>
              <a:srgbClr val="A5D75F"/>
            </a:solidFill>
            <a:prstDash val="solid"/>
            <a:round/>
            <a:headEnd type="none" w="med" len="med"/>
            <a:tailEnd type="none" w="med" len="med"/>
          </a:ln>
        </p:spPr>
      </p:cxnSp>
      <p:cxnSp>
        <p:nvCxnSpPr>
          <p:cNvPr id="63" name="Google Shape;63;p13"/>
          <p:cNvCxnSpPr/>
          <p:nvPr/>
        </p:nvCxnSpPr>
        <p:spPr>
          <a:xfrm rot="10800000">
            <a:off x="8477167" y="5929733"/>
            <a:ext cx="2589600" cy="400"/>
          </a:xfrm>
          <a:prstGeom prst="straightConnector1">
            <a:avLst/>
          </a:prstGeom>
          <a:noFill/>
          <a:ln w="28575" cap="flat" cmpd="sng">
            <a:solidFill>
              <a:srgbClr val="A5D75F"/>
            </a:solidFill>
            <a:prstDash val="solid"/>
            <a:round/>
            <a:headEnd type="none" w="med" len="med"/>
            <a:tailEnd type="none" w="med" len="med"/>
          </a:ln>
        </p:spPr>
      </p:cxnSp>
      <p:sp>
        <p:nvSpPr>
          <p:cNvPr id="64" name="Google Shape;64;p13"/>
          <p:cNvSpPr/>
          <p:nvPr/>
        </p:nvSpPr>
        <p:spPr>
          <a:xfrm>
            <a:off x="7479798" y="5046500"/>
            <a:ext cx="864729" cy="883240"/>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4">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5" name="Google Shape;65;p13"/>
          <p:cNvSpPr txBox="1">
            <a:spLocks noGrp="1"/>
          </p:cNvSpPr>
          <p:nvPr>
            <p:ph type="body" idx="1"/>
          </p:nvPr>
        </p:nvSpPr>
        <p:spPr>
          <a:xfrm>
            <a:off x="569067" y="15198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575484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ext Only No Grid or Swoosh" type="objTx">
  <p:cSld name="Text Only No Grid or Swoosh">
    <p:spTree>
      <p:nvGrpSpPr>
        <p:cNvPr id="1" name="Shape 66"/>
        <p:cNvGrpSpPr/>
        <p:nvPr/>
      </p:nvGrpSpPr>
      <p:grpSpPr>
        <a:xfrm>
          <a:off x="0" y="0"/>
          <a:ext cx="0" cy="0"/>
          <a:chOff x="0" y="0"/>
          <a:chExt cx="0" cy="0"/>
        </a:xfrm>
      </p:grpSpPr>
      <p:sp>
        <p:nvSpPr>
          <p:cNvPr id="67" name="Google Shape;67;p14"/>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8" name="Google Shape;68;p14"/>
          <p:cNvSpPr txBox="1">
            <a:spLocks noGrp="1"/>
          </p:cNvSpPr>
          <p:nvPr>
            <p:ph type="body" idx="1"/>
          </p:nvPr>
        </p:nvSpPr>
        <p:spPr>
          <a:xfrm>
            <a:off x="1543533" y="1674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2376595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Dark Closing Slide with QR Code" type="vertTx">
  <p:cSld name="Dark Closing Slide with QR Code">
    <p:bg>
      <p:bgPr>
        <a:solidFill>
          <a:srgbClr val="12312B"/>
        </a:solidFill>
        <a:effectLst/>
      </p:bgPr>
    </p:bg>
    <p:spTree>
      <p:nvGrpSpPr>
        <p:cNvPr id="1" name="Shape 78"/>
        <p:cNvGrpSpPr/>
        <p:nvPr/>
      </p:nvGrpSpPr>
      <p:grpSpPr>
        <a:xfrm>
          <a:off x="0" y="0"/>
          <a:ext cx="0" cy="0"/>
          <a:chOff x="0" y="0"/>
          <a:chExt cx="0" cy="0"/>
        </a:xfrm>
      </p:grpSpPr>
      <p:sp>
        <p:nvSpPr>
          <p:cNvPr id="79" name="Google Shape;79;p17"/>
          <p:cNvSpPr/>
          <p:nvPr/>
        </p:nvSpPr>
        <p:spPr>
          <a:xfrm>
            <a:off x="9014051" y="4784199"/>
            <a:ext cx="1547499" cy="1525745"/>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2">
              <a:alphaModFix/>
            </a:blip>
            <a:stretch>
              <a:fillRect l="-110437"/>
            </a:stretch>
          </a:blipFill>
          <a:ln>
            <a:noFill/>
          </a:ln>
        </p:spPr>
      </p:sp>
      <p:sp>
        <p:nvSpPr>
          <p:cNvPr id="80" name="Google Shape;80;p17"/>
          <p:cNvSpPr txBox="1"/>
          <p:nvPr/>
        </p:nvSpPr>
        <p:spPr>
          <a:xfrm>
            <a:off x="9423599" y="5180635"/>
            <a:ext cx="728400" cy="417807"/>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141" i="0" u="none" strike="noStrike" cap="none">
                <a:solidFill>
                  <a:schemeClr val="lt1"/>
                </a:solidFill>
                <a:latin typeface="Archivo"/>
                <a:ea typeface="Archivo"/>
                <a:cs typeface="Archivo"/>
                <a:sym typeface="Archivo"/>
              </a:rPr>
              <a:t>*Place QR code here</a:t>
            </a:r>
            <a:endParaRPr sz="333">
              <a:solidFill>
                <a:schemeClr val="lt1"/>
              </a:solidFill>
              <a:latin typeface="Archivo"/>
              <a:ea typeface="Archivo"/>
              <a:cs typeface="Archivo"/>
              <a:sym typeface="Archivo"/>
            </a:endParaRPr>
          </a:p>
        </p:txBody>
      </p:sp>
      <p:sp>
        <p:nvSpPr>
          <p:cNvPr id="81" name="Google Shape;81;p17"/>
          <p:cNvSpPr txBox="1"/>
          <p:nvPr/>
        </p:nvSpPr>
        <p:spPr>
          <a:xfrm>
            <a:off x="7507349" y="4784200"/>
            <a:ext cx="1308200" cy="449200"/>
          </a:xfrm>
          <a:prstGeom prst="rect">
            <a:avLst/>
          </a:prstGeom>
          <a:noFill/>
          <a:ln>
            <a:noFill/>
          </a:ln>
        </p:spPr>
        <p:txBody>
          <a:bodyPr spcFirstLastPara="1" wrap="square" lIns="0" tIns="0" rIns="0" bIns="0" anchor="t" anchorCtr="0">
            <a:noAutofit/>
          </a:bodyPr>
          <a:lstStyle/>
          <a:p>
            <a:pPr marL="0" marR="0" lvl="0" indent="0" algn="ctr" rtl="0">
              <a:lnSpc>
                <a:spcPct val="140004"/>
              </a:lnSpc>
              <a:spcBef>
                <a:spcPts val="0"/>
              </a:spcBef>
              <a:spcAft>
                <a:spcPts val="0"/>
              </a:spcAft>
              <a:buNone/>
            </a:pPr>
            <a:r>
              <a:rPr lang="en-US" sz="2918" b="1" i="0" u="none" strike="noStrike" cap="none">
                <a:solidFill>
                  <a:schemeClr val="lt1"/>
                </a:solidFill>
                <a:latin typeface="Archivo"/>
                <a:ea typeface="Archivo"/>
                <a:cs typeface="Archivo"/>
                <a:sym typeface="Archivo"/>
              </a:rPr>
              <a:t>SCAN</a:t>
            </a:r>
            <a:endParaRPr sz="1200" b="1">
              <a:solidFill>
                <a:schemeClr val="lt1"/>
              </a:solidFill>
              <a:latin typeface="Archivo"/>
              <a:ea typeface="Archivo"/>
              <a:cs typeface="Archivo"/>
              <a:sym typeface="Archivo"/>
            </a:endParaRPr>
          </a:p>
        </p:txBody>
      </p:sp>
      <p:sp>
        <p:nvSpPr>
          <p:cNvPr id="82" name="Google Shape;82;p17"/>
          <p:cNvSpPr txBox="1"/>
          <p:nvPr/>
        </p:nvSpPr>
        <p:spPr>
          <a:xfrm>
            <a:off x="7308842" y="5233400"/>
            <a:ext cx="17052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8048" i="0" u="none" strike="noStrike" cap="none">
                <a:solidFill>
                  <a:srgbClr val="A5D75F"/>
                </a:solidFill>
                <a:latin typeface="Anton"/>
                <a:ea typeface="Anton"/>
                <a:cs typeface="Anton"/>
                <a:sym typeface="Anton"/>
              </a:rPr>
              <a:t>ME</a:t>
            </a:r>
            <a:endParaRPr sz="100">
              <a:solidFill>
                <a:srgbClr val="A5D75F"/>
              </a:solidFill>
              <a:latin typeface="Anton"/>
              <a:ea typeface="Anton"/>
              <a:cs typeface="Anton"/>
              <a:sym typeface="Anton"/>
            </a:endParaRPr>
          </a:p>
        </p:txBody>
      </p:sp>
      <p:sp>
        <p:nvSpPr>
          <p:cNvPr id="83" name="Google Shape;83;p17"/>
          <p:cNvSpPr/>
          <p:nvPr/>
        </p:nvSpPr>
        <p:spPr>
          <a:xfrm>
            <a:off x="0" y="0"/>
            <a:ext cx="3047877" cy="1526193"/>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4" name="Google Shape;84;p17"/>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10000"/>
              <a:buFont typeface="Anton"/>
              <a:buNone/>
              <a:defRPr sz="6667"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7200"/>
              <a:buNone/>
              <a:defRPr sz="4800">
                <a:solidFill>
                  <a:schemeClr val="lt1"/>
                </a:solidFill>
              </a:defRPr>
            </a:lvl2pPr>
            <a:lvl3pPr lvl="2" rtl="0">
              <a:spcBef>
                <a:spcPts val="0"/>
              </a:spcBef>
              <a:spcAft>
                <a:spcPts val="0"/>
              </a:spcAft>
              <a:buClr>
                <a:schemeClr val="lt1"/>
              </a:buClr>
              <a:buSzPts val="7200"/>
              <a:buNone/>
              <a:defRPr sz="4800">
                <a:solidFill>
                  <a:schemeClr val="lt1"/>
                </a:solidFill>
              </a:defRPr>
            </a:lvl3pPr>
            <a:lvl4pPr lvl="3" rtl="0">
              <a:spcBef>
                <a:spcPts val="0"/>
              </a:spcBef>
              <a:spcAft>
                <a:spcPts val="0"/>
              </a:spcAft>
              <a:buClr>
                <a:schemeClr val="lt1"/>
              </a:buClr>
              <a:buSzPts val="7200"/>
              <a:buNone/>
              <a:defRPr sz="4800">
                <a:solidFill>
                  <a:schemeClr val="lt1"/>
                </a:solidFill>
              </a:defRPr>
            </a:lvl4pPr>
            <a:lvl5pPr lvl="4" rtl="0">
              <a:spcBef>
                <a:spcPts val="0"/>
              </a:spcBef>
              <a:spcAft>
                <a:spcPts val="0"/>
              </a:spcAft>
              <a:buClr>
                <a:schemeClr val="lt1"/>
              </a:buClr>
              <a:buSzPts val="7200"/>
              <a:buNone/>
              <a:defRPr sz="4800">
                <a:solidFill>
                  <a:schemeClr val="lt1"/>
                </a:solidFill>
              </a:defRPr>
            </a:lvl5pPr>
            <a:lvl6pPr lvl="5" rtl="0">
              <a:spcBef>
                <a:spcPts val="0"/>
              </a:spcBef>
              <a:spcAft>
                <a:spcPts val="0"/>
              </a:spcAft>
              <a:buClr>
                <a:schemeClr val="lt1"/>
              </a:buClr>
              <a:buSzPts val="7200"/>
              <a:buNone/>
              <a:defRPr sz="4800">
                <a:solidFill>
                  <a:schemeClr val="lt1"/>
                </a:solidFill>
              </a:defRPr>
            </a:lvl6pPr>
            <a:lvl7pPr lvl="6" rtl="0">
              <a:spcBef>
                <a:spcPts val="0"/>
              </a:spcBef>
              <a:spcAft>
                <a:spcPts val="0"/>
              </a:spcAft>
              <a:buClr>
                <a:schemeClr val="lt1"/>
              </a:buClr>
              <a:buSzPts val="7200"/>
              <a:buNone/>
              <a:defRPr sz="4800">
                <a:solidFill>
                  <a:schemeClr val="lt1"/>
                </a:solidFill>
              </a:defRPr>
            </a:lvl7pPr>
            <a:lvl8pPr lvl="7" rtl="0">
              <a:spcBef>
                <a:spcPts val="0"/>
              </a:spcBef>
              <a:spcAft>
                <a:spcPts val="0"/>
              </a:spcAft>
              <a:buClr>
                <a:schemeClr val="lt1"/>
              </a:buClr>
              <a:buSzPts val="7200"/>
              <a:buNone/>
              <a:defRPr sz="4800">
                <a:solidFill>
                  <a:schemeClr val="lt1"/>
                </a:solidFill>
              </a:defRPr>
            </a:lvl8pPr>
            <a:lvl9pPr lvl="8" rtl="0">
              <a:spcBef>
                <a:spcPts val="0"/>
              </a:spcBef>
              <a:spcAft>
                <a:spcPts val="0"/>
              </a:spcAft>
              <a:buClr>
                <a:schemeClr val="lt1"/>
              </a:buClr>
              <a:buSzPts val="7200"/>
              <a:buNone/>
              <a:defRPr sz="4800">
                <a:solidFill>
                  <a:schemeClr val="lt1"/>
                </a:solidFill>
              </a:defRPr>
            </a:lvl9pPr>
          </a:lstStyle>
          <a:p>
            <a:endParaRPr/>
          </a:p>
        </p:txBody>
      </p:sp>
      <p:sp>
        <p:nvSpPr>
          <p:cNvPr id="85" name="Google Shape;85;p17"/>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6" name="Google Shape;86;p17"/>
          <p:cNvSpPr txBox="1">
            <a:spLocks noGrp="1"/>
          </p:cNvSpPr>
          <p:nvPr>
            <p:ph type="body" idx="1"/>
          </p:nvPr>
        </p:nvSpPr>
        <p:spPr>
          <a:xfrm>
            <a:off x="615517" y="351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A5D75F"/>
              </a:buClr>
              <a:buSzPts val="5500"/>
              <a:buFont typeface="Archivo"/>
              <a:buChar char="●"/>
              <a:defRPr sz="3667" b="1" i="0" u="none" strike="noStrike" cap="none">
                <a:solidFill>
                  <a:srgbClr val="A5D75F"/>
                </a:solidFill>
                <a:latin typeface="Archivo"/>
                <a:ea typeface="Archivo"/>
                <a:cs typeface="Archivo"/>
                <a:sym typeface="Archivo"/>
              </a:defRPr>
            </a:lvl1pPr>
            <a:lvl2pPr marL="609630" marR="0" lvl="1" indent="-355618" algn="l" rtl="0">
              <a:spcBef>
                <a:spcPts val="373"/>
              </a:spcBef>
              <a:spcAft>
                <a:spcPts val="0"/>
              </a:spcAft>
              <a:buClr>
                <a:schemeClr val="lt1"/>
              </a:buClr>
              <a:buSzPts val="4800"/>
              <a:buFont typeface="Archivo SemiBold"/>
              <a:buChar char="○"/>
              <a:defRPr sz="3200" i="0" u="none" strike="noStrike" cap="none">
                <a:solidFill>
                  <a:schemeClr val="lt1"/>
                </a:solidFill>
                <a:latin typeface="Archivo SemiBold"/>
                <a:ea typeface="Archivo SemiBold"/>
                <a:cs typeface="Archivo SemiBold"/>
                <a:sym typeface="Archivo SemiBold"/>
              </a:defRPr>
            </a:lvl2pPr>
            <a:lvl3pPr marL="914446" marR="0" lvl="2" indent="-292115" algn="l" rtl="0">
              <a:spcBef>
                <a:spcPts val="320"/>
              </a:spcBef>
              <a:spcAft>
                <a:spcPts val="0"/>
              </a:spcAft>
              <a:buClr>
                <a:srgbClr val="A5D75F"/>
              </a:buClr>
              <a:buSzPts val="3300"/>
              <a:buFont typeface="Archivo Medium"/>
              <a:buChar char="■"/>
              <a:defRPr sz="2200" i="0" u="none" strike="noStrike" cap="none">
                <a:solidFill>
                  <a:srgbClr val="A5D75F"/>
                </a:solidFill>
                <a:latin typeface="Archivo Medium"/>
                <a:ea typeface="Archivo Medium"/>
                <a:cs typeface="Archivo Medium"/>
                <a:sym typeface="Archivo Medium"/>
              </a:defRPr>
            </a:lvl3pPr>
            <a:lvl4pPr marL="1219261" marR="0" lvl="3" indent="-254013" algn="l" rtl="0">
              <a:spcBef>
                <a:spcPts val="267"/>
              </a:spcBef>
              <a:spcAft>
                <a:spcPts val="0"/>
              </a:spcAft>
              <a:buClr>
                <a:schemeClr val="lt1"/>
              </a:buClr>
              <a:buSzPts val="2400"/>
              <a:buFont typeface="Archivo"/>
              <a:buChar char="●"/>
              <a:defRPr sz="1600" b="1" i="0" u="none" strike="noStrike" cap="none">
                <a:solidFill>
                  <a:schemeClr val="lt1"/>
                </a:solidFill>
                <a:latin typeface="Archivo"/>
                <a:ea typeface="Archivo"/>
                <a:cs typeface="Archivo"/>
                <a:sym typeface="Archivo"/>
              </a:defRPr>
            </a:lvl4pPr>
            <a:lvl5pPr marL="1524076" marR="0" lvl="4" indent="-241312" algn="l" rtl="0">
              <a:spcBef>
                <a:spcPts val="267"/>
              </a:spcBef>
              <a:spcAft>
                <a:spcPts val="0"/>
              </a:spcAft>
              <a:buClr>
                <a:srgbClr val="A5D75F"/>
              </a:buClr>
              <a:buSzPts val="2100"/>
              <a:buFont typeface="Archivo SemiBold"/>
              <a:buChar char="○"/>
              <a:defRPr sz="1400" i="0" u="none" strike="noStrike" cap="none">
                <a:solidFill>
                  <a:srgbClr val="A5D75F"/>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lt1"/>
              </a:buClr>
              <a:buSzPts val="1800"/>
              <a:buFont typeface="Archivo Medium"/>
              <a:buChar char="■"/>
              <a:defRPr sz="1200" i="0" u="none" strike="noStrike" cap="none">
                <a:solidFill>
                  <a:schemeClr val="lt1"/>
                </a:solidFill>
                <a:latin typeface="Archivo Medium"/>
                <a:ea typeface="Archivo Medium"/>
                <a:cs typeface="Archivo Medium"/>
                <a:sym typeface="Archivo Medium"/>
              </a:defRPr>
            </a:lvl6pPr>
            <a:lvl7pPr marL="2133707" marR="0" lvl="6" indent="-211677" algn="l" rtl="0">
              <a:spcBef>
                <a:spcPts val="267"/>
              </a:spcBef>
              <a:spcAft>
                <a:spcPts val="0"/>
              </a:spcAft>
              <a:buClr>
                <a:schemeClr val="lt1"/>
              </a:buClr>
              <a:buSzPts val="1400"/>
              <a:buFont typeface="Archivo"/>
              <a:buChar char="●"/>
              <a:defRPr i="0" u="none" strike="noStrike" cap="none">
                <a:solidFill>
                  <a:schemeClr val="lt1"/>
                </a:solidFill>
                <a:latin typeface="Archivo"/>
                <a:ea typeface="Archivo"/>
                <a:cs typeface="Archivo"/>
                <a:sym typeface="Archivo"/>
              </a:defRPr>
            </a:lvl7pPr>
            <a:lvl8pPr marL="2438522" marR="0" lvl="7"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8pPr>
            <a:lvl9pPr marL="2743337" marR="0" lvl="8"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1228890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White Closing Slide with QR Code">
  <p:cSld name="White Closing Slide with QR Code">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778100" y="2425706"/>
            <a:ext cx="11249000" cy="1445400"/>
          </a:xfrm>
          <a:prstGeom prst="rect">
            <a:avLst/>
          </a:prstGeom>
        </p:spPr>
        <p:txBody>
          <a:bodyPr spcFirstLastPara="1" wrap="square" lIns="91425" tIns="45700" rIns="91425" bIns="45700" anchor="t" anchorCtr="0">
            <a:normAutofit/>
          </a:bodyPr>
          <a:lstStyle>
            <a:lvl1pPr lvl="0">
              <a:spcBef>
                <a:spcPts val="0"/>
              </a:spcBef>
              <a:spcAft>
                <a:spcPts val="0"/>
              </a:spcAft>
              <a:buSzPts val="10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8"/>
          <p:cNvSpPr txBox="1"/>
          <p:nvPr/>
        </p:nvSpPr>
        <p:spPr>
          <a:xfrm>
            <a:off x="6822930" y="4923600"/>
            <a:ext cx="18318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1115" i="0" u="none" strike="noStrike" cap="none">
                <a:solidFill>
                  <a:srgbClr val="00693D"/>
                </a:solidFill>
                <a:latin typeface="Anton"/>
                <a:ea typeface="Anton"/>
                <a:cs typeface="Anton"/>
                <a:sym typeface="Anton"/>
              </a:rPr>
              <a:t>ME</a:t>
            </a:r>
            <a:endParaRPr sz="1200">
              <a:latin typeface="Anton"/>
              <a:ea typeface="Anton"/>
              <a:cs typeface="Anton"/>
              <a:sym typeface="Anton"/>
            </a:endParaRPr>
          </a:p>
        </p:txBody>
      </p:sp>
      <p:sp>
        <p:nvSpPr>
          <p:cNvPr id="90" name="Google Shape;90;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a:stretch>
          </a:blipFill>
          <a:ln>
            <a:noFill/>
          </a:ln>
        </p:spPr>
      </p:sp>
      <p:sp>
        <p:nvSpPr>
          <p:cNvPr id="91" name="Google Shape;91;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sp>
      <p:sp>
        <p:nvSpPr>
          <p:cNvPr id="92" name="Google Shape;92;p18"/>
          <p:cNvSpPr/>
          <p:nvPr/>
        </p:nvSpPr>
        <p:spPr>
          <a:xfrm>
            <a:off x="8910302" y="4626749"/>
            <a:ext cx="1830491" cy="1636709"/>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4">
              <a:alphaModFix/>
            </a:blip>
            <a:stretch>
              <a:fillRect l="-110437"/>
            </a:stretch>
          </a:blipFill>
          <a:ln>
            <a:noFill/>
          </a:ln>
        </p:spPr>
      </p:sp>
      <p:sp>
        <p:nvSpPr>
          <p:cNvPr id="93" name="Google Shape;93;p18"/>
          <p:cNvSpPr txBox="1"/>
          <p:nvPr/>
        </p:nvSpPr>
        <p:spPr>
          <a:xfrm>
            <a:off x="9305866" y="5111434"/>
            <a:ext cx="744600" cy="479234"/>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742" b="0" i="0" u="none" strike="noStrike" cap="none">
                <a:solidFill>
                  <a:srgbClr val="12312B"/>
                </a:solidFill>
                <a:latin typeface="Arial"/>
                <a:ea typeface="Arial"/>
                <a:cs typeface="Arial"/>
                <a:sym typeface="Arial"/>
              </a:rPr>
              <a:t>*</a:t>
            </a:r>
            <a:r>
              <a:rPr lang="en-US" sz="875" i="0" u="none" strike="noStrike" cap="none">
                <a:solidFill>
                  <a:srgbClr val="12312B"/>
                </a:solidFill>
                <a:latin typeface="Archivo"/>
                <a:ea typeface="Archivo"/>
                <a:cs typeface="Archivo"/>
                <a:sym typeface="Archivo"/>
              </a:rPr>
              <a:t>Place QR code here</a:t>
            </a:r>
            <a:endParaRPr sz="100">
              <a:latin typeface="Archivo"/>
              <a:ea typeface="Archivo"/>
              <a:cs typeface="Archivo"/>
              <a:sym typeface="Archivo"/>
            </a:endParaRPr>
          </a:p>
        </p:txBody>
      </p:sp>
      <p:sp>
        <p:nvSpPr>
          <p:cNvPr id="94" name="Google Shape;94;p18"/>
          <p:cNvSpPr txBox="1"/>
          <p:nvPr/>
        </p:nvSpPr>
        <p:spPr>
          <a:xfrm>
            <a:off x="6947931" y="4467234"/>
            <a:ext cx="1581800" cy="901657"/>
          </a:xfrm>
          <a:prstGeom prst="rect">
            <a:avLst/>
          </a:prstGeom>
          <a:noFill/>
          <a:ln>
            <a:noFill/>
          </a:ln>
        </p:spPr>
        <p:txBody>
          <a:bodyPr spcFirstLastPara="1" wrap="square" lIns="0" tIns="0" rIns="0" bIns="0" anchor="t" anchorCtr="0">
            <a:spAutoFit/>
          </a:bodyPr>
          <a:lstStyle/>
          <a:p>
            <a:pPr marL="0" marR="0" lvl="0" indent="0" algn="ctr" rtl="0">
              <a:lnSpc>
                <a:spcPct val="140004"/>
              </a:lnSpc>
              <a:spcBef>
                <a:spcPts val="0"/>
              </a:spcBef>
              <a:spcAft>
                <a:spcPts val="0"/>
              </a:spcAft>
              <a:buNone/>
            </a:pPr>
            <a:r>
              <a:rPr lang="en-US" sz="4185" i="0" u="none" strike="noStrike" cap="none">
                <a:solidFill>
                  <a:srgbClr val="00693D"/>
                </a:solidFill>
                <a:latin typeface="Archivo ExtraBold"/>
                <a:ea typeface="Archivo ExtraBold"/>
                <a:cs typeface="Archivo ExtraBold"/>
                <a:sym typeface="Archivo ExtraBold"/>
              </a:rPr>
              <a:t>SCAN</a:t>
            </a:r>
            <a:endParaRPr sz="2200">
              <a:latin typeface="Archivo ExtraBold"/>
              <a:ea typeface="Archivo ExtraBold"/>
              <a:cs typeface="Archivo ExtraBold"/>
              <a:sym typeface="Archivo ExtraBold"/>
            </a:endParaRPr>
          </a:p>
        </p:txBody>
      </p:sp>
      <p:sp>
        <p:nvSpPr>
          <p:cNvPr id="95" name="Google Shape;95;p18"/>
          <p:cNvSpPr txBox="1">
            <a:spLocks noGrp="1"/>
          </p:cNvSpPr>
          <p:nvPr>
            <p:ph type="body" idx="1"/>
          </p:nvPr>
        </p:nvSpPr>
        <p:spPr>
          <a:xfrm>
            <a:off x="856767" y="34752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460245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Green Logo with Weblink">
  <p:cSld name="Green Logo with Weblink">
    <p:spTree>
      <p:nvGrpSpPr>
        <p:cNvPr id="1" name="Shape 96"/>
        <p:cNvGrpSpPr/>
        <p:nvPr/>
      </p:nvGrpSpPr>
      <p:grpSpPr>
        <a:xfrm>
          <a:off x="0" y="0"/>
          <a:ext cx="0" cy="0"/>
          <a:chOff x="0" y="0"/>
          <a:chExt cx="0" cy="0"/>
        </a:xfrm>
      </p:grpSpPr>
      <p:sp>
        <p:nvSpPr>
          <p:cNvPr id="97" name="Google Shape;97;p19"/>
          <p:cNvSpPr/>
          <p:nvPr/>
        </p:nvSpPr>
        <p:spPr>
          <a:xfrm>
            <a:off x="2276400" y="1133617"/>
            <a:ext cx="7639197" cy="3526531"/>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l="-29" r="-19"/>
            </a:stretch>
          </a:blipFill>
          <a:ln>
            <a:noFill/>
          </a:ln>
        </p:spPr>
      </p:sp>
      <p:sp>
        <p:nvSpPr>
          <p:cNvPr id="98" name="Google Shape;98;p19"/>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12312B"/>
                </a:solidFill>
                <a:latin typeface="Archivo ExtraBold"/>
                <a:ea typeface="Archivo ExtraBold"/>
                <a:cs typeface="Archivo ExtraBold"/>
                <a:sym typeface="Archivo ExtraBold"/>
              </a:rPr>
              <a:t>libraries.dartmouth.edu</a:t>
            </a:r>
            <a:endParaRPr sz="4734">
              <a:solidFill>
                <a:srgbClr val="12312B"/>
              </a:solidFill>
              <a:latin typeface="Archivo ExtraBold"/>
              <a:ea typeface="Archivo ExtraBold"/>
              <a:cs typeface="Archivo ExtraBold"/>
              <a:sym typeface="Archivo ExtraBold"/>
            </a:endParaRPr>
          </a:p>
        </p:txBody>
      </p:sp>
    </p:spTree>
    <p:extLst>
      <p:ext uri="{BB962C8B-B14F-4D97-AF65-F5344CB8AC3E}">
        <p14:creationId xmlns:p14="http://schemas.microsoft.com/office/powerpoint/2010/main" val="3496446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White Logo with Weblink">
  <p:cSld name="White Logo with Weblink">
    <p:bg>
      <p:bgPr>
        <a:solidFill>
          <a:srgbClr val="12312B"/>
        </a:solidFill>
        <a:effectLst/>
      </p:bgPr>
    </p:bg>
    <p:spTree>
      <p:nvGrpSpPr>
        <p:cNvPr id="1" name="Shape 99"/>
        <p:cNvGrpSpPr/>
        <p:nvPr/>
      </p:nvGrpSpPr>
      <p:grpSpPr>
        <a:xfrm>
          <a:off x="0" y="0"/>
          <a:ext cx="0" cy="0"/>
          <a:chOff x="0" y="0"/>
          <a:chExt cx="0" cy="0"/>
        </a:xfrm>
      </p:grpSpPr>
      <p:sp>
        <p:nvSpPr>
          <p:cNvPr id="100" name="Google Shape;100;p20"/>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1" name="Google Shape;101;p20"/>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096509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White Logo with Weblink alternate">
  <p:cSld name="White Logo with Weblink alternate">
    <p:bg>
      <p:bgPr>
        <a:solidFill>
          <a:schemeClr val="dk2"/>
        </a:solidFill>
        <a:effectLst/>
      </p:bgPr>
    </p:bg>
    <p:spTree>
      <p:nvGrpSpPr>
        <p:cNvPr id="1" name="Shape 102"/>
        <p:cNvGrpSpPr/>
        <p:nvPr/>
      </p:nvGrpSpPr>
      <p:grpSpPr>
        <a:xfrm>
          <a:off x="0" y="0"/>
          <a:ext cx="0" cy="0"/>
          <a:chOff x="0" y="0"/>
          <a:chExt cx="0" cy="0"/>
        </a:xfrm>
      </p:grpSpPr>
      <p:sp>
        <p:nvSpPr>
          <p:cNvPr id="103" name="Google Shape;103;p21"/>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4" name="Google Shape;104;p21"/>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991987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White Logo and Grid Green Background" type="blank">
  <p:cSld name="White Logo and Grid Green Background">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11054028" y="-8290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0" name="Google Shape;10;p2"/>
          <p:cNvSpPr/>
          <p:nvPr/>
        </p:nvSpPr>
        <p:spPr>
          <a:xfrm>
            <a:off x="1" y="0"/>
            <a:ext cx="1909799" cy="955960"/>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316779676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Header-White">
  <p:cSld name="Section Header-White">
    <p:bg>
      <p:bgPr>
        <a:solidFill>
          <a:schemeClr val="lt1"/>
        </a:solidFill>
        <a:effectLst/>
      </p:bgPr>
    </p:bg>
    <p:spTree>
      <p:nvGrpSpPr>
        <p:cNvPr id="1" name="Shape 37"/>
        <p:cNvGrpSpPr/>
        <p:nvPr/>
      </p:nvGrpSpPr>
      <p:grpSpPr>
        <a:xfrm>
          <a:off x="0" y="0"/>
          <a:ext cx="0" cy="0"/>
          <a:chOff x="0" y="0"/>
          <a:chExt cx="0" cy="0"/>
        </a:xfrm>
      </p:grpSpPr>
      <p:sp>
        <p:nvSpPr>
          <p:cNvPr id="38" name="Google Shape;38;p5"/>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lvl1pPr lvl="0" algn="l" rtl="0">
              <a:lnSpc>
                <a:spcPct val="90000"/>
              </a:lnSpc>
              <a:spcBef>
                <a:spcPts val="0"/>
              </a:spcBef>
              <a:spcAft>
                <a:spcPts val="0"/>
              </a:spcAft>
              <a:buClr>
                <a:srgbClr val="00693E"/>
              </a:buClr>
              <a:buSzPts val="6000"/>
              <a:buFont typeface="Arial"/>
              <a:buNone/>
              <a:defRPr sz="6000">
                <a:solidFill>
                  <a:srgbClr val="00693E"/>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9" name="Google Shape;39;p5"/>
          <p:cNvSpPr txBox="1">
            <a:spLocks noGrp="1"/>
          </p:cNvSpPr>
          <p:nvPr>
            <p:ph type="body" idx="1"/>
          </p:nvPr>
        </p:nvSpPr>
        <p:spPr>
          <a:xfrm>
            <a:off x="2329800" y="4562450"/>
            <a:ext cx="9017400" cy="1500300"/>
          </a:xfrm>
          <a:prstGeom prst="rect">
            <a:avLst/>
          </a:prstGeom>
          <a:noFill/>
          <a:ln>
            <a:noFill/>
          </a:ln>
        </p:spPr>
        <p:txBody>
          <a:bodyPr spcFirstLastPara="1" wrap="square" lIns="91425" tIns="45700" rIns="91425" bIns="45700" anchor="t" anchorCtr="0">
            <a:noAutofit/>
          </a:bodyPr>
          <a:lstStyle>
            <a:lvl1pPr marL="457200" lvl="0" indent="-228600" algn="l" rtl="0">
              <a:lnSpc>
                <a:spcPct val="90000"/>
              </a:lnSpc>
              <a:spcBef>
                <a:spcPts val="1000"/>
              </a:spcBef>
              <a:spcAft>
                <a:spcPts val="0"/>
              </a:spcAft>
              <a:buSzPts val="2400"/>
              <a:buNone/>
              <a:defRPr sz="2400"/>
            </a:lvl1pPr>
            <a:lvl2pPr marL="914400" lvl="1" indent="-228600" algn="l" rtl="0">
              <a:lnSpc>
                <a:spcPct val="90000"/>
              </a:lnSpc>
              <a:spcBef>
                <a:spcPts val="500"/>
              </a:spcBef>
              <a:spcAft>
                <a:spcPts val="0"/>
              </a:spcAft>
              <a:buSzPts val="2000"/>
              <a:buNone/>
              <a:defRPr sz="2000"/>
            </a:lvl2pPr>
            <a:lvl3pPr marL="1371600" lvl="2" indent="-228600" algn="l" rtl="0">
              <a:lnSpc>
                <a:spcPct val="90000"/>
              </a:lnSpc>
              <a:spcBef>
                <a:spcPts val="500"/>
              </a:spcBef>
              <a:spcAft>
                <a:spcPts val="0"/>
              </a:spcAft>
              <a:buSzPts val="1800"/>
              <a:buNone/>
              <a:defRPr sz="1800"/>
            </a:lvl3pPr>
            <a:lvl4pPr marL="1828800" lvl="3" indent="-228600" algn="l" rtl="0">
              <a:lnSpc>
                <a:spcPct val="90000"/>
              </a:lnSpc>
              <a:spcBef>
                <a:spcPts val="500"/>
              </a:spcBef>
              <a:spcAft>
                <a:spcPts val="0"/>
              </a:spcAft>
              <a:buSzPts val="1600"/>
              <a:buNone/>
              <a:defRPr sz="1600"/>
            </a:lvl4pPr>
            <a:lvl5pPr marL="2286000" lvl="4" indent="-228600" algn="l" rtl="0">
              <a:lnSpc>
                <a:spcPct val="90000"/>
              </a:lnSpc>
              <a:spcBef>
                <a:spcPts val="500"/>
              </a:spcBef>
              <a:spcAft>
                <a:spcPts val="0"/>
              </a:spcAft>
              <a:buSzPts val="1600"/>
              <a:buNone/>
              <a:defRPr sz="1600"/>
            </a:lvl5pPr>
            <a:lvl6pPr marL="2743200" lvl="5" indent="-228600" algn="l" rtl="0">
              <a:lnSpc>
                <a:spcPct val="90000"/>
              </a:lnSpc>
              <a:spcBef>
                <a:spcPts val="500"/>
              </a:spcBef>
              <a:spcAft>
                <a:spcPts val="0"/>
              </a:spcAft>
              <a:buSzPts val="1600"/>
              <a:buNone/>
              <a:defRPr sz="1600"/>
            </a:lvl6pPr>
            <a:lvl7pPr marL="3200400" lvl="6" indent="-228600" algn="l" rtl="0">
              <a:lnSpc>
                <a:spcPct val="90000"/>
              </a:lnSpc>
              <a:spcBef>
                <a:spcPts val="500"/>
              </a:spcBef>
              <a:spcAft>
                <a:spcPts val="0"/>
              </a:spcAft>
              <a:buSzPts val="1600"/>
              <a:buNone/>
              <a:defRPr sz="1600"/>
            </a:lvl7pPr>
            <a:lvl8pPr marL="3657600" lvl="7" indent="-228600" algn="l" rtl="0">
              <a:lnSpc>
                <a:spcPct val="90000"/>
              </a:lnSpc>
              <a:spcBef>
                <a:spcPts val="500"/>
              </a:spcBef>
              <a:spcAft>
                <a:spcPts val="0"/>
              </a:spcAft>
              <a:buSzPts val="1600"/>
              <a:buNone/>
              <a:defRPr sz="1600"/>
            </a:lvl8pPr>
            <a:lvl9pPr marL="4114800" lvl="8" indent="-228600" algn="l" rtl="0">
              <a:lnSpc>
                <a:spcPct val="90000"/>
              </a:lnSpc>
              <a:spcBef>
                <a:spcPts val="500"/>
              </a:spcBef>
              <a:spcAft>
                <a:spcPts val="0"/>
              </a:spcAft>
              <a:buSzPts val="1600"/>
              <a:buNone/>
              <a:defRPr sz="1600"/>
            </a:lvl9pPr>
          </a:lstStyle>
          <a:p>
            <a:endParaRPr/>
          </a:p>
        </p:txBody>
      </p:sp>
      <p:sp>
        <p:nvSpPr>
          <p:cNvPr id="40" name="Google Shape;40;p5"/>
          <p:cNvSpPr txBox="1">
            <a:spLocks noGrp="1"/>
          </p:cNvSpPr>
          <p:nvPr>
            <p:ph type="sldNum" idx="12"/>
          </p:nvPr>
        </p:nvSpPr>
        <p:spPr>
          <a:xfrm>
            <a:off x="10855712" y="6424596"/>
            <a:ext cx="4980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41" name="Google Shape;41;p5"/>
          <p:cNvPicPr preferRelativeResize="0"/>
          <p:nvPr/>
        </p:nvPicPr>
        <p:blipFill>
          <a:blip r:embed="rId2">
            <a:alphaModFix/>
          </a:blip>
          <a:stretch>
            <a:fillRect/>
          </a:stretch>
        </p:blipFill>
        <p:spPr>
          <a:xfrm>
            <a:off x="-910725" y="0"/>
            <a:ext cx="1828247" cy="1825625"/>
          </a:xfrm>
          <a:prstGeom prst="rect">
            <a:avLst/>
          </a:prstGeom>
          <a:noFill/>
          <a:ln>
            <a:noFill/>
          </a:ln>
        </p:spPr>
      </p:pic>
      <p:pic>
        <p:nvPicPr>
          <p:cNvPr id="42" name="Google Shape;42;p5"/>
          <p:cNvPicPr preferRelativeResize="0"/>
          <p:nvPr/>
        </p:nvPicPr>
        <p:blipFill>
          <a:blip r:embed="rId2">
            <a:alphaModFix/>
          </a:blip>
          <a:stretch>
            <a:fillRect/>
          </a:stretch>
        </p:blipFill>
        <p:spPr>
          <a:xfrm>
            <a:off x="-910725" y="1825625"/>
            <a:ext cx="1828247" cy="1825625"/>
          </a:xfrm>
          <a:prstGeom prst="rect">
            <a:avLst/>
          </a:prstGeom>
          <a:noFill/>
          <a:ln>
            <a:noFill/>
          </a:ln>
        </p:spPr>
      </p:pic>
      <p:pic>
        <p:nvPicPr>
          <p:cNvPr id="43" name="Google Shape;43;p5"/>
          <p:cNvPicPr preferRelativeResize="0"/>
          <p:nvPr/>
        </p:nvPicPr>
        <p:blipFill>
          <a:blip r:embed="rId2">
            <a:alphaModFix/>
          </a:blip>
          <a:stretch>
            <a:fillRect/>
          </a:stretch>
        </p:blipFill>
        <p:spPr>
          <a:xfrm>
            <a:off x="-910725" y="3651250"/>
            <a:ext cx="1828247" cy="1825625"/>
          </a:xfrm>
          <a:prstGeom prst="rect">
            <a:avLst/>
          </a:prstGeom>
          <a:noFill/>
          <a:ln>
            <a:noFill/>
          </a:ln>
        </p:spPr>
      </p:pic>
      <p:pic>
        <p:nvPicPr>
          <p:cNvPr id="44" name="Google Shape;44;p5"/>
          <p:cNvPicPr preferRelativeResize="0"/>
          <p:nvPr/>
        </p:nvPicPr>
        <p:blipFill>
          <a:blip r:embed="rId2">
            <a:alphaModFix/>
          </a:blip>
          <a:stretch>
            <a:fillRect/>
          </a:stretch>
        </p:blipFill>
        <p:spPr>
          <a:xfrm>
            <a:off x="-910725" y="5476875"/>
            <a:ext cx="1828247" cy="1825625"/>
          </a:xfrm>
          <a:prstGeom prst="rect">
            <a:avLst/>
          </a:prstGeom>
          <a:noFill/>
          <a:ln>
            <a:noFill/>
          </a:ln>
        </p:spPr>
      </p:pic>
      <p:pic>
        <p:nvPicPr>
          <p:cNvPr id="45" name="Google Shape;45;p5"/>
          <p:cNvPicPr preferRelativeResize="0"/>
          <p:nvPr/>
        </p:nvPicPr>
        <p:blipFill rotWithShape="1">
          <a:blip r:embed="rId3">
            <a:alphaModFix/>
          </a:blip>
          <a:srcRect/>
          <a:stretch/>
        </p:blipFill>
        <p:spPr>
          <a:xfrm>
            <a:off x="9999700" y="5639340"/>
            <a:ext cx="1993825" cy="955051"/>
          </a:xfrm>
          <a:prstGeom prst="rect">
            <a:avLst/>
          </a:prstGeom>
          <a:noFill/>
          <a:ln>
            <a:noFill/>
          </a:ln>
        </p:spPr>
      </p:pic>
      <p:pic>
        <p:nvPicPr>
          <p:cNvPr id="46" name="Google Shape;46;p5"/>
          <p:cNvPicPr preferRelativeResize="0"/>
          <p:nvPr/>
        </p:nvPicPr>
        <p:blipFill rotWithShape="1">
          <a:blip r:embed="rId4">
            <a:alphaModFix/>
          </a:blip>
          <a:srcRect/>
          <a:stretch/>
        </p:blipFill>
        <p:spPr>
          <a:xfrm>
            <a:off x="501550" y="2805988"/>
            <a:ext cx="1828249" cy="1690514"/>
          </a:xfrm>
          <a:prstGeom prst="rect">
            <a:avLst/>
          </a:prstGeom>
          <a:noFill/>
          <a:ln>
            <a:noFill/>
          </a:ln>
        </p:spPr>
      </p:pic>
    </p:spTree>
    <p:extLst>
      <p:ext uri="{BB962C8B-B14F-4D97-AF65-F5344CB8AC3E}">
        <p14:creationId xmlns:p14="http://schemas.microsoft.com/office/powerpoint/2010/main" val="3648131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6" Type="http://schemas.openxmlformats.org/officeDocument/2006/relationships/theme" Target="../theme/theme2.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F8B098-1FDB-85A1-A229-1509E5A58B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E32BFF5-A90E-828B-F083-5B73160FB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2AFF2E-3469-82AC-BD65-432D2A47F7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7791598F-E36D-2AFA-F7B0-EFCB4A88D8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E0A7395-CD56-00F2-67A4-06A3886512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0E2F6DB-E6B6-4703-834F-10175180B3B1}" type="slidenum">
              <a:rPr lang="en-US" smtClean="0"/>
              <a:t>‹#›</a:t>
            </a:fld>
            <a:endParaRPr lang="en-US"/>
          </a:p>
        </p:txBody>
      </p:sp>
    </p:spTree>
    <p:extLst>
      <p:ext uri="{BB962C8B-B14F-4D97-AF65-F5344CB8AC3E}">
        <p14:creationId xmlns:p14="http://schemas.microsoft.com/office/powerpoint/2010/main" val="739096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8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04800" y="183114"/>
            <a:ext cx="11249000" cy="1445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6415583" y="2621383"/>
            <a:ext cx="7425600" cy="37262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621704862"/>
      </p:ext>
    </p:extLst>
  </p:cSld>
  <p:clrMap bg1="lt1" tx1="dk1" bg2="dk2" tx2="lt2" accent1="accent1" accent2="accent2" accent3="accent3" accent4="accent4" accent5="accent5" accent6="accent6" hlink="hlink" folHlink="folHlink"/>
  <p:sldLayoutIdLst>
    <p:sldLayoutId id="2147483664" r:id="rId1"/>
    <p:sldLayoutId id="2147483666" r:id="rId2"/>
    <p:sldLayoutId id="2147483667" r:id="rId3"/>
    <p:sldLayoutId id="2147483669" r:id="rId4"/>
    <p:sldLayoutId id="2147483671" r:id="rId5"/>
    <p:sldLayoutId id="2147483672" r:id="rId6"/>
    <p:sldLayoutId id="2147483673" r:id="rId7"/>
    <p:sldLayoutId id="2147483674" r:id="rId8"/>
    <p:sldLayoutId id="2147483677" r:id="rId9"/>
    <p:sldLayoutId id="2147483678" r:id="rId10"/>
    <p:sldLayoutId id="2147483679" r:id="rId11"/>
    <p:sldLayoutId id="2147483680" r:id="rId12"/>
    <p:sldLayoutId id="2147483681" r:id="rId13"/>
    <p:sldLayoutId id="2147483683" r:id="rId14"/>
    <p:sldLayoutId id="2147483684"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E46962"/>
          </p15:clr>
        </p15:guide>
        <p15:guide id="2" pos="5760">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hyperlink" Target="https://news.berkeley.edu/2024/10/14/world-humanities-report-directed-by-uc-berkeleys-sara-guyer-warns-of-extinction-risk-to-human-knowledge/" TargetMode="External"/><Relationship Id="rId3" Type="http://schemas.openxmlformats.org/officeDocument/2006/relationships/image" Target="../media/image16.png"/><Relationship Id="rId7" Type="http://schemas.openxmlformats.org/officeDocument/2006/relationships/hyperlink" Target="https://www.insidehighered.com/advice/2023/03/09/thoughts-dealing-despair-over-state-humanities-opinion" TargetMode="External"/><Relationship Id="rId2" Type="http://schemas.openxmlformats.org/officeDocument/2006/relationships/image" Target="../media/image15.png"/><Relationship Id="rId1" Type="http://schemas.openxmlformats.org/officeDocument/2006/relationships/slideLayout" Target="../slideLayouts/slideLayout15.xml"/><Relationship Id="rId6" Type="http://schemas.openxmlformats.org/officeDocument/2006/relationships/hyperlink" Target="https://www.washingtonpost.com/outlook/2022/04/15/humanities-sciences-credibility-crisis-public-trust/" TargetMode="External"/><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hyperlink" Target="https://www.theatlantic.com/ideas/archive/2018/08/the-humanities-face-a-crisisof-confidence/567565/"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hyperlink" Target="https://pmc.ncbi.nlm.nih.gov/articles/PMC8862562/#CR1" TargetMode="External"/><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hyperlink" Target="https://www.nature.com/articles/s41562-021-01269-4"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microsoft.com/office/2018/10/relationships/comments" Target="../comments/modernComment_15A_EE3B0802.xml"/><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hyperlink" Target="https://researchguides.dartmouth.edu/OSCARRS/FAIRES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researchguides.dartmouth.edu/OSCARRS/Announcement" TargetMode="External"/><Relationship Id="rId2" Type="http://schemas.openxmlformats.org/officeDocument/2006/relationships/image" Target="../media/image19.jpg"/><Relationship Id="rId1" Type="http://schemas.openxmlformats.org/officeDocument/2006/relationships/slideLayout" Target="../slideLayouts/slideLayout16.xml"/><Relationship Id="rId4" Type="http://schemas.openxmlformats.org/officeDocument/2006/relationships/hyperlink" Target="https://researchguides.dartmouth.edu/OSCARRS/FAIREST"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p:nvPr/>
        </p:nvSpPr>
        <p:spPr>
          <a:xfrm>
            <a:off x="1168200" y="2304596"/>
            <a:ext cx="9677800" cy="1724000"/>
          </a:xfrm>
          <a:prstGeom prst="rect">
            <a:avLst/>
          </a:prstGeom>
          <a:noFill/>
          <a:ln>
            <a:noFill/>
          </a:ln>
        </p:spPr>
        <p:txBody>
          <a:bodyPr spcFirstLastPara="1" wrap="square" lIns="0" tIns="0" rIns="0" bIns="0" anchor="t" anchorCtr="0">
            <a:noAutofit/>
          </a:bodyPr>
          <a:lstStyle/>
          <a:p>
            <a:pPr>
              <a:lnSpc>
                <a:spcPct val="140001"/>
              </a:lnSpc>
            </a:pPr>
            <a:r>
              <a:rPr lang="en-US" sz="4800" dirty="0">
                <a:latin typeface="Anton"/>
                <a:ea typeface="Anton"/>
                <a:cs typeface="Anton"/>
                <a:sym typeface="Anton"/>
              </a:rPr>
              <a:t>Computational / Reproducible Research Best Practices</a:t>
            </a:r>
          </a:p>
        </p:txBody>
      </p:sp>
      <p:sp>
        <p:nvSpPr>
          <p:cNvPr id="111" name="Google Shape;111;p22"/>
          <p:cNvSpPr txBox="1"/>
          <p:nvPr/>
        </p:nvSpPr>
        <p:spPr>
          <a:xfrm>
            <a:off x="1168200" y="5149683"/>
            <a:ext cx="8444153" cy="320649"/>
          </a:xfrm>
          <a:prstGeom prst="rect">
            <a:avLst/>
          </a:prstGeom>
          <a:noFill/>
          <a:ln>
            <a:noFill/>
          </a:ln>
        </p:spPr>
        <p:txBody>
          <a:bodyPr spcFirstLastPara="1" wrap="square" lIns="0" tIns="0" rIns="0" bIns="0" anchor="t" anchorCtr="0">
            <a:noAutofit/>
          </a:bodyPr>
          <a:lstStyle/>
          <a:p>
            <a:pPr>
              <a:lnSpc>
                <a:spcPct val="140025"/>
              </a:lnSpc>
            </a:pPr>
            <a:endParaRPr sz="1067" b="1" dirty="0">
              <a:solidFill>
                <a:schemeClr val="accent3"/>
              </a:solidFill>
              <a:latin typeface="Alegreya"/>
              <a:ea typeface="Alegreya"/>
              <a:cs typeface="Alegreya"/>
              <a:sym typeface="Alegreya"/>
            </a:endParaRPr>
          </a:p>
        </p:txBody>
      </p:sp>
      <p:sp>
        <p:nvSpPr>
          <p:cNvPr id="112" name="Google Shape;112;p22"/>
          <p:cNvSpPr/>
          <p:nvPr/>
        </p:nvSpPr>
        <p:spPr>
          <a:xfrm>
            <a:off x="566021" y="4198943"/>
            <a:ext cx="10019901"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sz="12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55B9BD9-DF9E-AC20-26F6-95664F4E09E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E1BF5683-D6F4-7C8F-FD88-A6220438308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Objectives</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1F33F10C-E37B-AAC3-E67B-2ECA203B4738}"/>
              </a:ext>
            </a:extLst>
          </p:cNvPr>
          <p:cNvSpPr txBox="1"/>
          <p:nvPr/>
        </p:nvSpPr>
        <p:spPr>
          <a:xfrm>
            <a:off x="867673" y="1900078"/>
            <a:ext cx="9776400" cy="3360920"/>
          </a:xfrm>
          <a:prstGeom prst="rect">
            <a:avLst/>
          </a:prstGeom>
          <a:noFill/>
          <a:ln>
            <a:noFill/>
          </a:ln>
        </p:spPr>
        <p:txBody>
          <a:bodyPr spcFirstLastPara="1" wrap="square" lIns="0" tIns="0" rIns="0" bIns="0" anchor="t" anchorCtr="0">
            <a:spAutoFit/>
          </a:bodyPr>
          <a:lstStyle/>
          <a:p>
            <a:pPr marL="433260" lvl="1" indent="-216630" defTabSz="609630">
              <a:lnSpc>
                <a:spcPct val="140013"/>
              </a:lnSpc>
              <a:buClr>
                <a:srgbClr val="12312B"/>
              </a:buClr>
              <a:buSzPts val="3009"/>
              <a:buFont typeface="Archivo Medium"/>
              <a:buChar char="•"/>
            </a:pPr>
            <a:r>
              <a:rPr lang="en-US" sz="2400" kern="0" dirty="0">
                <a:solidFill>
                  <a:srgbClr val="12312B"/>
                </a:solidFill>
                <a:latin typeface="Archivo Medium"/>
                <a:ea typeface="Archivo Medium"/>
                <a:cs typeface="Archivo Medium"/>
                <a:sym typeface="Archivo Medium"/>
              </a:rPr>
              <a:t>By the end of this session, you will</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Identify some general reproducible research best practices that apply widely and…</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Contrast to discipline-specific best practices</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Examine ways to apply these best practices to your own research</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ea typeface="Archivo Medium"/>
                <a:cs typeface="Archivo Medium"/>
                <a:sym typeface="Archivo Medium"/>
              </a:rPr>
              <a:t>Be familiar with some common strategies for getting help with the implementation of these best practices (generally) and with writing reproducible code and documentation.</a:t>
            </a:r>
            <a:endParaRPr kern="0" dirty="0">
              <a:solidFill>
                <a:srgbClr val="000000"/>
              </a:solidFill>
              <a:latin typeface="Archivo Medium"/>
              <a:ea typeface="Archivo Medium"/>
              <a:cs typeface="Archivo Medium"/>
              <a:sym typeface="Archivo Medium"/>
            </a:endParaRPr>
          </a:p>
          <a:p>
            <a:pPr marL="433260" lvl="1" indent="-216630" defTabSz="609630">
              <a:lnSpc>
                <a:spcPct val="140013"/>
              </a:lnSpc>
              <a:buClr>
                <a:srgbClr val="12312B"/>
              </a:buClr>
              <a:buSzPts val="3009"/>
              <a:buFont typeface="Archivo Medium"/>
              <a:buChar char="•"/>
            </a:pPr>
            <a:endParaRPr lang="en-US" sz="2400" kern="0" dirty="0">
              <a:solidFill>
                <a:srgbClr val="12312B"/>
              </a:solidFill>
              <a:latin typeface="Archivo Medium"/>
              <a:ea typeface="Archivo Medium"/>
              <a:cs typeface="Archivo Medium"/>
              <a:sym typeface="Archivo Medium"/>
            </a:endParaRPr>
          </a:p>
        </p:txBody>
      </p:sp>
    </p:spTree>
    <p:extLst>
      <p:ext uri="{BB962C8B-B14F-4D97-AF65-F5344CB8AC3E}">
        <p14:creationId xmlns:p14="http://schemas.microsoft.com/office/powerpoint/2010/main" val="412670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277AC-DA44-F83D-CF83-D8DEA3FC4A1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429D5A1-BE91-A24D-1B6A-366381FA559B}"/>
              </a:ext>
            </a:extLst>
          </p:cNvPr>
          <p:cNvSpPr>
            <a:spLocks noGrp="1"/>
          </p:cNvSpPr>
          <p:nvPr>
            <p:ph idx="1"/>
          </p:nvPr>
        </p:nvSpPr>
        <p:spPr/>
        <p:txBody>
          <a:bodyPr>
            <a:normAutofit fontScale="92500" lnSpcReduction="10000"/>
          </a:bodyPr>
          <a:lstStyle/>
          <a:p>
            <a:r>
              <a:rPr lang="en-US" b="1" dirty="0"/>
              <a:t>Reproducible Research (RR)</a:t>
            </a:r>
          </a:p>
          <a:p>
            <a:pPr lvl="1"/>
            <a:r>
              <a:rPr lang="en-US" dirty="0"/>
              <a:t>Goal: conduct and document your research in a way that allows others (including future you!) to understand, verify, and rerun the analysis using the same data and methods.</a:t>
            </a:r>
          </a:p>
          <a:p>
            <a:pPr lvl="2"/>
            <a:r>
              <a:rPr lang="en-US" i="1" dirty="0"/>
              <a:t>Note: depending on the discipline, this may or may not mean replicating results</a:t>
            </a:r>
          </a:p>
          <a:p>
            <a:r>
              <a:rPr lang="en-US" b="1" dirty="0"/>
              <a:t>Open Scholarship (OS)</a:t>
            </a:r>
          </a:p>
          <a:p>
            <a:pPr lvl="1"/>
            <a:r>
              <a:rPr lang="en-US" dirty="0"/>
              <a:t>Goal: make the products of our research as accessible and reusable as possible. Products may include publications, data, code, documentation, descriptions of methods, and other materials. Open Scholarship looks different across disciplines and must balance accessibility with privacy, safety, community needs, and cultural protocols. But all open scholarship shares a common principle: reducing barriers to allowing others to engage with and benefit from your research (especially those who could be most positively affected).</a:t>
            </a:r>
          </a:p>
        </p:txBody>
      </p:sp>
    </p:spTree>
    <p:extLst>
      <p:ext uri="{BB962C8B-B14F-4D97-AF65-F5344CB8AC3E}">
        <p14:creationId xmlns:p14="http://schemas.microsoft.com/office/powerpoint/2010/main" val="2201401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B1F212BE-D56F-A8CF-808B-08CB869D9C20}"/>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FE5081CA-880C-3DEA-FB7C-E5D132381299}"/>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Academic Crises Galore</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893EBE21-86A7-3B8F-79D9-C4B20E1B96ED}"/>
              </a:ext>
            </a:extLst>
          </p:cNvPr>
          <p:cNvSpPr/>
          <p:nvPr/>
        </p:nvSpPr>
        <p:spPr>
          <a:xfrm>
            <a:off x="980469" y="3626169"/>
            <a:ext cx="9761634"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6825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13ECFFA-4B46-5790-C0BE-F3DD37B5FE18}"/>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3B5DB79D-5246-5F19-6A6F-0BB09C41774E}"/>
              </a:ext>
            </a:extLst>
          </p:cNvPr>
          <p:cNvSpPr txBox="1"/>
          <p:nvPr/>
        </p:nvSpPr>
        <p:spPr>
          <a:xfrm>
            <a:off x="922202" y="1157695"/>
            <a:ext cx="10498654" cy="492443"/>
          </a:xfrm>
          <a:prstGeom prst="rect">
            <a:avLst/>
          </a:prstGeom>
          <a:noFill/>
          <a:ln>
            <a:noFill/>
          </a:ln>
        </p:spPr>
        <p:txBody>
          <a:bodyPr spcFirstLastPara="1" wrap="square" lIns="0" tIns="0" rIns="0" bIns="0" anchor="t" anchorCtr="0">
            <a:spAutoFit/>
          </a:bodyPr>
          <a:lstStyle/>
          <a:p>
            <a:pPr defTabSz="609630">
              <a:lnSpc>
                <a:spcPct val="100000"/>
              </a:lnSpc>
              <a:buClr>
                <a:srgbClr val="000000"/>
              </a:buClr>
            </a:pPr>
            <a:r>
              <a:rPr lang="en-US" sz="3200" b="1" dirty="0"/>
              <a:t>Why should we care about RR / OS? and why now?</a:t>
            </a:r>
            <a:endParaRPr sz="3200" kern="0" dirty="0">
              <a:solidFill>
                <a:srgbClr val="000000"/>
              </a:solidFill>
              <a:latin typeface="Anton"/>
              <a:ea typeface="Anton"/>
              <a:cs typeface="Anton"/>
              <a:sym typeface="Anton"/>
            </a:endParaRPr>
          </a:p>
        </p:txBody>
      </p:sp>
      <p:pic>
        <p:nvPicPr>
          <p:cNvPr id="2" name="Picture 1">
            <a:extLst>
              <a:ext uri="{FF2B5EF4-FFF2-40B4-BE49-F238E27FC236}">
                <a16:creationId xmlns:a16="http://schemas.microsoft.com/office/drawing/2014/main" id="{719C951D-72DD-235C-9E5F-CCFD2F09DE7B}"/>
              </a:ext>
            </a:extLst>
          </p:cNvPr>
          <p:cNvPicPr>
            <a:picLocks noChangeAspect="1"/>
          </p:cNvPicPr>
          <p:nvPr/>
        </p:nvPicPr>
        <p:blipFill>
          <a:blip r:embed="rId3"/>
          <a:stretch>
            <a:fillRect/>
          </a:stretch>
        </p:blipFill>
        <p:spPr>
          <a:xfrm>
            <a:off x="346465" y="2417143"/>
            <a:ext cx="5071682" cy="1926336"/>
          </a:xfrm>
          <a:prstGeom prst="rect">
            <a:avLst/>
          </a:prstGeom>
        </p:spPr>
      </p:pic>
      <p:pic>
        <p:nvPicPr>
          <p:cNvPr id="3" name="Picture 2">
            <a:extLst>
              <a:ext uri="{FF2B5EF4-FFF2-40B4-BE49-F238E27FC236}">
                <a16:creationId xmlns:a16="http://schemas.microsoft.com/office/drawing/2014/main" id="{AD8890F0-13B7-0F52-C998-0E897EF68362}"/>
              </a:ext>
            </a:extLst>
          </p:cNvPr>
          <p:cNvPicPr>
            <a:picLocks noChangeAspect="1"/>
          </p:cNvPicPr>
          <p:nvPr/>
        </p:nvPicPr>
        <p:blipFill>
          <a:blip r:embed="rId4"/>
          <a:stretch>
            <a:fillRect/>
          </a:stretch>
        </p:blipFill>
        <p:spPr>
          <a:xfrm>
            <a:off x="6292595" y="1764030"/>
            <a:ext cx="5454329" cy="4682490"/>
          </a:xfrm>
          <a:prstGeom prst="rect">
            <a:avLst/>
          </a:prstGeom>
        </p:spPr>
      </p:pic>
      <p:sp>
        <p:nvSpPr>
          <p:cNvPr id="4" name="TextBox 3">
            <a:extLst>
              <a:ext uri="{FF2B5EF4-FFF2-40B4-BE49-F238E27FC236}">
                <a16:creationId xmlns:a16="http://schemas.microsoft.com/office/drawing/2014/main" id="{E3749EFB-20BA-629B-727F-49FDE1B741EF}"/>
              </a:ext>
            </a:extLst>
          </p:cNvPr>
          <p:cNvSpPr txBox="1"/>
          <p:nvPr/>
        </p:nvSpPr>
        <p:spPr>
          <a:xfrm>
            <a:off x="521208" y="6329579"/>
            <a:ext cx="11225716" cy="461665"/>
          </a:xfrm>
          <a:prstGeom prst="rect">
            <a:avLst/>
          </a:prstGeom>
          <a:noFill/>
        </p:spPr>
        <p:txBody>
          <a:bodyPr wrap="square" rtlCol="0">
            <a:spAutoFit/>
          </a:bodyPr>
          <a:lstStyle/>
          <a:p>
            <a:r>
              <a:rPr lang="en-US" sz="1200" dirty="0"/>
              <a:t>https://www.nature.com/articles/d41586-025-00011-8?utm_source=Live+Audience&amp;utm_campaign=721ef416a7-nature-briefing-weekly-20250110&amp;utm_medium=email&amp;utm_term=0_b27a691814-721ef416a7-51739536</a:t>
            </a:r>
          </a:p>
        </p:txBody>
      </p:sp>
    </p:spTree>
    <p:extLst>
      <p:ext uri="{BB962C8B-B14F-4D97-AF65-F5344CB8AC3E}">
        <p14:creationId xmlns:p14="http://schemas.microsoft.com/office/powerpoint/2010/main" val="2523071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F5CDDF-2733-1F65-B3C2-CA41CBB291C3}"/>
              </a:ext>
            </a:extLst>
          </p:cNvPr>
          <p:cNvPicPr>
            <a:picLocks noChangeAspect="1"/>
          </p:cNvPicPr>
          <p:nvPr/>
        </p:nvPicPr>
        <p:blipFill>
          <a:blip r:embed="rId2"/>
          <a:stretch>
            <a:fillRect/>
          </a:stretch>
        </p:blipFill>
        <p:spPr>
          <a:xfrm>
            <a:off x="599122" y="1794415"/>
            <a:ext cx="6392171" cy="1581150"/>
          </a:xfrm>
          <a:prstGeom prst="rect">
            <a:avLst/>
          </a:prstGeom>
        </p:spPr>
      </p:pic>
      <p:pic>
        <p:nvPicPr>
          <p:cNvPr id="3" name="Picture 2">
            <a:extLst>
              <a:ext uri="{FF2B5EF4-FFF2-40B4-BE49-F238E27FC236}">
                <a16:creationId xmlns:a16="http://schemas.microsoft.com/office/drawing/2014/main" id="{2AE3FB67-C674-277D-BC44-6CD0D3CA2BD7}"/>
              </a:ext>
            </a:extLst>
          </p:cNvPr>
          <p:cNvPicPr>
            <a:picLocks noChangeAspect="1"/>
          </p:cNvPicPr>
          <p:nvPr/>
        </p:nvPicPr>
        <p:blipFill>
          <a:blip r:embed="rId3"/>
          <a:stretch>
            <a:fillRect/>
          </a:stretch>
        </p:blipFill>
        <p:spPr>
          <a:xfrm>
            <a:off x="5196759" y="136399"/>
            <a:ext cx="6909516" cy="1911476"/>
          </a:xfrm>
          <a:prstGeom prst="rect">
            <a:avLst/>
          </a:prstGeom>
        </p:spPr>
      </p:pic>
      <p:pic>
        <p:nvPicPr>
          <p:cNvPr id="4" name="Picture 3">
            <a:extLst>
              <a:ext uri="{FF2B5EF4-FFF2-40B4-BE49-F238E27FC236}">
                <a16:creationId xmlns:a16="http://schemas.microsoft.com/office/drawing/2014/main" id="{3C1840F1-8889-5A31-766C-37727B593D15}"/>
              </a:ext>
            </a:extLst>
          </p:cNvPr>
          <p:cNvPicPr>
            <a:picLocks noChangeAspect="1"/>
          </p:cNvPicPr>
          <p:nvPr/>
        </p:nvPicPr>
        <p:blipFill>
          <a:blip r:embed="rId4"/>
          <a:stretch>
            <a:fillRect/>
          </a:stretch>
        </p:blipFill>
        <p:spPr>
          <a:xfrm>
            <a:off x="1609153" y="3482436"/>
            <a:ext cx="4087699" cy="1879662"/>
          </a:xfrm>
          <a:prstGeom prst="rect">
            <a:avLst/>
          </a:prstGeom>
        </p:spPr>
      </p:pic>
      <p:pic>
        <p:nvPicPr>
          <p:cNvPr id="5" name="Picture 4">
            <a:extLst>
              <a:ext uri="{FF2B5EF4-FFF2-40B4-BE49-F238E27FC236}">
                <a16:creationId xmlns:a16="http://schemas.microsoft.com/office/drawing/2014/main" id="{3FAF8DF0-E5F6-8CAE-9F93-E5F85BC9B823}"/>
              </a:ext>
            </a:extLst>
          </p:cNvPr>
          <p:cNvPicPr>
            <a:picLocks noChangeAspect="1"/>
          </p:cNvPicPr>
          <p:nvPr/>
        </p:nvPicPr>
        <p:blipFill>
          <a:blip r:embed="rId5"/>
          <a:stretch>
            <a:fillRect/>
          </a:stretch>
        </p:blipFill>
        <p:spPr>
          <a:xfrm>
            <a:off x="7232332" y="3122104"/>
            <a:ext cx="4449679" cy="2415540"/>
          </a:xfrm>
          <a:prstGeom prst="rect">
            <a:avLst/>
          </a:prstGeom>
        </p:spPr>
      </p:pic>
      <p:sp>
        <p:nvSpPr>
          <p:cNvPr id="6" name="TextBox 5">
            <a:extLst>
              <a:ext uri="{FF2B5EF4-FFF2-40B4-BE49-F238E27FC236}">
                <a16:creationId xmlns:a16="http://schemas.microsoft.com/office/drawing/2014/main" id="{3F0D8D3F-9457-5A1B-74B3-03B3DDE3D7C6}"/>
              </a:ext>
            </a:extLst>
          </p:cNvPr>
          <p:cNvSpPr txBox="1"/>
          <p:nvPr/>
        </p:nvSpPr>
        <p:spPr>
          <a:xfrm>
            <a:off x="1179576" y="5513832"/>
            <a:ext cx="9381744" cy="1200329"/>
          </a:xfrm>
          <a:prstGeom prst="rect">
            <a:avLst/>
          </a:prstGeom>
          <a:noFill/>
        </p:spPr>
        <p:txBody>
          <a:bodyPr wrap="square" rtlCol="0">
            <a:spAutoFit/>
          </a:bodyPr>
          <a:lstStyle/>
          <a:p>
            <a:pPr marL="285750" indent="-285750">
              <a:buFont typeface="Arial" panose="020B0604020202020204" pitchFamily="34" charset="0"/>
              <a:buChar char="•"/>
            </a:pPr>
            <a:r>
              <a:rPr lang="en-US" sz="1200" u="sng" dirty="0">
                <a:hlinkClick r:id="rId6"/>
              </a:rPr>
              <a:t>https://www.washingtonpost.com/outlook/2022/04/15/humanities-sciences-credibility-crisis-public-trust/</a:t>
            </a:r>
            <a:endParaRPr lang="en-US" sz="1200" u="sng" dirty="0"/>
          </a:p>
          <a:p>
            <a:pPr marL="285750" indent="-285750">
              <a:buFont typeface="Arial" panose="020B0604020202020204" pitchFamily="34" charset="0"/>
              <a:buChar char="•"/>
            </a:pPr>
            <a:r>
              <a:rPr lang="en-US" sz="1200" u="sng" dirty="0">
                <a:hlinkClick r:id="rId7"/>
              </a:rPr>
              <a:t>https://www.insidehighered.com/advice/2023/03/09/thoughts-dealing-despair-over-state-humanities-opinion</a:t>
            </a:r>
            <a:r>
              <a:rPr lang="en-US" sz="1200" dirty="0"/>
              <a:t> </a:t>
            </a:r>
          </a:p>
          <a:p>
            <a:pPr marL="285750" indent="-285750">
              <a:buFont typeface="Arial" panose="020B0604020202020204" pitchFamily="34" charset="0"/>
              <a:buChar char="•"/>
            </a:pPr>
            <a:r>
              <a:rPr lang="en-US" sz="1200" u="sng" dirty="0">
                <a:hlinkClick r:id="rId8"/>
              </a:rPr>
              <a:t>https://news.berkeley.edu/2024/10/14/world-humanities-report-directed-by-uc-berkeleys-sara-guyer-warns-of-extinction-risk-to-human-knowledge/</a:t>
            </a:r>
            <a:r>
              <a:rPr lang="en-US" sz="1200" dirty="0"/>
              <a:t> </a:t>
            </a:r>
          </a:p>
          <a:p>
            <a:pPr marL="285750" indent="-285750">
              <a:buFont typeface="Arial" panose="020B0604020202020204" pitchFamily="34" charset="0"/>
              <a:buChar char="•"/>
            </a:pPr>
            <a:r>
              <a:rPr lang="en-US" sz="1200" u="sng" dirty="0">
                <a:hlinkClick r:id="rId9"/>
              </a:rPr>
              <a:t>https://www.theatlantic.com/ideas/archive/2018/08/the-humanities-face-a-crisisof-confidence/567565/</a:t>
            </a:r>
            <a:r>
              <a:rPr lang="en-US" sz="1200" dirty="0"/>
              <a:t> </a:t>
            </a:r>
          </a:p>
          <a:p>
            <a:pPr marL="285750" indent="-285750">
              <a:buFont typeface="Arial" panose="020B0604020202020204" pitchFamily="34" charset="0"/>
              <a:buChar char="•"/>
            </a:pPr>
            <a:endParaRPr lang="en-US" sz="1200" dirty="0"/>
          </a:p>
        </p:txBody>
      </p:sp>
    </p:spTree>
    <p:extLst>
      <p:ext uri="{BB962C8B-B14F-4D97-AF65-F5344CB8AC3E}">
        <p14:creationId xmlns:p14="http://schemas.microsoft.com/office/powerpoint/2010/main" val="11636845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7C58060A-F6DA-3DCC-F13C-67B61CFA2F9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E7F78F23-2156-218C-004C-FA59EF101D1E}"/>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8BC43CAA-DBBD-4817-942C-2B1F39423C86}"/>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What does good open / reproducible research look like in your discipline?</a:t>
            </a:r>
          </a:p>
          <a:p>
            <a:pPr algn="ctr"/>
            <a:endParaRPr lang="en-US" sz="4000" dirty="0"/>
          </a:p>
          <a:p>
            <a:pPr algn="ctr"/>
            <a:r>
              <a:rPr lang="en-US" sz="4000" dirty="0"/>
              <a:t>In what ways are researchers in your discipline failing to achieve this?</a:t>
            </a:r>
          </a:p>
        </p:txBody>
      </p:sp>
    </p:spTree>
    <p:extLst>
      <p:ext uri="{BB962C8B-B14F-4D97-AF65-F5344CB8AC3E}">
        <p14:creationId xmlns:p14="http://schemas.microsoft.com/office/powerpoint/2010/main" val="25296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E8A7C709-B121-E543-2BF3-403B8EB1C8C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34AB5467-5185-A812-C09F-F87686BB4A87}"/>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Open and (or?) Reproducible Research</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988BCB17-4724-EC55-C938-A911166E56FC}"/>
              </a:ext>
            </a:extLst>
          </p:cNvPr>
          <p:cNvSpPr/>
          <p:nvPr/>
        </p:nvSpPr>
        <p:spPr>
          <a:xfrm>
            <a:off x="959495" y="2887505"/>
            <a:ext cx="728703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948736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477151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9D08716B-E435-BFFC-1B82-7F291BB09BAE}"/>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78E586CE-EAB9-478A-905E-310D986723F8}"/>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Different Disciplines, different needs</a:t>
            </a:r>
            <a:endParaRPr sz="933" kern="0" dirty="0">
              <a:solidFill>
                <a:srgbClr val="000000"/>
              </a:solidFill>
              <a:latin typeface="Anton"/>
              <a:ea typeface="Anton"/>
              <a:cs typeface="Anton"/>
              <a:sym typeface="Anton"/>
            </a:endParaRPr>
          </a:p>
        </p:txBody>
      </p:sp>
    </p:spTree>
    <p:extLst>
      <p:ext uri="{BB962C8B-B14F-4D97-AF65-F5344CB8AC3E}">
        <p14:creationId xmlns:p14="http://schemas.microsoft.com/office/powerpoint/2010/main" val="24057149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15879BB2-F066-F75E-A8DB-0F7CD248D8F7}"/>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0C5E1074-6BF4-21EF-64AF-3358BF019D54}"/>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 Scholarship Movement</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2F69E860-2826-C663-75C7-D65490E0A9CA}"/>
              </a:ext>
            </a:extLst>
          </p:cNvPr>
          <p:cNvSpPr txBox="1"/>
          <p:nvPr/>
        </p:nvSpPr>
        <p:spPr>
          <a:xfrm>
            <a:off x="922202" y="2187594"/>
            <a:ext cx="10059742" cy="3093154"/>
          </a:xfrm>
          <a:prstGeom prst="rect">
            <a:avLst/>
          </a:prstGeom>
          <a:noFill/>
          <a:ln>
            <a:noFill/>
          </a:ln>
        </p:spPr>
        <p:txBody>
          <a:bodyPr spcFirstLastPara="1" wrap="square" lIns="0" tIns="0" rIns="0" bIns="0" anchor="t" anchorCtr="0">
            <a:spAutoFit/>
          </a:bodyPr>
          <a:lstStyle/>
          <a:p>
            <a:r>
              <a:rPr lang="en-US"/>
              <a:t>“The </a:t>
            </a:r>
            <a:r>
              <a:rPr lang="en-US" i="1"/>
              <a:t>open scholarship </a:t>
            </a:r>
            <a:r>
              <a:rPr lang="en-US"/>
              <a:t>movement seeks to make knowledge of all kinds, openly shared, transparent, rigorously researched, and inclusive.” </a:t>
            </a:r>
            <a:r>
              <a:rPr lang="en-US" sz="2000"/>
              <a:t> </a:t>
            </a:r>
            <a:endParaRPr lang="en-US"/>
          </a:p>
          <a:p>
            <a:r>
              <a:rPr lang="en-US"/>
              <a:t>(Azevedo, et al. “</a:t>
            </a:r>
            <a:r>
              <a:rPr lang="en-US" u="sng">
                <a:hlinkClick r:id="rId3"/>
              </a:rPr>
              <a:t>Towards a Culture of Open Scholarship</a:t>
            </a:r>
            <a:r>
              <a:rPr lang="en-US"/>
              <a:t>” in </a:t>
            </a:r>
            <a:r>
              <a:rPr lang="en-US" i="1"/>
              <a:t>BMC Res Notes, </a:t>
            </a:r>
            <a:r>
              <a:rPr lang="en-US"/>
              <a:t>2022)</a:t>
            </a:r>
          </a:p>
          <a:p>
            <a:br>
              <a:rPr lang="en-US"/>
            </a:br>
            <a:endParaRPr lang="en-US"/>
          </a:p>
          <a:p>
            <a:r>
              <a:rPr lang="en-US"/>
              <a:t>“Open scholarship is an umbrella term that refers to the endeavour to improve openness, integrity, social justice, diversity, equity, inclusivity and accessibility in all areas of scholarly activities. Open scholarship extends the more widely used terms open science and open research to include academic fields beyond the sciences and activities beyond academic research.”</a:t>
            </a:r>
          </a:p>
          <a:p>
            <a:r>
              <a:rPr lang="en-US"/>
              <a:t>(Parson, et al. “</a:t>
            </a:r>
            <a:r>
              <a:rPr lang="en-US" u="sng">
                <a:hlinkClick r:id="rId4"/>
              </a:rPr>
              <a:t>A community-sourced glossary of open scholarship terms</a:t>
            </a:r>
            <a:r>
              <a:rPr lang="en-US"/>
              <a:t>” in </a:t>
            </a:r>
            <a:r>
              <a:rPr lang="en-US" i="1"/>
              <a:t>Nature Human Behavior, </a:t>
            </a:r>
            <a:r>
              <a:rPr lang="en-US"/>
              <a:t>2022)</a:t>
            </a:r>
            <a:endParaRPr lang="en-US">
              <a:effectLst/>
            </a:endParaRPr>
          </a:p>
        </p:txBody>
      </p:sp>
    </p:spTree>
    <p:extLst>
      <p:ext uri="{BB962C8B-B14F-4D97-AF65-F5344CB8AC3E}">
        <p14:creationId xmlns:p14="http://schemas.microsoft.com/office/powerpoint/2010/main" val="2061279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E2ACC2F4-5F4A-DEFA-C4B9-F5EE25D7244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1E4F55B4-E56F-5752-0D8A-34BF9EE4A236}"/>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a:t>
            </a:r>
            <a:endParaRPr sz="933" kern="0" dirty="0">
              <a:solidFill>
                <a:srgbClr val="000000"/>
              </a:solidFill>
              <a:latin typeface="Anton"/>
              <a:ea typeface="Anton"/>
              <a:cs typeface="Anton"/>
              <a:sym typeface="Anton"/>
            </a:endParaRPr>
          </a:p>
        </p:txBody>
      </p:sp>
      <p:sp>
        <p:nvSpPr>
          <p:cNvPr id="2" name="TextBox 1">
            <a:extLst>
              <a:ext uri="{FF2B5EF4-FFF2-40B4-BE49-F238E27FC236}">
                <a16:creationId xmlns:a16="http://schemas.microsoft.com/office/drawing/2014/main" id="{2B00EA71-8E07-521A-C723-3A208373DEA2}"/>
              </a:ext>
            </a:extLst>
          </p:cNvPr>
          <p:cNvSpPr txBox="1"/>
          <p:nvPr/>
        </p:nvSpPr>
        <p:spPr>
          <a:xfrm>
            <a:off x="922202" y="2313432"/>
            <a:ext cx="8880166" cy="1754326"/>
          </a:xfrm>
          <a:prstGeom prst="rect">
            <a:avLst/>
          </a:prstGeom>
          <a:noFill/>
        </p:spPr>
        <p:txBody>
          <a:bodyPr wrap="square" rtlCol="0">
            <a:spAutoFit/>
          </a:bodyPr>
          <a:lstStyle/>
          <a:p>
            <a:pPr marL="285750" indent="-285750">
              <a:buFont typeface="Arial" panose="020B0604020202020204" pitchFamily="34" charset="0"/>
              <a:buChar char="•"/>
            </a:pPr>
            <a:r>
              <a:rPr lang="en-US" dirty="0"/>
              <a:t>Access</a:t>
            </a:r>
          </a:p>
          <a:p>
            <a:pPr marL="285750" indent="-285750">
              <a:buFont typeface="Arial" panose="020B0604020202020204" pitchFamily="34" charset="0"/>
              <a:buChar char="•"/>
            </a:pPr>
            <a:r>
              <a:rPr lang="en-US" dirty="0"/>
              <a:t>Code / software</a:t>
            </a:r>
          </a:p>
          <a:p>
            <a:pPr marL="285750" indent="-285750">
              <a:buFont typeface="Arial" panose="020B0604020202020204" pitchFamily="34" charset="0"/>
              <a:buChar char="•"/>
            </a:pPr>
            <a:r>
              <a:rPr lang="en-US" dirty="0"/>
              <a:t>Data</a:t>
            </a:r>
          </a:p>
          <a:p>
            <a:pPr marL="285750" indent="-285750">
              <a:buFont typeface="Arial" panose="020B0604020202020204" pitchFamily="34" charset="0"/>
              <a:buChar char="•"/>
            </a:pPr>
            <a:r>
              <a:rPr lang="en-US" dirty="0"/>
              <a:t>Education Resources</a:t>
            </a:r>
          </a:p>
          <a:p>
            <a:pPr marL="285750" indent="-285750">
              <a:buFont typeface="Arial" panose="020B0604020202020204" pitchFamily="34" charset="0"/>
              <a:buChar char="•"/>
            </a:pPr>
            <a:r>
              <a:rPr lang="en-US" dirty="0"/>
              <a:t>Methods</a:t>
            </a:r>
          </a:p>
          <a:p>
            <a:pPr marL="285750" indent="-285750">
              <a:buFont typeface="Arial" panose="020B0604020202020204" pitchFamily="34" charset="0"/>
              <a:buChar char="•"/>
            </a:pPr>
            <a:r>
              <a:rPr lang="en-US" dirty="0"/>
              <a:t>Peer Review</a:t>
            </a:r>
          </a:p>
        </p:txBody>
      </p:sp>
    </p:spTree>
    <p:extLst>
      <p:ext uri="{BB962C8B-B14F-4D97-AF65-F5344CB8AC3E}">
        <p14:creationId xmlns:p14="http://schemas.microsoft.com/office/powerpoint/2010/main" val="40181345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8" name="Google Shape;178;p31"/>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DATA Principles</a:t>
            </a:r>
            <a:endParaRPr sz="1200" dirty="0">
              <a:latin typeface="Anton"/>
              <a:ea typeface="Anton"/>
              <a:cs typeface="Anton"/>
              <a:sym typeface="Anton"/>
            </a:endParaRPr>
          </a:p>
        </p:txBody>
      </p:sp>
      <p:sp>
        <p:nvSpPr>
          <p:cNvPr id="179" name="Google Shape;179;p31"/>
          <p:cNvSpPr txBox="1"/>
          <p:nvPr/>
        </p:nvSpPr>
        <p:spPr>
          <a:xfrm>
            <a:off x="922202" y="1736904"/>
            <a:ext cx="9776400" cy="2160848"/>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 </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C.A.R.E.</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F.A.I.R.E.S.T.</a:t>
            </a: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292B1FE7-2414-4B31-9D90-0A225C26503A}"/>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0D64DAFA-ECFB-0E4F-AA57-77458AE2FDE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hlinkClick r:id="rId4"/>
              </a:rPr>
              <a:t>FAIREST + CARE</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FBD40D03-E1B3-8DD1-8B71-A57A24B43F49}"/>
              </a:ext>
            </a:extLst>
          </p:cNvPr>
          <p:cNvSpPr txBox="1"/>
          <p:nvPr/>
        </p:nvSpPr>
        <p:spPr>
          <a:xfrm>
            <a:off x="922202" y="1900078"/>
            <a:ext cx="2497273" cy="3386825"/>
          </a:xfrm>
          <a:prstGeom prst="rect">
            <a:avLst/>
          </a:prstGeom>
          <a:noFill/>
          <a:ln>
            <a:noFill/>
          </a:ln>
        </p:spPr>
        <p:txBody>
          <a:bodyPr spcFirstLastPara="1" wrap="square" lIns="0" tIns="0" rIns="0" bIns="0" anchor="t" anchorCtr="0">
            <a:spAutoFit/>
          </a:bodyPr>
          <a:lstStyle/>
          <a:p>
            <a:pPr lvl="0" fontAlgn="base"/>
            <a:r>
              <a:rPr lang="en-US" sz="2400" b="1" dirty="0"/>
              <a:t>F</a:t>
            </a:r>
            <a:r>
              <a:rPr lang="en-US" sz="2400" dirty="0"/>
              <a:t>indable</a:t>
            </a:r>
            <a:endParaRPr lang="en-US" sz="2400" b="1" dirty="0"/>
          </a:p>
          <a:p>
            <a:pPr lvl="0" fontAlgn="base"/>
            <a:r>
              <a:rPr lang="en-US" sz="2400" b="1" dirty="0"/>
              <a:t>A</a:t>
            </a:r>
            <a:r>
              <a:rPr lang="en-US" sz="2400" dirty="0"/>
              <a:t>ccessible</a:t>
            </a:r>
            <a:endParaRPr lang="en-US" sz="2400" b="1" dirty="0"/>
          </a:p>
          <a:p>
            <a:pPr lvl="0" fontAlgn="base"/>
            <a:r>
              <a:rPr lang="en-US" sz="2400" b="1" dirty="0"/>
              <a:t>I</a:t>
            </a:r>
            <a:r>
              <a:rPr lang="en-US" sz="2400" dirty="0"/>
              <a:t>nteroperable</a:t>
            </a:r>
            <a:endParaRPr lang="en-US" sz="2400" b="1" dirty="0"/>
          </a:p>
          <a:p>
            <a:pPr lvl="0" fontAlgn="base"/>
            <a:r>
              <a:rPr lang="en-US" sz="2400" b="1" dirty="0"/>
              <a:t>R</a:t>
            </a:r>
            <a:r>
              <a:rPr lang="en-US" sz="2400" dirty="0"/>
              <a:t>eusable</a:t>
            </a:r>
            <a:endParaRPr lang="en-US" sz="2400" b="1" dirty="0"/>
          </a:p>
          <a:p>
            <a:pPr lvl="0" fontAlgn="base"/>
            <a:r>
              <a:rPr lang="en-US" sz="2400" b="1" dirty="0"/>
              <a:t>E</a:t>
            </a:r>
            <a:r>
              <a:rPr lang="en-US" sz="2400" dirty="0"/>
              <a:t>thics</a:t>
            </a:r>
            <a:endParaRPr lang="en-US" sz="2400" b="1" dirty="0"/>
          </a:p>
          <a:p>
            <a:pPr lvl="0" fontAlgn="base"/>
            <a:r>
              <a:rPr lang="en-US" sz="2400" b="1" dirty="0"/>
              <a:t>S</a:t>
            </a:r>
            <a:r>
              <a:rPr lang="en-US" sz="2400" dirty="0"/>
              <a:t>ource</a:t>
            </a:r>
            <a:endParaRPr lang="en-US" sz="2400" b="1" dirty="0"/>
          </a:p>
          <a:p>
            <a:pPr lvl="0" fontAlgn="base"/>
            <a:r>
              <a:rPr lang="en-US" sz="2400" b="1" dirty="0"/>
              <a:t>T</a:t>
            </a:r>
            <a:r>
              <a:rPr lang="en-US" sz="2400" dirty="0"/>
              <a:t>rust</a:t>
            </a:r>
            <a:br>
              <a:rPr lang="en-US" sz="2400" dirty="0"/>
            </a:br>
            <a:endParaRPr lang="en-US" sz="2400" b="1" dirty="0"/>
          </a:p>
          <a:p>
            <a:pPr marL="433260" lvl="1" indent="-216630">
              <a:lnSpc>
                <a:spcPct val="140013"/>
              </a:lnSpc>
              <a:buClr>
                <a:srgbClr val="12312B"/>
              </a:buClr>
              <a:buSzPts val="3009"/>
              <a:buFont typeface="Archivo Medium"/>
              <a:buChar char="•"/>
            </a:pPr>
            <a:endParaRPr lang="en-US" sz="2006" dirty="0">
              <a:solidFill>
                <a:srgbClr val="12312B"/>
              </a:solidFill>
              <a:latin typeface="Archivo Medium"/>
              <a:sym typeface="Archivo Medium"/>
            </a:endParaRPr>
          </a:p>
        </p:txBody>
      </p:sp>
      <p:sp>
        <p:nvSpPr>
          <p:cNvPr id="3" name="TextBox 2">
            <a:extLst>
              <a:ext uri="{FF2B5EF4-FFF2-40B4-BE49-F238E27FC236}">
                <a16:creationId xmlns:a16="http://schemas.microsoft.com/office/drawing/2014/main" id="{51C71B20-46FE-0564-1C9C-1435490547DD}"/>
              </a:ext>
            </a:extLst>
          </p:cNvPr>
          <p:cNvSpPr txBox="1"/>
          <p:nvPr/>
        </p:nvSpPr>
        <p:spPr>
          <a:xfrm>
            <a:off x="5524500" y="1381125"/>
            <a:ext cx="5200650" cy="3785652"/>
          </a:xfrm>
          <a:prstGeom prst="rect">
            <a:avLst/>
          </a:prstGeom>
          <a:noFill/>
        </p:spPr>
        <p:txBody>
          <a:bodyPr wrap="square" rtlCol="0">
            <a:spAutoFit/>
          </a:bodyPr>
          <a:lstStyle/>
          <a:p>
            <a:r>
              <a:rPr lang="en-US" sz="2400" b="1" dirty="0">
                <a:solidFill>
                  <a:schemeClr val="accent6"/>
                </a:solidFill>
              </a:rPr>
              <a:t>BRAINSTORM</a:t>
            </a:r>
          </a:p>
          <a:p>
            <a:pPr lvl="0" fontAlgn="base"/>
            <a:r>
              <a:rPr lang="en-US" sz="2400" b="1" dirty="0"/>
              <a:t>C</a:t>
            </a:r>
            <a:r>
              <a:rPr lang="en-US" sz="2400" dirty="0"/>
              <a:t>ollective Benefit</a:t>
            </a:r>
            <a:endParaRPr lang="en-US" sz="2400" b="1" dirty="0"/>
          </a:p>
          <a:p>
            <a:pPr lvl="0" fontAlgn="base"/>
            <a:r>
              <a:rPr lang="en-US" sz="2400" b="1" dirty="0"/>
              <a:t>A</a:t>
            </a:r>
            <a:r>
              <a:rPr lang="en-US" sz="2400" dirty="0"/>
              <a:t>uthority to Control</a:t>
            </a:r>
            <a:endParaRPr lang="en-US" sz="2400" b="1" dirty="0"/>
          </a:p>
          <a:p>
            <a:pPr lvl="0" fontAlgn="base"/>
            <a:r>
              <a:rPr lang="en-US" sz="2400" b="1" dirty="0"/>
              <a:t>R</a:t>
            </a:r>
            <a:r>
              <a:rPr lang="en-US" sz="2400" dirty="0"/>
              <a:t>esponsibility</a:t>
            </a:r>
            <a:endParaRPr lang="en-US" sz="2400" b="1" dirty="0"/>
          </a:p>
          <a:p>
            <a:pPr lvl="0" fontAlgn="base"/>
            <a:r>
              <a:rPr lang="en-US" sz="2400" b="1" dirty="0"/>
              <a:t>E</a:t>
            </a:r>
            <a:r>
              <a:rPr lang="en-US" sz="2400" dirty="0"/>
              <a:t>thics</a:t>
            </a:r>
            <a:endParaRPr lang="en-US" sz="2400" b="1" dirty="0"/>
          </a:p>
          <a:p>
            <a:r>
              <a:rPr lang="en-US" sz="2400" dirty="0">
                <a:solidFill>
                  <a:schemeClr val="accent6"/>
                </a:solidFill>
              </a:rPr>
              <a:t>e a few minutes to map these data principles to your research workflow diagram. Jot down specific and feasible ways you could better accomplish these objectives.</a:t>
            </a:r>
          </a:p>
        </p:txBody>
      </p:sp>
    </p:spTree>
    <p:extLst>
      <p:ext uri="{BB962C8B-B14F-4D97-AF65-F5344CB8AC3E}">
        <p14:creationId xmlns:p14="http://schemas.microsoft.com/office/powerpoint/2010/main" val="399684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9">
                                            <p:txEl>
                                              <p:pRg st="1" end="1"/>
                                            </p:txEl>
                                          </p:spTgt>
                                        </p:tgtEl>
                                        <p:attrNameLst>
                                          <p:attrName>style.visibility</p:attrName>
                                        </p:attrNameLst>
                                      </p:cBhvr>
                                      <p:to>
                                        <p:strVal val="visible"/>
                                      </p:to>
                                    </p:set>
                                    <p:animEffect transition="in" filter="fade">
                                      <p:cBhvr>
                                        <p:cTn id="7" dur="1000"/>
                                        <p:tgtEl>
                                          <p:spTgt spid="179">
                                            <p:txEl>
                                              <p:pRg st="1" end="1"/>
                                            </p:txEl>
                                          </p:spTgt>
                                        </p:tgtEl>
                                      </p:cBhvr>
                                    </p:animEffect>
                                    <p:anim calcmode="lin" valueType="num">
                                      <p:cBhvr>
                                        <p:cTn id="8" dur="1000" fill="hold"/>
                                        <p:tgtEl>
                                          <p:spTgt spid="17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7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79">
                                            <p:txEl>
                                              <p:pRg st="2" end="2"/>
                                            </p:txEl>
                                          </p:spTgt>
                                        </p:tgtEl>
                                        <p:attrNameLst>
                                          <p:attrName>style.visibility</p:attrName>
                                        </p:attrNameLst>
                                      </p:cBhvr>
                                      <p:to>
                                        <p:strVal val="visible"/>
                                      </p:to>
                                    </p:set>
                                    <p:animEffect transition="in" filter="fade">
                                      <p:cBhvr>
                                        <p:cTn id="14" dur="1000"/>
                                        <p:tgtEl>
                                          <p:spTgt spid="179">
                                            <p:txEl>
                                              <p:pRg st="2" end="2"/>
                                            </p:txEl>
                                          </p:spTgt>
                                        </p:tgtEl>
                                      </p:cBhvr>
                                    </p:animEffect>
                                    <p:anim calcmode="lin" valueType="num">
                                      <p:cBhvr>
                                        <p:cTn id="15" dur="1000" fill="hold"/>
                                        <p:tgtEl>
                                          <p:spTgt spid="179">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17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79">
                                            <p:txEl>
                                              <p:pRg st="3" end="3"/>
                                            </p:txEl>
                                          </p:spTgt>
                                        </p:tgtEl>
                                        <p:attrNameLst>
                                          <p:attrName>style.visibility</p:attrName>
                                        </p:attrNameLst>
                                      </p:cBhvr>
                                      <p:to>
                                        <p:strVal val="visible"/>
                                      </p:to>
                                    </p:set>
                                    <p:animEffect transition="in" filter="fade">
                                      <p:cBhvr>
                                        <p:cTn id="21" dur="1000"/>
                                        <p:tgtEl>
                                          <p:spTgt spid="179">
                                            <p:txEl>
                                              <p:pRg st="3" end="3"/>
                                            </p:txEl>
                                          </p:spTgt>
                                        </p:tgtEl>
                                      </p:cBhvr>
                                    </p:animEffect>
                                    <p:anim calcmode="lin" valueType="num">
                                      <p:cBhvr>
                                        <p:cTn id="22" dur="1000" fill="hold"/>
                                        <p:tgtEl>
                                          <p:spTgt spid="179">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17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1000"/>
                                        <p:tgtEl>
                                          <p:spTgt spid="3">
                                            <p:txEl>
                                              <p:pRg st="1" end="1"/>
                                            </p:txEl>
                                          </p:spTgt>
                                        </p:tgtEl>
                                      </p:cBhvr>
                                    </p:animEffect>
                                    <p:anim calcmode="lin" valueType="num">
                                      <p:cBhvr>
                                        <p:cTn id="29"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2" end="2"/>
                                            </p:txEl>
                                          </p:spTgt>
                                        </p:tgtEl>
                                        <p:attrNameLst>
                                          <p:attrName>style.visibility</p:attrName>
                                        </p:attrNameLst>
                                      </p:cBhvr>
                                      <p:to>
                                        <p:strVal val="visible"/>
                                      </p:to>
                                    </p:set>
                                    <p:animEffect transition="in" filter="fade">
                                      <p:cBhvr>
                                        <p:cTn id="35" dur="1000"/>
                                        <p:tgtEl>
                                          <p:spTgt spid="3">
                                            <p:txEl>
                                              <p:pRg st="2" end="2"/>
                                            </p:txEl>
                                          </p:spTgt>
                                        </p:tgtEl>
                                      </p:cBhvr>
                                    </p:animEffect>
                                    <p:anim calcmode="lin" valueType="num">
                                      <p:cBhvr>
                                        <p:cTn id="36"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fade">
                                      <p:cBhvr>
                                        <p:cTn id="42" dur="1000"/>
                                        <p:tgtEl>
                                          <p:spTgt spid="3">
                                            <p:txEl>
                                              <p:pRg st="3" end="3"/>
                                            </p:txEl>
                                          </p:spTgt>
                                        </p:tgtEl>
                                      </p:cBhvr>
                                    </p:animEffect>
                                    <p:anim calcmode="lin" valueType="num">
                                      <p:cBhvr>
                                        <p:cTn id="4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animEffect transition="in" filter="fade">
                                      <p:cBhvr>
                                        <p:cTn id="49" dur="1000"/>
                                        <p:tgtEl>
                                          <p:spTgt spid="3">
                                            <p:txEl>
                                              <p:pRg st="4" end="4"/>
                                            </p:txEl>
                                          </p:spTgt>
                                        </p:tgtEl>
                                      </p:cBhvr>
                                    </p:animEffect>
                                    <p:anim calcmode="lin" valueType="num">
                                      <p:cBhvr>
                                        <p:cTn id="50"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79">
                                            <p:txEl>
                                              <p:pRg st="4" end="4"/>
                                            </p:txEl>
                                          </p:spTgt>
                                        </p:tgtEl>
                                        <p:attrNameLst>
                                          <p:attrName>style.visibility</p:attrName>
                                        </p:attrNameLst>
                                      </p:cBhvr>
                                      <p:to>
                                        <p:strVal val="visible"/>
                                      </p:to>
                                    </p:set>
                                    <p:animEffect transition="in" filter="fade">
                                      <p:cBhvr>
                                        <p:cTn id="56" dur="1000"/>
                                        <p:tgtEl>
                                          <p:spTgt spid="179">
                                            <p:txEl>
                                              <p:pRg st="4" end="4"/>
                                            </p:txEl>
                                          </p:spTgt>
                                        </p:tgtEl>
                                      </p:cBhvr>
                                    </p:animEffect>
                                    <p:anim calcmode="lin" valueType="num">
                                      <p:cBhvr>
                                        <p:cTn id="57" dur="1000" fill="hold"/>
                                        <p:tgtEl>
                                          <p:spTgt spid="179">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79">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79">
                                            <p:txEl>
                                              <p:pRg st="5" end="5"/>
                                            </p:txEl>
                                          </p:spTgt>
                                        </p:tgtEl>
                                        <p:attrNameLst>
                                          <p:attrName>style.visibility</p:attrName>
                                        </p:attrNameLst>
                                      </p:cBhvr>
                                      <p:to>
                                        <p:strVal val="visible"/>
                                      </p:to>
                                    </p:set>
                                    <p:animEffect transition="in" filter="fade">
                                      <p:cBhvr>
                                        <p:cTn id="63" dur="1000"/>
                                        <p:tgtEl>
                                          <p:spTgt spid="179">
                                            <p:txEl>
                                              <p:pRg st="5" end="5"/>
                                            </p:txEl>
                                          </p:spTgt>
                                        </p:tgtEl>
                                      </p:cBhvr>
                                    </p:animEffect>
                                    <p:anim calcmode="lin" valueType="num">
                                      <p:cBhvr>
                                        <p:cTn id="64" dur="1000" fill="hold"/>
                                        <p:tgtEl>
                                          <p:spTgt spid="179">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79">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179">
                                            <p:txEl>
                                              <p:pRg st="6" end="6"/>
                                            </p:txEl>
                                          </p:spTgt>
                                        </p:tgtEl>
                                        <p:attrNameLst>
                                          <p:attrName>style.visibility</p:attrName>
                                        </p:attrNameLst>
                                      </p:cBhvr>
                                      <p:to>
                                        <p:strVal val="visible"/>
                                      </p:to>
                                    </p:set>
                                    <p:animEffect transition="in" filter="fade">
                                      <p:cBhvr>
                                        <p:cTn id="70" dur="1000"/>
                                        <p:tgtEl>
                                          <p:spTgt spid="179">
                                            <p:txEl>
                                              <p:pRg st="6" end="6"/>
                                            </p:txEl>
                                          </p:spTgt>
                                        </p:tgtEl>
                                      </p:cBhvr>
                                    </p:animEffect>
                                    <p:anim calcmode="lin" valueType="num">
                                      <p:cBhvr>
                                        <p:cTn id="71" dur="1000" fill="hold"/>
                                        <p:tgtEl>
                                          <p:spTgt spid="179">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79">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C0612-6DFB-A04A-053D-4C03635F6F7B}"/>
              </a:ext>
            </a:extLst>
          </p:cNvPr>
          <p:cNvSpPr>
            <a:spLocks noGrp="1"/>
          </p:cNvSpPr>
          <p:nvPr>
            <p:ph type="title"/>
          </p:nvPr>
        </p:nvSpPr>
        <p:spPr/>
        <p:txBody>
          <a:bodyPr>
            <a:normAutofit fontScale="90000"/>
          </a:bodyPr>
          <a:lstStyle/>
          <a:p>
            <a:r>
              <a:rPr lang="en-US" dirty="0"/>
              <a:t>Dartmouth OSCARRs (Feb/Mar ‘27)</a:t>
            </a:r>
          </a:p>
        </p:txBody>
      </p:sp>
      <p:pic>
        <p:nvPicPr>
          <p:cNvPr id="4" name="Picture 3" descr="Oscars red carpet ">
            <a:extLst>
              <a:ext uri="{FF2B5EF4-FFF2-40B4-BE49-F238E27FC236}">
                <a16:creationId xmlns:a16="http://schemas.microsoft.com/office/drawing/2014/main" id="{14CF5A78-75AF-2816-ABA2-C73AAA417CFA}"/>
              </a:ext>
            </a:extLst>
          </p:cNvPr>
          <p:cNvPicPr>
            <a:picLocks noChangeAspect="1"/>
          </p:cNvPicPr>
          <p:nvPr/>
        </p:nvPicPr>
        <p:blipFill>
          <a:blip r:embed="rId2"/>
          <a:stretch>
            <a:fillRect/>
          </a:stretch>
        </p:blipFill>
        <p:spPr>
          <a:xfrm>
            <a:off x="6850912" y="2834640"/>
            <a:ext cx="4437888" cy="3328416"/>
          </a:xfrm>
          <a:prstGeom prst="rect">
            <a:avLst/>
          </a:prstGeom>
        </p:spPr>
      </p:pic>
      <p:sp>
        <p:nvSpPr>
          <p:cNvPr id="3" name="Text Placeholder 2">
            <a:extLst>
              <a:ext uri="{FF2B5EF4-FFF2-40B4-BE49-F238E27FC236}">
                <a16:creationId xmlns:a16="http://schemas.microsoft.com/office/drawing/2014/main" id="{6DE1E87F-3019-DB52-AD5F-CE9D7B84505B}"/>
              </a:ext>
            </a:extLst>
          </p:cNvPr>
          <p:cNvSpPr>
            <a:spLocks noGrp="1"/>
          </p:cNvSpPr>
          <p:nvPr>
            <p:ph type="body" idx="1"/>
          </p:nvPr>
        </p:nvSpPr>
        <p:spPr>
          <a:xfrm>
            <a:off x="903200" y="3066817"/>
            <a:ext cx="5500753" cy="3726200"/>
          </a:xfrm>
        </p:spPr>
        <p:txBody>
          <a:bodyPr>
            <a:normAutofit/>
          </a:bodyPr>
          <a:lstStyle/>
          <a:p>
            <a:pPr marL="0" indent="0">
              <a:buNone/>
            </a:pPr>
            <a:r>
              <a:rPr lang="en-US" sz="2400" b="0" dirty="0"/>
              <a:t>Annual awards recognizing Open Scholarship &amp; Reproducible Research on campus</a:t>
            </a:r>
          </a:p>
          <a:p>
            <a:pPr marL="0" indent="0">
              <a:buNone/>
            </a:pPr>
            <a:endParaRPr lang="en-US" sz="2400" b="0" dirty="0"/>
          </a:p>
          <a:p>
            <a:pPr marL="0" indent="0">
              <a:buNone/>
            </a:pPr>
            <a:r>
              <a:rPr lang="en-US" sz="2400" b="0" dirty="0"/>
              <a:t>Learn more at the </a:t>
            </a:r>
            <a:r>
              <a:rPr lang="en-US" sz="2400" b="0" dirty="0">
                <a:hlinkClick r:id="rId3"/>
              </a:rPr>
              <a:t>Dartmouth OSCARRs website</a:t>
            </a:r>
            <a:r>
              <a:rPr lang="en-US" sz="2400" b="0" dirty="0"/>
              <a:t>, including </a:t>
            </a:r>
            <a:r>
              <a:rPr lang="en-US" sz="2400" b="0" dirty="0">
                <a:hlinkClick r:id="rId4"/>
              </a:rPr>
              <a:t>more explanation of the FAIR(EST) / CARE principles</a:t>
            </a:r>
            <a:r>
              <a:rPr lang="en-US" sz="2400" b="0" dirty="0"/>
              <a:t>.</a:t>
            </a:r>
          </a:p>
        </p:txBody>
      </p:sp>
    </p:spTree>
    <p:extLst>
      <p:ext uri="{BB962C8B-B14F-4D97-AF65-F5344CB8AC3E}">
        <p14:creationId xmlns:p14="http://schemas.microsoft.com/office/powerpoint/2010/main" val="26549359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42D62712-D572-91BC-64FB-2942DD61D8A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9B53AF34-5770-BB2B-8983-CD0D0E29BC78}"/>
              </a:ext>
            </a:extLst>
          </p:cNvPr>
          <p:cNvSpPr txBox="1"/>
          <p:nvPr/>
        </p:nvSpPr>
        <p:spPr>
          <a:xfrm>
            <a:off x="1417320" y="2148841"/>
            <a:ext cx="8708813"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From Principles to Best Practices</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6091BE68-B796-2B65-7CD9-3F1D210265B4}"/>
              </a:ext>
            </a:extLst>
          </p:cNvPr>
          <p:cNvSpPr/>
          <p:nvPr/>
        </p:nvSpPr>
        <p:spPr>
          <a:xfrm>
            <a:off x="1093720" y="3626169"/>
            <a:ext cx="859214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3623286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52527720-AFCC-C1A0-4B67-3DC74702CBAF}"/>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6027D5FF-A01F-A804-3E22-7A62A805B365}"/>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Computation Research Best Practices</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BB8F7F0D-D29A-B4CA-591F-688EAC84C4A1}"/>
              </a:ext>
            </a:extLst>
          </p:cNvPr>
          <p:cNvSpPr txBox="1"/>
          <p:nvPr/>
        </p:nvSpPr>
        <p:spPr>
          <a:xfrm>
            <a:off x="922202" y="1736904"/>
            <a:ext cx="9776400" cy="4321696"/>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Organization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Documentation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Data Management</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Coding Practices</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Workflow Automation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Sharing &amp; Openness</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Containerization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Version Control</a:t>
            </a: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543465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7F00D7DF-B09C-0AFF-E519-569E4FAE3D31}"/>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1A959E2E-1625-924D-375F-83AC88BB4391}"/>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Organization</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966F53A7-7738-3262-8902-0D41B2FC1319}"/>
              </a:ext>
            </a:extLst>
          </p:cNvPr>
          <p:cNvSpPr txBox="1"/>
          <p:nvPr/>
        </p:nvSpPr>
        <p:spPr>
          <a:xfrm>
            <a:off x="922202" y="1736904"/>
            <a:ext cx="9776400" cy="3837461"/>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One project / one folder</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Consistent project structure (i.e. folders: code, data, docs)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Descriptive but interoperable file names</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No white space; avoid special characters besides “_” and “-”; lowercase often easier:</a:t>
            </a:r>
          </a:p>
          <a:p>
            <a:pPr marL="1588230" lvl="3"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“Research Plan.docx” </a:t>
            </a:r>
            <a:r>
              <a:rPr lang="en-US" dirty="0">
                <a:solidFill>
                  <a:srgbClr val="12312B"/>
                </a:solidFill>
                <a:latin typeface="Archivo Medium"/>
                <a:ea typeface="Archivo Medium"/>
                <a:cs typeface="Archivo Medium"/>
                <a:sym typeface="Wingdings" panose="05000000000000000000" pitchFamily="2" charset="2"/>
              </a:rPr>
              <a:t> “research_plan_2026-09.docx”</a:t>
            </a: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Think about sorting when naming files</a:t>
            </a: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3362611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748A5FD3-DBE0-EB5D-32F8-7B091E0E9B92}"/>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62DEDC8E-A93E-6DFC-EFEE-5C88C738872A}"/>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Documentation</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47C05426-EA44-0A47-0CE9-CC3A165CC279}"/>
              </a:ext>
            </a:extLst>
          </p:cNvPr>
          <p:cNvSpPr txBox="1"/>
          <p:nvPr/>
        </p:nvSpPr>
        <p:spPr>
          <a:xfrm>
            <a:off x="922202" y="1736904"/>
            <a:ext cx="9776400" cy="3449662"/>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Include a README file in each project folder. This should include: a project overview, principal team members, an overview of project files, an explanation of what your code does, an explanation of your data’s provenance, a data dictionary (what each variable means and how each was recorded / measured / modified), [license].</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Purpose: your project is interpretable by others without you present</a:t>
            </a: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11570799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05774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01110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38074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28155999-9215-61E9-8400-F7DAEA4CB35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13F6EAB8-9A12-C939-FE86-D9C6BDEE87DC}"/>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D45C2A0D-F3E9-1B01-9DF7-3C7D4261B6CC}"/>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How can you adapt the lessons of this workshop to your own field &amp; research?</a:t>
            </a:r>
          </a:p>
        </p:txBody>
      </p:sp>
    </p:spTree>
    <p:extLst>
      <p:ext uri="{BB962C8B-B14F-4D97-AF65-F5344CB8AC3E}">
        <p14:creationId xmlns:p14="http://schemas.microsoft.com/office/powerpoint/2010/main" val="620379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0B04A349-5D61-5BDE-E6A0-EB092C811CA7}"/>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85B25A89-F346-D398-0060-52FFCD5F0EFF}"/>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Computational Research Help</a:t>
            </a:r>
            <a:endParaRPr lang="en-US"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AC5C7CE0-5597-3ED7-365F-71AE9C960DA4}"/>
              </a:ext>
            </a:extLst>
          </p:cNvPr>
          <p:cNvSpPr/>
          <p:nvPr/>
        </p:nvSpPr>
        <p:spPr>
          <a:xfrm>
            <a:off x="892384" y="3571208"/>
            <a:ext cx="9618983"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dirty="0">
              <a:solidFill>
                <a:srgbClr val="000000"/>
              </a:solidFill>
              <a:latin typeface="Arial"/>
              <a:cs typeface="Arial"/>
              <a:sym typeface="Arial"/>
            </a:endParaRPr>
          </a:p>
        </p:txBody>
      </p:sp>
    </p:spTree>
    <p:extLst>
      <p:ext uri="{BB962C8B-B14F-4D97-AF65-F5344CB8AC3E}">
        <p14:creationId xmlns:p14="http://schemas.microsoft.com/office/powerpoint/2010/main" val="677043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LVI theme 1">
  <a:themeElements>
    <a:clrScheme name="Office">
      <a:dk1>
        <a:srgbClr val="12312B"/>
      </a:dk1>
      <a:lt1>
        <a:srgbClr val="FFFFFF"/>
      </a:lt1>
      <a:dk2>
        <a:srgbClr val="00693D"/>
      </a:dk2>
      <a:lt2>
        <a:srgbClr val="000000"/>
      </a:lt2>
      <a:accent1>
        <a:srgbClr val="A5D75F"/>
      </a:accent1>
      <a:accent2>
        <a:srgbClr val="00693D"/>
      </a:accent2>
      <a:accent3>
        <a:srgbClr val="12312B"/>
      </a:accent3>
      <a:accent4>
        <a:srgbClr val="C3E7FF"/>
      </a:accent4>
      <a:accent5>
        <a:srgbClr val="F5DC69"/>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2229</TotalTime>
  <Words>812</Words>
  <Application>Microsoft Office PowerPoint</Application>
  <PresentationFormat>Widescreen</PresentationFormat>
  <Paragraphs>86</Paragraphs>
  <Slides>24</Slides>
  <Notes>17</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24</vt:i4>
      </vt:variant>
    </vt:vector>
  </HeadingPairs>
  <TitlesOfParts>
    <vt:vector size="36" baseType="lpstr">
      <vt:lpstr>Alegreya</vt:lpstr>
      <vt:lpstr>Anton</vt:lpstr>
      <vt:lpstr>Aptos</vt:lpstr>
      <vt:lpstr>Aptos Display</vt:lpstr>
      <vt:lpstr>Archivo</vt:lpstr>
      <vt:lpstr>Archivo ExtraBold</vt:lpstr>
      <vt:lpstr>Archivo Medium</vt:lpstr>
      <vt:lpstr>Archivo SemiBold</vt:lpstr>
      <vt:lpstr>Arial</vt:lpstr>
      <vt:lpstr>Calibri</vt:lpstr>
      <vt:lpstr>Office Theme</vt:lpstr>
      <vt:lpstr>DLVI theme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Dartmouth OSCARRs (Feb/Mar ‘27)</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Katie Owers Bonner</dc:creator>
  <cp:lastModifiedBy>Jeremy M. Mikecz</cp:lastModifiedBy>
  <cp:revision>8</cp:revision>
  <dcterms:created xsi:type="dcterms:W3CDTF">2025-09-16T18:18:09Z</dcterms:created>
  <dcterms:modified xsi:type="dcterms:W3CDTF">2026-09-01T14:56:09Z</dcterms:modified>
</cp:coreProperties>
</file>