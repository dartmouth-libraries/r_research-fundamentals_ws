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5A_EE3B0802.xml" ContentType="application/vnd.ms-powerpoint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1" r:id="rId2"/>
  </p:sldMasterIdLst>
  <p:notesMasterIdLst>
    <p:notesMasterId r:id="rId18"/>
  </p:notesMasterIdLst>
  <p:sldIdLst>
    <p:sldId id="299" r:id="rId3"/>
    <p:sldId id="272" r:id="rId4"/>
    <p:sldId id="313" r:id="rId5"/>
    <p:sldId id="343" r:id="rId6"/>
    <p:sldId id="314" r:id="rId7"/>
    <p:sldId id="267" r:id="rId8"/>
    <p:sldId id="351" r:id="rId9"/>
    <p:sldId id="265" r:id="rId10"/>
    <p:sldId id="346" r:id="rId11"/>
    <p:sldId id="348" r:id="rId12"/>
    <p:sldId id="347" r:id="rId13"/>
    <p:sldId id="341" r:id="rId14"/>
    <p:sldId id="352" r:id="rId15"/>
    <p:sldId id="353" r:id="rId16"/>
    <p:sldId id="33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5D1CE9B-DF25-4FEC-06DE-212637DD9CB8}" name="Katie Owers Bonner" initials="KO" userId="S::f008496@dartmouth.edu::031be739-2ca3-49bb-9134-32c5274b02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94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8/10/relationships/authors" Target="authors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omments/modernComment_15A_EE3B080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BE73A72-6E4D-4BD8-BAEC-35D98471EF5D}" authorId="{45D1CE9B-DF25-4FEC-06DE-212637DD9CB8}" created="2026-02-04T20:47:29.252">
    <pc:sldMkLst xmlns:pc="http://schemas.microsoft.com/office/powerpoint/2013/main/command">
      <pc:docMk/>
      <pc:sldMk cId="3996846082" sldId="346"/>
    </pc:sldMkLst>
    <p188:txBody>
      <a:bodyPr/>
      <a:lstStyle/>
      <a:p>
        <a:r>
          <a:rPr lang="en-US"/>
          <a:t>Does all this really need to be in a data cleaning plan? Technically no, but a lot of it is the methods for your paper and you better write it up now!
Also include some notes around actual format for a plan.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BCB6A-05C9-45C4-8C56-4DA0982723A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D22BE-BF9C-4E75-AC94-2D675188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36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dirty="0"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09DADC13-2699-00A3-93AF-6AD01578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5E64E48B-396E-256A-5BCB-5142DD8642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A2869BC7-2B47-AF38-88CF-ED7B8FCE6F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0492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F5C9CD10-B1D8-F984-603A-94E0DF044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342396D7-6680-CCFA-F959-A128CA0B82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584595CD-9CB7-C7DF-B951-B98CC236FA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3017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B0D79D53-5C34-5B25-9C5C-72A379AB4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>
            <a:extLst>
              <a:ext uri="{FF2B5EF4-FFF2-40B4-BE49-F238E27FC236}">
                <a16:creationId xmlns:a16="http://schemas.microsoft.com/office/drawing/2014/main" id="{514A8783-9BBC-1AA8-E023-4D868A2319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>
            <a:extLst>
              <a:ext uri="{FF2B5EF4-FFF2-40B4-BE49-F238E27FC236}">
                <a16:creationId xmlns:a16="http://schemas.microsoft.com/office/drawing/2014/main" id="{B22C903B-2FC0-25A1-873E-BD66DD0C92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7109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7A1C29E6-2799-F118-C643-AD68C2435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A8023850-606F-DF49-FB00-80D629076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A3546773-DC1F-37ED-290D-41039DE575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7675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66D1B45-C487-456F-3513-9E164811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DC2ACC48-826E-E3C4-9783-BC75D7126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6617B4F1-1254-F7A1-2203-C8154A6DBF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809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6CF7347D-0F55-2BC1-9CD0-DD305D890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88B4B820-B4C5-F926-0845-D3B4542B3D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B6ACE105-95C4-0BE1-41F3-D403429153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3765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96582AB9-6D74-E616-F6B6-750882790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>
            <a:extLst>
              <a:ext uri="{FF2B5EF4-FFF2-40B4-BE49-F238E27FC236}">
                <a16:creationId xmlns:a16="http://schemas.microsoft.com/office/drawing/2014/main" id="{A93988E6-F327-97EC-48C9-5E62981832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3A5A555C-26E8-45EA-3959-84B856D241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21930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BE605C52-DE78-342E-B9BD-85303DD9D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>
            <a:extLst>
              <a:ext uri="{FF2B5EF4-FFF2-40B4-BE49-F238E27FC236}">
                <a16:creationId xmlns:a16="http://schemas.microsoft.com/office/drawing/2014/main" id="{C9660C08-CF41-1F7C-4CDF-C8071F1FE1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A727A34D-974D-47FE-9435-248C8EAE2B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8820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B607FA2D-7421-1FA1-9823-6A7C88015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>
            <a:extLst>
              <a:ext uri="{FF2B5EF4-FFF2-40B4-BE49-F238E27FC236}">
                <a16:creationId xmlns:a16="http://schemas.microsoft.com/office/drawing/2014/main" id="{3FD08A97-9F89-9C9E-7796-E294276AF8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A737919C-6988-46E7-AE01-79DC1CF24B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0400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621DFD82-9AC2-3BF4-2ACC-FA71DB014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F24D16EC-63C3-CC25-7D17-27A56DD43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CB582732-8FEA-478F-CF52-C286AE8DA5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1670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A3645F7F-0F34-3745-5AB4-B928D5325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>
            <a:extLst>
              <a:ext uri="{FF2B5EF4-FFF2-40B4-BE49-F238E27FC236}">
                <a16:creationId xmlns:a16="http://schemas.microsoft.com/office/drawing/2014/main" id="{91164055-3E46-0C40-ED09-A8419F0A62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FF728EBC-5A55-84D9-0164-7B3EC5EEC5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6284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0576029C-8318-9FE6-502D-D6AC064E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>
            <a:extLst>
              <a:ext uri="{FF2B5EF4-FFF2-40B4-BE49-F238E27FC236}">
                <a16:creationId xmlns:a16="http://schemas.microsoft.com/office/drawing/2014/main" id="{00452A0C-EC6E-22C6-9632-DBB6329992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>
            <a:extLst>
              <a:ext uri="{FF2B5EF4-FFF2-40B4-BE49-F238E27FC236}">
                <a16:creationId xmlns:a16="http://schemas.microsoft.com/office/drawing/2014/main" id="{6FE80CE9-A4A8-D958-8E3D-6FEA454C2C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42080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0D94BC38-1218-93F9-47EC-D915BC909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7C763A82-73BF-51DB-C32E-FF617883A9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4E0683C7-5832-AA94-D9B1-105FBFF481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4964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0AC5-99DB-31B8-8BC3-993B07585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BC36C6-9142-697C-CB39-B7057F858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EC6FB-A9F3-C0CF-5436-DBE814C46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748DB-6D25-224A-3048-8EFF22FA9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3A5AB-B3E4-4293-CF8D-DA6DAF31B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73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4272F-AC80-7861-E4DF-35A7FFB9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9AAE5-D53A-E3D2-65C9-9C0C3B328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DD51B-35A6-DC7B-8029-23DFAB4B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0D6C2-C857-75DD-7A94-F4AEA8DED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CD09E-8C9F-16EA-A186-423159F83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65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A5980-6C8D-6923-1F87-667FD99AD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05B5D-79BA-008C-4717-5BF5ABB10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DF499-C888-A235-A6E8-A813577A8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C188D-007F-CFF4-8294-15226899D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933A4-366F-80B6-A34E-CBB937FB7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16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7DEBA-9CBA-1A8D-7218-2CC5428BD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9DC86-762F-1618-8580-E38264F1BA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C499E-099B-76B9-58A1-21E8057D7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271BD-A5C3-F9D1-439B-471E90135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37A1A-D6F8-7923-BA15-4B4C7DC02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204BF-26B0-622E-E983-541582ADD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97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638C0-C3D9-E655-0FBD-318426609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0BF89-1571-7020-A6B7-21E8CE1F3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BF357-38D9-E1D4-CDD8-C3E13C513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DCFBE2-CDF9-404B-C8AA-F8E6D5EC7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D1F975-F813-FD9B-4DCF-4985E9B1A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9DA69E-8482-F147-447D-55701C12C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310D66-C562-5FF8-40F6-3207E8765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67365-7E7F-ED25-9FB9-CA3AB7D71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570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0CFD-8F45-23AE-7E1D-C7D98FB02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6CF317-B113-E985-8559-AE845AD64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D20A2F-3D43-75FD-4193-9949179E6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3B67CC-7DDA-2F49-1B45-9C095BB1D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20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983077-85E3-6754-AF11-23526BB89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A8293A-6D56-28CF-807D-DBE13492E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63639-D2C6-7C4B-A77A-7C859637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99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53735-2859-676C-4862-A63CC7EBF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1352B-1FD0-6DCC-75F6-9F5780E93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3A4ED-9907-9950-8091-88D634157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FAF96-7803-6E2F-7E4A-7F834201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D6E87-AB55-AD33-0F7E-4146276FE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04ADE-B458-7490-9D34-8CFE721D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60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664B7-CA35-F9AF-158E-D1E57FF85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F06683-A988-3389-E854-3F3F60058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6D405-D1F2-3E1E-CAAC-E2AA72BEB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5954B-74DE-2CF1-A7D2-EDAB657C3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45768-A4D8-0448-B78F-C94FCBA76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902CC-B769-60C6-4803-C97FF3B3B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40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B62B9-BF0F-FE3D-D867-72E39968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05E3DF-031A-4339-A54E-568BF11A1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91202-0928-6953-5452-B36AC91AE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F51A5-17B7-4943-5754-F9AA026B9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106A8-70E6-43DB-592F-C162AFC96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72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6F6698-DA36-BB51-FBD4-1DA0D8F5F3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3A653-196E-0CD4-7770-A0BC483DC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65D8E-35B6-D092-E04A-73028A3AC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49CFB-ADBC-231E-E1B1-FE192424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24C26-95D0-7609-1954-D93C3CE64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65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 Basic" type="picTx">
  <p:cSld name="Closing Slide Basic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10488666" y="-1830709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0" y="0"/>
            <a:ext cx="3046130" cy="1477392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471500" y="2318208"/>
            <a:ext cx="11249000" cy="14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12312B"/>
              </a:buClr>
              <a:buSzPts val="10000"/>
              <a:buFont typeface="Anton"/>
              <a:buNone/>
              <a:defRPr sz="6667" i="0" u="none" strike="noStrike" cap="none">
                <a:solidFill>
                  <a:srgbClr val="12312B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9pPr>
          </a:lstStyle>
          <a:p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615500" y="367003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5231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Logo and Grid White Background">
  <p:cSld name="Green Logo and Grid White Background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>
            <a:off x="10904678" y="-905531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/>
          <p:nvPr/>
        </p:nvSpPr>
        <p:spPr>
          <a:xfrm>
            <a:off x="0" y="0"/>
            <a:ext cx="1518291" cy="736409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3547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Logo and Grid White Background">
  <p:cSld name="Green Logo and Grid White Background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>
            <a:off x="10904678" y="-905531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/>
          <p:nvPr/>
        </p:nvSpPr>
        <p:spPr>
          <a:xfrm>
            <a:off x="0" y="0"/>
            <a:ext cx="1518291" cy="736409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85800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and Blue Swish Option 2">
  <p:cSld name="Logo and Blue Swish Option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/>
          <p:nvPr/>
        </p:nvSpPr>
        <p:spPr>
          <a:xfrm>
            <a:off x="-1016265" y="-1926417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6"/>
          <p:cNvSpPr/>
          <p:nvPr/>
        </p:nvSpPr>
        <p:spPr>
          <a:xfrm>
            <a:off x="10673717" y="6121584"/>
            <a:ext cx="1518291" cy="736409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4739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/>
          <p:nvPr/>
        </p:nvSpPr>
        <p:spPr>
          <a:xfrm>
            <a:off x="-570831" y="2964183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784667" y="1922964"/>
            <a:ext cx="112490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Anton"/>
              <a:buNone/>
              <a:defRPr sz="6667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9pPr>
          </a:lstStyle>
          <a:p>
            <a:endParaRPr/>
          </a:p>
        </p:txBody>
      </p:sp>
      <p:sp>
        <p:nvSpPr>
          <p:cNvPr id="25" name="Google Shape;25;p7"/>
          <p:cNvSpPr/>
          <p:nvPr/>
        </p:nvSpPr>
        <p:spPr>
          <a:xfrm>
            <a:off x="10946761" y="-903714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7"/>
          <p:cNvSpPr txBox="1"/>
          <p:nvPr/>
        </p:nvSpPr>
        <p:spPr>
          <a:xfrm>
            <a:off x="4171950" y="7141095"/>
            <a:ext cx="5345400" cy="119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934">
              <a:solidFill>
                <a:srgbClr val="00693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903200" y="3066817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8" name="Google Shape;28;p7"/>
          <p:cNvSpPr/>
          <p:nvPr/>
        </p:nvSpPr>
        <p:spPr>
          <a:xfrm>
            <a:off x="0" y="0"/>
            <a:ext cx="3819599" cy="1829588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9" r="-19"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890546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or Contents Page alternate logo placement" type="secHead">
  <p:cSld name="Agenda or Contents Page alternate logo placem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10352693" y="5983889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9"/>
          <p:cNvSpPr/>
          <p:nvPr/>
        </p:nvSpPr>
        <p:spPr>
          <a:xfrm>
            <a:off x="-899356" y="-895481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1654900" y="1721200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59178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Slide Option 2" type="twoTxTwoObj">
  <p:cSld name="Intro Slide Option 2">
    <p:bg>
      <p:bgPr>
        <a:solidFill>
          <a:srgbClr val="00693D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/>
          <p:nvPr/>
        </p:nvSpPr>
        <p:spPr>
          <a:xfrm>
            <a:off x="802544" y="1510467"/>
            <a:ext cx="1300075" cy="1086732"/>
          </a:xfrm>
          <a:custGeom>
            <a:avLst/>
            <a:gdLst/>
            <a:ahLst/>
            <a:cxnLst/>
            <a:rect l="l" t="t" r="r" b="b"/>
            <a:pathLst>
              <a:path w="3578188" h="2597765" extrusionOk="0">
                <a:moveTo>
                  <a:pt x="0" y="0"/>
                </a:moveTo>
                <a:lnTo>
                  <a:pt x="3578188" y="0"/>
                </a:lnTo>
                <a:lnTo>
                  <a:pt x="3578188" y="2597765"/>
                </a:lnTo>
                <a:lnTo>
                  <a:pt x="0" y="2597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69" r="-5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1"/>
          <p:cNvSpPr/>
          <p:nvPr/>
        </p:nvSpPr>
        <p:spPr>
          <a:xfrm>
            <a:off x="10347596" y="5974531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1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2213800" y="1588881"/>
            <a:ext cx="112490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Anton"/>
              <a:buNone/>
              <a:defRPr sz="4334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17686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Box and Text">
  <p:cSld name="Photo Box and 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>
            <a:spLocks noGrp="1"/>
          </p:cNvSpPr>
          <p:nvPr>
            <p:ph type="pic" idx="2"/>
          </p:nvPr>
        </p:nvSpPr>
        <p:spPr>
          <a:xfrm>
            <a:off x="28217" y="1050150"/>
            <a:ext cx="4331600" cy="54518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2"/>
          <p:cNvSpPr/>
          <p:nvPr/>
        </p:nvSpPr>
        <p:spPr>
          <a:xfrm>
            <a:off x="28215" y="0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5" y="0"/>
                </a:lnTo>
                <a:lnTo>
                  <a:pt x="2766605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2"/>
          <p:cNvSpPr/>
          <p:nvPr/>
        </p:nvSpPr>
        <p:spPr>
          <a:xfrm>
            <a:off x="-707765" y="3725167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2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1"/>
          </p:nvPr>
        </p:nvSpPr>
        <p:spPr>
          <a:xfrm>
            <a:off x="5162783" y="1118000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cxnSp>
        <p:nvCxnSpPr>
          <p:cNvPr id="54" name="Google Shape;54;p12"/>
          <p:cNvCxnSpPr/>
          <p:nvPr/>
        </p:nvCxnSpPr>
        <p:spPr>
          <a:xfrm rot="10800000">
            <a:off x="4695752" y="949750"/>
            <a:ext cx="31000" cy="5652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" name="Google Shape;55;p12"/>
          <p:cNvCxnSpPr/>
          <p:nvPr/>
        </p:nvCxnSpPr>
        <p:spPr>
          <a:xfrm rot="10800000">
            <a:off x="4819550" y="1687881"/>
            <a:ext cx="15400" cy="3888800"/>
          </a:xfrm>
          <a:prstGeom prst="straightConnector1">
            <a:avLst/>
          </a:prstGeom>
          <a:noFill/>
          <a:ln w="28575" cap="flat" cmpd="sng">
            <a:solidFill>
              <a:srgbClr val="A5D75F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659369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Box and Text Option 2" type="titleOnly">
  <p:cSld name="Photo Box and Text Option 2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/>
          <p:nvPr/>
        </p:nvSpPr>
        <p:spPr>
          <a:xfrm>
            <a:off x="28215" y="0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5" y="0"/>
                </a:lnTo>
                <a:lnTo>
                  <a:pt x="2766605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>
            <a:spLocks noGrp="1"/>
          </p:cNvSpPr>
          <p:nvPr>
            <p:ph type="pic" idx="2"/>
          </p:nvPr>
        </p:nvSpPr>
        <p:spPr>
          <a:xfrm>
            <a:off x="7581867" y="1519792"/>
            <a:ext cx="4380200" cy="42596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60" name="Google Shape;60;p13"/>
          <p:cNvCxnSpPr/>
          <p:nvPr/>
        </p:nvCxnSpPr>
        <p:spPr>
          <a:xfrm>
            <a:off x="7331300" y="2134383"/>
            <a:ext cx="37200" cy="3696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Google Shape;61;p13"/>
          <p:cNvCxnSpPr/>
          <p:nvPr/>
        </p:nvCxnSpPr>
        <p:spPr>
          <a:xfrm rot="10800000">
            <a:off x="7994667" y="6080467"/>
            <a:ext cx="3554600" cy="19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" name="Google Shape;62;p13"/>
          <p:cNvCxnSpPr/>
          <p:nvPr/>
        </p:nvCxnSpPr>
        <p:spPr>
          <a:xfrm>
            <a:off x="7201400" y="2805033"/>
            <a:ext cx="18600" cy="2542800"/>
          </a:xfrm>
          <a:prstGeom prst="straightConnector1">
            <a:avLst/>
          </a:prstGeom>
          <a:noFill/>
          <a:ln w="28575" cap="flat" cmpd="sng">
            <a:solidFill>
              <a:srgbClr val="A5D75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13"/>
          <p:cNvCxnSpPr/>
          <p:nvPr/>
        </p:nvCxnSpPr>
        <p:spPr>
          <a:xfrm rot="10800000">
            <a:off x="8477167" y="5929733"/>
            <a:ext cx="2589600" cy="400"/>
          </a:xfrm>
          <a:prstGeom prst="straightConnector1">
            <a:avLst/>
          </a:prstGeom>
          <a:noFill/>
          <a:ln w="28575" cap="flat" cmpd="sng">
            <a:solidFill>
              <a:srgbClr val="A5D75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/>
          <p:nvPr/>
        </p:nvSpPr>
        <p:spPr>
          <a:xfrm>
            <a:off x="7479798" y="5046500"/>
            <a:ext cx="864729" cy="883240"/>
          </a:xfrm>
          <a:custGeom>
            <a:avLst/>
            <a:gdLst/>
            <a:ahLst/>
            <a:cxnLst/>
            <a:rect l="l" t="t" r="r" b="b"/>
            <a:pathLst>
              <a:path w="3578188" h="2597765" extrusionOk="0">
                <a:moveTo>
                  <a:pt x="0" y="0"/>
                </a:moveTo>
                <a:lnTo>
                  <a:pt x="3578188" y="0"/>
                </a:lnTo>
                <a:lnTo>
                  <a:pt x="3578188" y="2597765"/>
                </a:lnTo>
                <a:lnTo>
                  <a:pt x="0" y="2597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69" r="-5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1"/>
          </p:nvPr>
        </p:nvSpPr>
        <p:spPr>
          <a:xfrm>
            <a:off x="569067" y="1519800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54846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nly No Grid or Swoosh" type="objTx">
  <p:cSld name="Text Only No Grid or Swoosh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10347596" y="5974531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1543533" y="1674817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7659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Closing Slide with QR Code" type="vertTx">
  <p:cSld name="Dark Closing Slide with QR Code">
    <p:bg>
      <p:bgPr>
        <a:solidFill>
          <a:srgbClr val="12312B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9014051" y="4784199"/>
            <a:ext cx="1547499" cy="1525745"/>
          </a:xfrm>
          <a:custGeom>
            <a:avLst/>
            <a:gdLst/>
            <a:ahLst/>
            <a:cxnLst/>
            <a:rect l="l" t="t" r="r" b="b"/>
            <a:pathLst>
              <a:path w="2149304" h="2080562" extrusionOk="0">
                <a:moveTo>
                  <a:pt x="0" y="0"/>
                </a:moveTo>
                <a:lnTo>
                  <a:pt x="2149304" y="0"/>
                </a:lnTo>
                <a:lnTo>
                  <a:pt x="2149304" y="2080561"/>
                </a:lnTo>
                <a:lnTo>
                  <a:pt x="0" y="2080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110437"/>
            </a:stretch>
          </a:blipFill>
          <a:ln>
            <a:noFill/>
          </a:ln>
        </p:spPr>
      </p:sp>
      <p:sp>
        <p:nvSpPr>
          <p:cNvPr id="80" name="Google Shape;80;p17"/>
          <p:cNvSpPr txBox="1"/>
          <p:nvPr/>
        </p:nvSpPr>
        <p:spPr>
          <a:xfrm>
            <a:off x="9423599" y="5180635"/>
            <a:ext cx="728400" cy="417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1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*Place QR code here</a:t>
            </a:r>
            <a:endParaRPr sz="333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7507349" y="4784200"/>
            <a:ext cx="1308200" cy="4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18" b="1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SCAN</a:t>
            </a:r>
            <a:endParaRPr sz="1200" b="1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7308842" y="5233400"/>
            <a:ext cx="1705200" cy="17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48" i="0" u="none" strike="noStrike" cap="none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ME</a:t>
            </a:r>
            <a:endParaRPr sz="10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0" y="0"/>
            <a:ext cx="3047877" cy="1526193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471500" y="2318208"/>
            <a:ext cx="11249000" cy="14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Anton"/>
              <a:buNone/>
              <a:defRPr sz="6667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615517" y="351003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A5D75F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A5D75F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rgbClr val="A5D75F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rgbClr val="A5D75F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rgbClr val="A5D75F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rgbClr val="A5D75F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88904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Closing Slide with QR Code">
  <p:cSld name="White Closing Slide with QR Cod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778100" y="2425706"/>
            <a:ext cx="11249000" cy="144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6822930" y="4923600"/>
            <a:ext cx="1831800" cy="17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5" i="0" u="none" strike="noStrike" cap="none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ME</a:t>
            </a:r>
            <a:endParaRPr sz="120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0" y="0"/>
            <a:ext cx="3819599" cy="1829588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1" name="Google Shape;91;p18"/>
          <p:cNvSpPr/>
          <p:nvPr/>
        </p:nvSpPr>
        <p:spPr>
          <a:xfrm>
            <a:off x="0" y="0"/>
            <a:ext cx="3819599" cy="1829588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</p:sp>
      <p:sp>
        <p:nvSpPr>
          <p:cNvPr id="92" name="Google Shape;92;p18"/>
          <p:cNvSpPr/>
          <p:nvPr/>
        </p:nvSpPr>
        <p:spPr>
          <a:xfrm>
            <a:off x="8910302" y="4626749"/>
            <a:ext cx="1830491" cy="1636709"/>
          </a:xfrm>
          <a:custGeom>
            <a:avLst/>
            <a:gdLst/>
            <a:ahLst/>
            <a:cxnLst/>
            <a:rect l="l" t="t" r="r" b="b"/>
            <a:pathLst>
              <a:path w="2149304" h="2080562" extrusionOk="0">
                <a:moveTo>
                  <a:pt x="0" y="0"/>
                </a:moveTo>
                <a:lnTo>
                  <a:pt x="2149304" y="0"/>
                </a:lnTo>
                <a:lnTo>
                  <a:pt x="2149304" y="2080561"/>
                </a:lnTo>
                <a:lnTo>
                  <a:pt x="0" y="2080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10437"/>
            </a:stretch>
          </a:blipFill>
          <a:ln>
            <a:noFill/>
          </a:ln>
        </p:spPr>
      </p:sp>
      <p:sp>
        <p:nvSpPr>
          <p:cNvPr id="93" name="Google Shape;93;p18"/>
          <p:cNvSpPr txBox="1"/>
          <p:nvPr/>
        </p:nvSpPr>
        <p:spPr>
          <a:xfrm>
            <a:off x="9305866" y="5111434"/>
            <a:ext cx="744600" cy="47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2" b="0" i="0" u="none" strike="noStrike" cap="none">
                <a:solidFill>
                  <a:srgbClr val="12312B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875" i="0" u="none" strike="noStrike" cap="none">
                <a:solidFill>
                  <a:srgbClr val="12312B"/>
                </a:solidFill>
                <a:latin typeface="Archivo"/>
                <a:ea typeface="Archivo"/>
                <a:cs typeface="Archivo"/>
                <a:sym typeface="Archivo"/>
              </a:rPr>
              <a:t>Place QR code here</a:t>
            </a:r>
            <a:endParaRPr sz="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6947931" y="4467234"/>
            <a:ext cx="1581800" cy="901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85" i="0" u="none" strike="noStrike" cap="none">
                <a:solidFill>
                  <a:srgbClr val="00693D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SCAN</a:t>
            </a:r>
            <a:endParaRPr sz="2200"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856767" y="347523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0245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Logo with Weblink">
  <p:cSld name="Green Logo with Webli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/>
          <p:nvPr/>
        </p:nvSpPr>
        <p:spPr>
          <a:xfrm>
            <a:off x="2276400" y="1133617"/>
            <a:ext cx="7639197" cy="3526531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</p:sp>
      <p:sp>
        <p:nvSpPr>
          <p:cNvPr id="98" name="Google Shape;98;p19"/>
          <p:cNvSpPr txBox="1"/>
          <p:nvPr/>
        </p:nvSpPr>
        <p:spPr>
          <a:xfrm>
            <a:off x="2287300" y="5092383"/>
            <a:ext cx="73002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34">
                <a:solidFill>
                  <a:srgbClr val="12312B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libraries.dartmouth.edu</a:t>
            </a:r>
            <a:endParaRPr sz="4734">
              <a:solidFill>
                <a:srgbClr val="12312B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496446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Logo with Weblink">
  <p:cSld name="White Logo with Weblink">
    <p:bg>
      <p:bgPr>
        <a:solidFill>
          <a:srgbClr val="12312B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/>
        </p:nvSpPr>
        <p:spPr>
          <a:xfrm>
            <a:off x="2287300" y="5092383"/>
            <a:ext cx="73002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34">
                <a:solidFill>
                  <a:srgbClr val="A5D75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libraries.dartmouth.edu</a:t>
            </a:r>
            <a:endParaRPr sz="4734">
              <a:solidFill>
                <a:srgbClr val="A5D75F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18259" y="1119151"/>
            <a:ext cx="7638289" cy="3660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96509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Logo with Weblink alternate">
  <p:cSld name="White Logo with Weblink alternate">
    <p:bg>
      <p:bgPr>
        <a:solidFill>
          <a:schemeClr val="dk2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2287300" y="5092383"/>
            <a:ext cx="73002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34">
                <a:solidFill>
                  <a:srgbClr val="A5D75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libraries.dartmouth.edu</a:t>
            </a:r>
            <a:endParaRPr sz="4734">
              <a:solidFill>
                <a:srgbClr val="A5D75F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18259" y="1119151"/>
            <a:ext cx="7638289" cy="3660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91987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Logo and Grid Green Background" type="blank">
  <p:cSld name="White Logo and Grid Green Background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1054028" y="-829014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1" y="0"/>
            <a:ext cx="1909799" cy="955960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7967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-White">
  <p:cSld name="Section Header-White"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2329800" y="1709750"/>
            <a:ext cx="90174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93E"/>
              </a:buClr>
              <a:buSzPts val="6000"/>
              <a:buFont typeface="Arial"/>
              <a:buNone/>
              <a:defRPr sz="6000">
                <a:solidFill>
                  <a:srgbClr val="00693E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2329800" y="4562450"/>
            <a:ext cx="9017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10855712" y="6424596"/>
            <a:ext cx="49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10725" y="0"/>
            <a:ext cx="1828247" cy="18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10725" y="1825625"/>
            <a:ext cx="1828247" cy="18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10725" y="3651250"/>
            <a:ext cx="1828247" cy="18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10725" y="5476875"/>
            <a:ext cx="1828247" cy="18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9700" y="5639340"/>
            <a:ext cx="1993825" cy="955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550" y="2805988"/>
            <a:ext cx="1828249" cy="16905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813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8B098-1FDB-85A1-A229-1509E5A58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2BFF5-A90E-828B-F083-5B73160FB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AFF2E-3469-82AC-BD65-432D2A47F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1598F-E36D-2AFA-F7B0-EFCB4A88D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A7395-CD56-00F2-67A4-06A388651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96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8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4800" y="183114"/>
            <a:ext cx="11249000" cy="14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Anton"/>
              <a:buNone/>
              <a:defRPr sz="100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415583" y="262138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77850" algn="l" rtl="0">
              <a:spcBef>
                <a:spcPts val="640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5500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48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1371600" marR="0" lvl="2" indent="-4381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33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21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2743200" marR="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8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3200400" marR="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17048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6" r:id="rId2"/>
    <p:sldLayoutId id="2147483667" r:id="rId3"/>
    <p:sldLayoutId id="2147483669" r:id="rId4"/>
    <p:sldLayoutId id="2147483671" r:id="rId5"/>
    <p:sldLayoutId id="2147483672" r:id="rId6"/>
    <p:sldLayoutId id="2147483673" r:id="rId7"/>
    <p:sldLayoutId id="2147483674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3" r:id="rId14"/>
    <p:sldLayoutId id="2147483684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A_EE3B080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/>
        </p:nvSpPr>
        <p:spPr>
          <a:xfrm>
            <a:off x="1168200" y="2304596"/>
            <a:ext cx="9677800" cy="17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1"/>
              </a:lnSpc>
            </a:pPr>
            <a:r>
              <a:rPr lang="en-US" sz="4800" dirty="0">
                <a:latin typeface="Anton"/>
                <a:ea typeface="Anton"/>
                <a:cs typeface="Anton"/>
                <a:sym typeface="Anton"/>
              </a:rPr>
              <a:t>Computational / Reproducible Research Best Practices</a:t>
            </a:r>
          </a:p>
        </p:txBody>
      </p:sp>
      <p:sp>
        <p:nvSpPr>
          <p:cNvPr id="111" name="Google Shape;111;p22"/>
          <p:cNvSpPr txBox="1"/>
          <p:nvPr/>
        </p:nvSpPr>
        <p:spPr>
          <a:xfrm>
            <a:off x="1168200" y="5149683"/>
            <a:ext cx="8444153" cy="32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25"/>
              </a:lnSpc>
            </a:pPr>
            <a:endParaRPr sz="1067" b="1" dirty="0">
              <a:solidFill>
                <a:schemeClr val="accent3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112" name="Google Shape;112;p22"/>
          <p:cNvSpPr/>
          <p:nvPr/>
        </p:nvSpPr>
        <p:spPr>
          <a:xfrm>
            <a:off x="566021" y="4198943"/>
            <a:ext cx="10019901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555B9BD9-DF9E-AC20-26F6-95664F4E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E1BF5683-D6F4-7C8F-FD88-A6220438308F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Objectives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1F33F10C-E37B-AAC3-E67B-2ECA203B4738}"/>
              </a:ext>
            </a:extLst>
          </p:cNvPr>
          <p:cNvSpPr txBox="1"/>
          <p:nvPr/>
        </p:nvSpPr>
        <p:spPr>
          <a:xfrm>
            <a:off x="867673" y="1900078"/>
            <a:ext cx="9776400" cy="33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400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By the end of this session, you will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AutoNum type="arabicPeriod"/>
            </a:pPr>
            <a:r>
              <a:rPr lang="en-US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Identify some general reproducible research best practices that apply widely and…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AutoNum type="arabicPeriod"/>
            </a:pPr>
            <a:r>
              <a:rPr lang="en-US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Contrast to discipline-specific best practices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AutoNum type="arabicPeriod"/>
            </a:pPr>
            <a:r>
              <a:rPr lang="en-US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Examine ways to apply these best practices to your own research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AutoNum type="arabicPeriod"/>
            </a:pPr>
            <a:r>
              <a:rPr lang="en-US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Be familiar with some common strategies for getting help with the implementation of these best practices (generally) and with writing reproducible code and documentation.</a:t>
            </a:r>
            <a:endParaRPr kern="0" dirty="0">
              <a:solidFill>
                <a:srgbClr val="000000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400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26705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B1F212BE-D56F-A8CF-808B-08CB869D9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FE5081CA-880C-3DEA-FB7C-E5D132381299}"/>
              </a:ext>
            </a:extLst>
          </p:cNvPr>
          <p:cNvSpPr txBox="1"/>
          <p:nvPr/>
        </p:nvSpPr>
        <p:spPr>
          <a:xfrm>
            <a:off x="1417320" y="2148841"/>
            <a:ext cx="993038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Academic Crises Galore</a:t>
            </a:r>
            <a:endParaRPr sz="100" kern="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893EBE21-86A7-3B8F-79D9-C4B20E1B96ED}"/>
              </a:ext>
            </a:extLst>
          </p:cNvPr>
          <p:cNvSpPr/>
          <p:nvPr/>
        </p:nvSpPr>
        <p:spPr>
          <a:xfrm>
            <a:off x="980469" y="3626169"/>
            <a:ext cx="9761634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256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7C58060A-F6DA-3DCC-F13C-67B61CFA2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>
            <a:extLst>
              <a:ext uri="{FF2B5EF4-FFF2-40B4-BE49-F238E27FC236}">
                <a16:creationId xmlns:a16="http://schemas.microsoft.com/office/drawing/2014/main" id="{E7F78F23-2156-218C-004C-FA59EF101D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29800" y="1709750"/>
            <a:ext cx="90174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endParaRPr b="0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BC43CAA-DBBD-4817-942C-2B1F39423C86}"/>
              </a:ext>
            </a:extLst>
          </p:cNvPr>
          <p:cNvSpPr/>
          <p:nvPr/>
        </p:nvSpPr>
        <p:spPr>
          <a:xfrm>
            <a:off x="2329800" y="1059666"/>
            <a:ext cx="9369897" cy="435403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What does good open / reproducible research look like in your discipline?</a:t>
            </a:r>
          </a:p>
          <a:p>
            <a:pPr algn="ctr"/>
            <a:endParaRPr lang="en-US" sz="4000" dirty="0"/>
          </a:p>
          <a:p>
            <a:pPr algn="ctr"/>
            <a:r>
              <a:rPr lang="en-US" sz="4000" dirty="0"/>
              <a:t>In what ways are </a:t>
            </a:r>
            <a:r>
              <a:rPr lang="en-US" sz="4000" dirty="0" err="1"/>
              <a:t>reseachers</a:t>
            </a:r>
            <a:r>
              <a:rPr lang="en-US" sz="4000" dirty="0"/>
              <a:t> in your discipline failing to achieve this?</a:t>
            </a:r>
          </a:p>
        </p:txBody>
      </p:sp>
    </p:spTree>
    <p:extLst>
      <p:ext uri="{BB962C8B-B14F-4D97-AF65-F5344CB8AC3E}">
        <p14:creationId xmlns:p14="http://schemas.microsoft.com/office/powerpoint/2010/main" val="252961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E8A7C709-B121-E543-2BF3-403B8EB1C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34AB5467-5185-A812-C09F-F87686BB4A87}"/>
              </a:ext>
            </a:extLst>
          </p:cNvPr>
          <p:cNvSpPr txBox="1"/>
          <p:nvPr/>
        </p:nvSpPr>
        <p:spPr>
          <a:xfrm>
            <a:off x="1417320" y="2148841"/>
            <a:ext cx="993038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Open and (or?) Reproducible Research</a:t>
            </a:r>
            <a:endParaRPr sz="100" kern="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988BCB17-4724-EC55-C938-A911166E56FC}"/>
              </a:ext>
            </a:extLst>
          </p:cNvPr>
          <p:cNvSpPr/>
          <p:nvPr/>
        </p:nvSpPr>
        <p:spPr>
          <a:xfrm>
            <a:off x="959495" y="2887505"/>
            <a:ext cx="7287037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8736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15879BB2-F066-F75E-A8DB-0F7CD248D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0C5E1074-6BF4-21EF-64AF-3358BF019D54}"/>
              </a:ext>
            </a:extLst>
          </p:cNvPr>
          <p:cNvSpPr txBox="1"/>
          <p:nvPr/>
        </p:nvSpPr>
        <p:spPr>
          <a:xfrm>
            <a:off x="922202" y="1157695"/>
            <a:ext cx="8511218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Different Disciplines, different needs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2F69E860-2826-C663-75C7-D65490E0A9CA}"/>
              </a:ext>
            </a:extLst>
          </p:cNvPr>
          <p:cNvSpPr txBox="1"/>
          <p:nvPr/>
        </p:nvSpPr>
        <p:spPr>
          <a:xfrm>
            <a:off x="922202" y="2187594"/>
            <a:ext cx="10059742" cy="1684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b="1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b="1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216630" lvl="1" defTabSz="609630">
              <a:lnSpc>
                <a:spcPct val="140013"/>
              </a:lnSpc>
              <a:buClr>
                <a:srgbClr val="12312B"/>
              </a:buClr>
              <a:buSzPts val="3009"/>
            </a:pPr>
            <a:endParaRPr lang="en-US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defTabSz="609630">
              <a:lnSpc>
                <a:spcPct val="140013"/>
              </a:lnSpc>
              <a:buClr>
                <a:srgbClr val="000000"/>
              </a:buClr>
            </a:pPr>
            <a:endParaRPr sz="2006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1279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5A824A73-D159-B559-745F-F169B325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522A27CE-7B2A-AA9A-4111-B886DB809C23}"/>
              </a:ext>
            </a:extLst>
          </p:cNvPr>
          <p:cNvSpPr txBox="1"/>
          <p:nvPr/>
        </p:nvSpPr>
        <p:spPr>
          <a:xfrm>
            <a:off x="922202" y="1157695"/>
            <a:ext cx="8511218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Open Scholarship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081DCE9E-3302-2CF3-85E6-5163A6FB583D}"/>
              </a:ext>
            </a:extLst>
          </p:cNvPr>
          <p:cNvSpPr txBox="1"/>
          <p:nvPr/>
        </p:nvSpPr>
        <p:spPr>
          <a:xfrm>
            <a:off x="922202" y="2187594"/>
            <a:ext cx="10059742" cy="1684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b="1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b="1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216630" lvl="1" defTabSz="609630">
              <a:lnSpc>
                <a:spcPct val="140013"/>
              </a:lnSpc>
              <a:buClr>
                <a:srgbClr val="12312B"/>
              </a:buClr>
              <a:buSzPts val="3009"/>
            </a:pPr>
            <a:endParaRPr lang="en-US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defTabSz="609630">
              <a:lnSpc>
                <a:spcPct val="140013"/>
              </a:lnSpc>
              <a:buClr>
                <a:srgbClr val="000000"/>
              </a:buClr>
            </a:pPr>
            <a:endParaRPr sz="2006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2906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-US" sz="3446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DATA Principles</a:t>
            </a:r>
            <a:endParaRPr sz="1200" dirty="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9" name="Google Shape;179;p31"/>
          <p:cNvSpPr txBox="1"/>
          <p:nvPr/>
        </p:nvSpPr>
        <p:spPr>
          <a:xfrm>
            <a:off x="922202" y="1736904"/>
            <a:ext cx="9776400" cy="216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73830" lvl="1" indent="-45720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673830" lvl="1" indent="-45720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F.A.I.R.</a:t>
            </a:r>
          </a:p>
          <a:p>
            <a:pPr marL="673830" lvl="1" indent="-45720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C.A.R.E.</a:t>
            </a:r>
          </a:p>
          <a:p>
            <a:pPr marL="673830" lvl="1" indent="-45720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F.A.I.R.E.S.T.</a:t>
            </a:r>
            <a:endParaRPr sz="1200" dirty="0"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57200" indent="-457200">
              <a:lnSpc>
                <a:spcPct val="140013"/>
              </a:lnSpc>
              <a:buSzPct val="115000"/>
              <a:buFont typeface="+mj-lt"/>
              <a:buAutoNum type="arabicPeriod"/>
            </a:pPr>
            <a:endParaRPr sz="2006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292B1FE7-2414-4B31-9D90-0A225C265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>
            <a:extLst>
              <a:ext uri="{FF2B5EF4-FFF2-40B4-BE49-F238E27FC236}">
                <a16:creationId xmlns:a16="http://schemas.microsoft.com/office/drawing/2014/main" id="{0D64DAFA-ECFB-0E4F-AA57-77458AE2FDEF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-US" sz="3446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1. F.A.I.R.</a:t>
            </a:r>
            <a:endParaRPr sz="1200" dirty="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9" name="Google Shape;179;p31">
            <a:extLst>
              <a:ext uri="{FF2B5EF4-FFF2-40B4-BE49-F238E27FC236}">
                <a16:creationId xmlns:a16="http://schemas.microsoft.com/office/drawing/2014/main" id="{FBD40D03-E1B3-8DD1-8B71-A57A24B43F49}"/>
              </a:ext>
            </a:extLst>
          </p:cNvPr>
          <p:cNvSpPr txBox="1"/>
          <p:nvPr/>
        </p:nvSpPr>
        <p:spPr>
          <a:xfrm>
            <a:off x="922202" y="1736904"/>
            <a:ext cx="9776400" cy="864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968460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480EE501-37B6-51E9-0CA4-E6C5DA5D9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>
            <a:extLst>
              <a:ext uri="{FF2B5EF4-FFF2-40B4-BE49-F238E27FC236}">
                <a16:creationId xmlns:a16="http://schemas.microsoft.com/office/drawing/2014/main" id="{03F20B95-E846-06B9-CE49-7798FC43D69F}"/>
              </a:ext>
            </a:extLst>
          </p:cNvPr>
          <p:cNvSpPr txBox="1"/>
          <p:nvPr/>
        </p:nvSpPr>
        <p:spPr>
          <a:xfrm>
            <a:off x="922201" y="1157695"/>
            <a:ext cx="9711602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-US" sz="3446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2. C.A.R.E.</a:t>
            </a:r>
            <a:endParaRPr lang="en-US" sz="1200" dirty="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9" name="Google Shape;179;p31">
            <a:extLst>
              <a:ext uri="{FF2B5EF4-FFF2-40B4-BE49-F238E27FC236}">
                <a16:creationId xmlns:a16="http://schemas.microsoft.com/office/drawing/2014/main" id="{A8636ECF-77C7-33A1-B230-7AE454C3B34B}"/>
              </a:ext>
            </a:extLst>
          </p:cNvPr>
          <p:cNvSpPr txBox="1"/>
          <p:nvPr/>
        </p:nvSpPr>
        <p:spPr>
          <a:xfrm>
            <a:off x="922202" y="1736904"/>
            <a:ext cx="9776400" cy="172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highlight>
                <a:srgbClr val="FFFF00"/>
              </a:highlight>
              <a:latin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21526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6F6C0FD7-DD6A-0675-5276-83D16F13B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>
            <a:extLst>
              <a:ext uri="{FF2B5EF4-FFF2-40B4-BE49-F238E27FC236}">
                <a16:creationId xmlns:a16="http://schemas.microsoft.com/office/drawing/2014/main" id="{2D2DC38A-F4DF-63C7-2018-3ECA79192E7E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-US" sz="3446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3. F.A.I.R.E.S.T.</a:t>
            </a:r>
          </a:p>
        </p:txBody>
      </p:sp>
    </p:spTree>
    <p:extLst>
      <p:ext uri="{BB962C8B-B14F-4D97-AF65-F5344CB8AC3E}">
        <p14:creationId xmlns:p14="http://schemas.microsoft.com/office/powerpoint/2010/main" val="2401893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42D62712-D572-91BC-64FB-2942DD61D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9B53AF34-5770-BB2B-8983-CD0D0E29BC78}"/>
              </a:ext>
            </a:extLst>
          </p:cNvPr>
          <p:cNvSpPr txBox="1"/>
          <p:nvPr/>
        </p:nvSpPr>
        <p:spPr>
          <a:xfrm>
            <a:off x="1417320" y="2148841"/>
            <a:ext cx="870881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From Principles to Best Practices</a:t>
            </a:r>
            <a:endParaRPr sz="100" kern="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6091BE68-B796-2B65-7CD9-3F1D210265B4}"/>
              </a:ext>
            </a:extLst>
          </p:cNvPr>
          <p:cNvSpPr/>
          <p:nvPr/>
        </p:nvSpPr>
        <p:spPr>
          <a:xfrm>
            <a:off x="1093720" y="3626169"/>
            <a:ext cx="8592147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328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A349D701-D1D3-DA90-F00E-1EA792F21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>
            <a:extLst>
              <a:ext uri="{FF2B5EF4-FFF2-40B4-BE49-F238E27FC236}">
                <a16:creationId xmlns:a16="http://schemas.microsoft.com/office/drawing/2014/main" id="{AD6CAA9C-342B-838B-B8F1-3287EFE32134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-US" sz="3446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Best Practices – Groups??</a:t>
            </a:r>
          </a:p>
        </p:txBody>
      </p:sp>
    </p:spTree>
    <p:extLst>
      <p:ext uri="{BB962C8B-B14F-4D97-AF65-F5344CB8AC3E}">
        <p14:creationId xmlns:p14="http://schemas.microsoft.com/office/powerpoint/2010/main" val="2047668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28155999-9215-61E9-8400-F7DAEA4CB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>
            <a:extLst>
              <a:ext uri="{FF2B5EF4-FFF2-40B4-BE49-F238E27FC236}">
                <a16:creationId xmlns:a16="http://schemas.microsoft.com/office/drawing/2014/main" id="{13F6EAB8-9A12-C939-FE86-D9C6BDEE87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29800" y="1709750"/>
            <a:ext cx="90174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endParaRPr b="0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45C2A0D-F3E9-1B01-9DF7-3C7D4261B6CC}"/>
              </a:ext>
            </a:extLst>
          </p:cNvPr>
          <p:cNvSpPr/>
          <p:nvPr/>
        </p:nvSpPr>
        <p:spPr>
          <a:xfrm>
            <a:off x="2329800" y="1059666"/>
            <a:ext cx="9369897" cy="435403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How can you adapt the lessons of this workshop to your own field &amp; research?</a:t>
            </a:r>
          </a:p>
        </p:txBody>
      </p:sp>
    </p:spTree>
    <p:extLst>
      <p:ext uri="{BB962C8B-B14F-4D97-AF65-F5344CB8AC3E}">
        <p14:creationId xmlns:p14="http://schemas.microsoft.com/office/powerpoint/2010/main" val="620379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0B04A349-5D61-5BDE-E6A0-EB092C811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85B25A89-F346-D398-0060-52FFCD5F0EFF}"/>
              </a:ext>
            </a:extLst>
          </p:cNvPr>
          <p:cNvSpPr txBox="1"/>
          <p:nvPr/>
        </p:nvSpPr>
        <p:spPr>
          <a:xfrm>
            <a:off x="1417320" y="2148841"/>
            <a:ext cx="993038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Computational Research Help</a:t>
            </a:r>
            <a:endParaRPr lang="en-US" sz="100" kern="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AC5C7CE0-5597-3ED7-365F-71AE9C960DA4}"/>
              </a:ext>
            </a:extLst>
          </p:cNvPr>
          <p:cNvSpPr/>
          <p:nvPr/>
        </p:nvSpPr>
        <p:spPr>
          <a:xfrm>
            <a:off x="892384" y="3571208"/>
            <a:ext cx="9618983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7043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LVI theme 1">
  <a:themeElements>
    <a:clrScheme name="Office">
      <a:dk1>
        <a:srgbClr val="12312B"/>
      </a:dk1>
      <a:lt1>
        <a:srgbClr val="FFFFFF"/>
      </a:lt1>
      <a:dk2>
        <a:srgbClr val="00693D"/>
      </a:dk2>
      <a:lt2>
        <a:srgbClr val="000000"/>
      </a:lt2>
      <a:accent1>
        <a:srgbClr val="A5D75F"/>
      </a:accent1>
      <a:accent2>
        <a:srgbClr val="00693D"/>
      </a:accent2>
      <a:accent3>
        <a:srgbClr val="12312B"/>
      </a:accent3>
      <a:accent4>
        <a:srgbClr val="C3E7FF"/>
      </a:accent4>
      <a:accent5>
        <a:srgbClr val="F5DC69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2165</TotalTime>
  <Words>211</Words>
  <Application>Microsoft Office PowerPoint</Application>
  <PresentationFormat>Widescreen</PresentationFormat>
  <Paragraphs>32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Alegreya</vt:lpstr>
      <vt:lpstr>Anton</vt:lpstr>
      <vt:lpstr>Aptos</vt:lpstr>
      <vt:lpstr>Aptos Display</vt:lpstr>
      <vt:lpstr>Archivo</vt:lpstr>
      <vt:lpstr>Archivo ExtraBold</vt:lpstr>
      <vt:lpstr>Archivo Medium</vt:lpstr>
      <vt:lpstr>Archivo SemiBold</vt:lpstr>
      <vt:lpstr>Arial</vt:lpstr>
      <vt:lpstr>Calibri</vt:lpstr>
      <vt:lpstr>Office Theme</vt:lpstr>
      <vt:lpstr>DLVI theme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Owers Bonner</dc:creator>
  <cp:lastModifiedBy>Jeremy M. Mikecz</cp:lastModifiedBy>
  <cp:revision>4</cp:revision>
  <dcterms:created xsi:type="dcterms:W3CDTF">2025-09-16T18:18:09Z</dcterms:created>
  <dcterms:modified xsi:type="dcterms:W3CDTF">2026-08-26T16:28:34Z</dcterms:modified>
</cp:coreProperties>
</file>